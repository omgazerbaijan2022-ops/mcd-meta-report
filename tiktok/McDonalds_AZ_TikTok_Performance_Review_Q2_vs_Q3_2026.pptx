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3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0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11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over" id="{9662d592-5203-850a-d14e-318c19b65eb5}">
          <p14:sldIdLst>
            <p14:sldId id="256"/>
          </p14:sldIdLst>
        </p14:section>
        <p14:section name="Executive summary" id="{81ed7d38-0dc7-80d6-f454-1ec49f5980ba}">
          <p14:sldIdLst>
            <p14:sldId id="257"/>
          </p14:sldIdLst>
        </p14:section>
        <p14:section name="Before vs after" id="{cfe749b0-b2b8-619a-4811-468826a21e9e}">
          <p14:sldIdLst>
            <p14:sldId id="258"/>
            <p14:sldId id="259"/>
            <p14:sldId id="260"/>
            <p14:sldId id="261"/>
          </p14:sldIdLst>
        </p14:section>
        <p14:section name="Performance deep-dive" id="{c8650a10-365b-0bb1-91cb-d72e21a1fd29}">
          <p14:sldIdLst>
            <p14:sldId id="262"/>
            <p14:sldId id="263"/>
            <p14:sldId id="264"/>
          </p14:sldIdLst>
        </p14:section>
        <p14:section name="Campaign, ad group and creative" id="{3cd856ce-4a8c-6497-a1cc-27a884f5f297}">
          <p14:sldIdLst>
            <p14:sldId id="265"/>
            <p14:sldId id="266"/>
            <p14:sldId id="267"/>
            <p14:sldId id="268"/>
          </p14:sldIdLst>
        </p14:section>
        <p14:section name="Impact and next steps" id="{8f3fc138-17b5-ceaf-3f85-61bf43f077b0}">
          <p14:sldIdLst>
            <p14:sldId id="269"/>
            <p14:sldId id="270"/>
          </p14:sldIdLst>
        </p14:section>
        <p14:section name="Appendix" id="{c0a59e6c-7bae-26f5-457a-31401f5e9062}">
          <p14:sldIdLst>
            <p14:sldId id="27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_rels/chart1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2.xlsx"/></Relationships>
</file>

<file path=ppt/charts/_rels/chart1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Reach</c:v>
                </c:pt>
              </c:strCache>
            </c:strRef>
          </c:tx>
          <c:spPr>
            <a:solidFill>
              <a:srgbClr val="FFBC0D"/>
            </a:solidFill>
            <a:effectLst/>
          </c:spPr>
          <c:invertIfNegative val="0"/>
          <c:dLbls>
            <c:numFmt formatCode="[&gt;=5]0&quot;%&quot;;;;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BEFORE</c:v>
                  </c:pt>
                  <c:pt idx="1">
                    <c:v>AFTER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91.71166305704932</c:v>
                </c:pt>
                <c:pt idx="1">
                  <c:v>88.15489851428924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Video views</c:v>
                </c:pt>
              </c:strCache>
            </c:strRef>
          </c:tx>
          <c:spPr>
            <a:solidFill>
              <a:srgbClr val="DA291C"/>
            </a:solidFill>
            <a:effectLst/>
          </c:spPr>
          <c:invertIfNegative val="0"/>
          <c:dLbls>
            <c:numFmt formatCode="[&gt;=5]0&quot;%&quot;;;;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BEFORE</c:v>
                  </c:pt>
                  <c:pt idx="1">
                    <c:v>AFTER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0</c:v>
                </c:pt>
                <c:pt idx="1">
                  <c:v>8.610593006111692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Community interaction</c:v>
                </c:pt>
              </c:strCache>
            </c:strRef>
          </c:tx>
          <c:spPr>
            <a:solidFill>
              <a:srgbClr val="27251F"/>
            </a:solidFill>
            <a:effectLst/>
          </c:spPr>
          <c:invertIfNegative val="0"/>
          <c:dLbls>
            <c:numFmt formatCode="[&gt;=5]0&quot;%&quot;;;;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BEFORE</c:v>
                  </c:pt>
                  <c:pt idx="1">
                    <c:v>AFTER</c:v>
                  </c:pt>
                </c:lvl>
              </c:multiLvlStrCache>
            </c:multiLvl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8.288336942950677</c:v>
                </c:pt>
                <c:pt idx="1">
                  <c:v>0.6817140098396076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Opening (objective not labelled)</c:v>
                </c:pt>
              </c:strCache>
            </c:strRef>
          </c:tx>
          <c:spPr>
            <a:solidFill>
              <a:srgbClr val="9A9A9A"/>
            </a:solidFill>
            <a:effectLst/>
          </c:spPr>
          <c:invertIfNegative val="0"/>
          <c:dLbls>
            <c:numFmt formatCode="[&gt;=5]0&quot;%&quot;;;;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BEFORE</c:v>
                  </c:pt>
                  <c:pt idx="1">
                    <c:v>AFTER</c:v>
                  </c:pt>
                </c:lvl>
              </c:multiLvlStrCache>
            </c:multiLvlStrRef>
          </c:cat>
          <c:val>
            <c:numRef>
              <c:f>Sheet1!$E$2:$E$3</c:f>
              <c:numCache>
                <c:formatCode>General</c:formatCode>
                <c:ptCount val="2"/>
                <c:pt idx="0">
                  <c:v>0</c:v>
                </c:pt>
                <c:pt idx="1">
                  <c:v>2.5317491396652776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App promotion</c:v>
                </c:pt>
              </c:strCache>
            </c:strRef>
          </c:tx>
          <c:spPr>
            <a:solidFill>
              <a:srgbClr val="D9D9D9"/>
            </a:solidFill>
            <a:effectLst/>
          </c:spPr>
          <c:invertIfNegative val="0"/>
          <c:dLbls>
            <c:numFmt formatCode="[&gt;=5]0&quot;%&quot;;;;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BEFORE</c:v>
                  </c:pt>
                  <c:pt idx="1">
                    <c:v>AFTER</c:v>
                  </c:pt>
                </c:lvl>
              </c:multiLvlStrCache>
            </c:multiLvlStrRef>
          </c:cat>
          <c:val>
            <c:numRef>
              <c:f>Sheet1!$F$2:$F$3</c:f>
              <c:numCache>
                <c:formatCode>General</c:formatCode>
                <c:ptCount val="2"/>
                <c:pt idx="0">
                  <c:v>0</c:v>
                </c:pt>
                <c:pt idx="1">
                  <c:v>0.021045330094170724</c:v>
                </c:pt>
              </c:numCache>
            </c:numRef>
          </c:val>
        </c:ser>
        <c:dLbls>
          <c:numFmt formatCode="[&gt;=5]0&quot;%&quot;;;;" sourceLinked="0"/>
          <c:txPr>
            <a:bodyPr/>
            <a:lstStyle/>
            <a:p>
              <a:pPr>
                <a:defRPr b="1" i="0" strike="noStrike" sz="1000" u="none">
                  <a:solidFill>
                    <a:srgbClr val="FFFFFF"/>
                  </a:solidFill>
                  <a:latin typeface="+mn-lt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1" i="0" u="none" strike="noStrike">
                <a:solidFill>
                  <a:srgbClr val="4A4A4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E6E6E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4A4A4A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Improved</c:v>
                </c:pt>
              </c:strCache>
            </c:strRef>
          </c:tx>
          <c:spPr>
            <a:solidFill>
              <a:srgbClr val="2E8540"/>
            </a:solidFill>
            <a:effectLst/>
          </c:spPr>
          <c:invertIfNegative val="0"/>
          <c:dLbls>
            <c:numFmt formatCode="+0.0&quot;%&quot;;-0.0&quot;%&quot;;;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27251F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Cost / 1,000 2-sec views</c:v>
                  </c:pt>
                  <c:pt idx="1">
                    <c:v>2-sec view rate</c:v>
                  </c:pt>
                  <c:pt idx="2">
                    <c:v>CPC</c:v>
                  </c:pt>
                  <c:pt idx="3">
                    <c:v>CTR</c:v>
                  </c:pt>
                  <c:pt idx="4">
                    <c:v>CPM</c:v>
                  </c:pt>
                  <c:pt idx="5">
                    <c:v>Frequency (per person)</c:v>
                  </c:pt>
                  <c:pt idx="6">
                    <c:v>Cost / 1,000 reached (ad level)</c:v>
                  </c:pt>
                  <c:pt idx="7">
                    <c:v>Cost / 1,000 unique reached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-3.7292723985383835</c:v>
                </c:pt>
                <c:pt idx="7">
                  <c:v>-21.103777974558838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Declined</c:v>
                </c:pt>
              </c:strCache>
            </c:strRef>
          </c:tx>
          <c:spPr>
            <a:solidFill>
              <a:srgbClr val="DA291C"/>
            </a:solidFill>
            <a:effectLst/>
          </c:spPr>
          <c:invertIfNegative val="0"/>
          <c:dLbls>
            <c:numFmt formatCode="+0.0&quot;%&quot;;-0.0&quot;%&quot;;;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27251F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Cost / 1,000 2-sec views</c:v>
                  </c:pt>
                  <c:pt idx="1">
                    <c:v>2-sec view rate</c:v>
                  </c:pt>
                  <c:pt idx="2">
                    <c:v>CPC</c:v>
                  </c:pt>
                  <c:pt idx="3">
                    <c:v>CTR</c:v>
                  </c:pt>
                  <c:pt idx="4">
                    <c:v>CPM</c:v>
                  </c:pt>
                  <c:pt idx="5">
                    <c:v>Frequency (per person)</c:v>
                  </c:pt>
                  <c:pt idx="6">
                    <c:v>Cost / 1,000 reached (ad level)</c:v>
                  </c:pt>
                  <c:pt idx="7">
                    <c:v>Cost / 1,000 unique reached</c:v>
                  </c:pt>
                </c:lvl>
              </c:multiLvlStrCache>
            </c:multiLvl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28.667860492477548</c:v>
                </c:pt>
                <c:pt idx="1">
                  <c:v>-21.01779878865844</c:v>
                </c:pt>
                <c:pt idx="2">
                  <c:v>8.718959214971715</c:v>
                </c:pt>
                <c:pt idx="3">
                  <c:v>-6.525311498289151</c:v>
                </c:pt>
                <c:pt idx="4">
                  <c:v>1.6247084684968813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Context</c:v>
                </c:pt>
              </c:strCache>
            </c:strRef>
          </c:tx>
          <c:spPr>
            <a:solidFill>
              <a:srgbClr val="9A9A9A"/>
            </a:solidFill>
            <a:effectLst/>
          </c:spPr>
          <c:invertIfNegative val="0"/>
          <c:dLbls>
            <c:numFmt formatCode="+0.0&quot;%&quot;;-0.0&quot;%&quot;;;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27251F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Cost / 1,000 2-sec views</c:v>
                  </c:pt>
                  <c:pt idx="1">
                    <c:v>2-sec view rate</c:v>
                  </c:pt>
                  <c:pt idx="2">
                    <c:v>CPC</c:v>
                  </c:pt>
                  <c:pt idx="3">
                    <c:v>CTR</c:v>
                  </c:pt>
                  <c:pt idx="4">
                    <c:v>CPM</c:v>
                  </c:pt>
                  <c:pt idx="5">
                    <c:v>Frequency (per person)</c:v>
                  </c:pt>
                  <c:pt idx="6">
                    <c:v>Cost / 1,000 reached (ad level)</c:v>
                  </c:pt>
                  <c:pt idx="7">
                    <c:v>Cost / 1,000 unique reached</c:v>
                  </c:pt>
                </c:lvl>
              </c:multiLvlStrCache>
            </c:multiLvlStrRef>
          </c:cat>
          <c:val>
            <c:numRef>
              <c:f>Sheet1!$D$2:$D$9</c:f>
              <c:numCache>
                <c:formatCode>General</c:formatCode>
                <c:ptCount val="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-22.365118469295712</c:v>
                </c:pt>
                <c:pt idx="6">
                  <c:v>0</c:v>
                </c:pt>
                <c:pt idx="7">
                  <c:v>0</c:v>
                </c:pt>
              </c:numCache>
            </c:numRef>
          </c:val>
        </c:ser>
        <c:dLbls>
          <c:numFmt formatCode="+0.0&quot;%&quot;;-0.0&quot;%&quot;;;" sourceLinked="0"/>
          <c:txPr>
            <a:bodyPr/>
            <a:lstStyle/>
            <a:p>
              <a:pPr>
                <a:defRPr b="1" i="0" strike="noStrike" sz="1100" u="none">
                  <a:solidFill>
                    <a:srgbClr val="27251F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A4A4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0"/>
          <c:min val="-35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E6E6E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4A4A4A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Budget</c:v>
                </c:pt>
              </c:strCache>
            </c:strRef>
          </c:tx>
          <c:spPr>
            <a:solidFill>
              <a:srgbClr val="27251F"/>
            </a:solidFill>
            <a:effectLst/>
          </c:spPr>
          <c:invertIfNegative val="0"/>
          <c:dLbls>
            <c:numFmt formatCode="+0&quot;%&quot;;-0&quot;%&quot;;;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27251F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Amount spent</c:v>
                  </c:pt>
                  <c:pt idx="1">
                    <c:v>Unique reach</c:v>
                  </c:pt>
                  <c:pt idx="2">
                    <c:v>Impressions</c:v>
                  </c:pt>
                  <c:pt idx="3">
                    <c:v>Clicks</c:v>
                  </c:pt>
                  <c:pt idx="4">
                    <c:v>2-sec video views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-9.868949427077947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Outperformed budget</c:v>
                </c:pt>
              </c:strCache>
            </c:strRef>
          </c:tx>
          <c:spPr>
            <a:solidFill>
              <a:srgbClr val="2E8540"/>
            </a:solidFill>
            <a:effectLst/>
          </c:spPr>
          <c:invertIfNegative val="0"/>
          <c:dLbls>
            <c:numFmt formatCode="+0&quot;%&quot;;-0&quot;%&quot;;;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27251F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Amount spent</c:v>
                  </c:pt>
                  <c:pt idx="1">
                    <c:v>Unique reach</c:v>
                  </c:pt>
                  <c:pt idx="2">
                    <c:v>Impressions</c:v>
                  </c:pt>
                  <c:pt idx="3">
                    <c:v>Clicks</c:v>
                  </c:pt>
                  <c:pt idx="4">
                    <c:v>2-sec video views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</c:v>
                </c:pt>
                <c:pt idx="1">
                  <c:v>14.240008278036523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In line with budget</c:v>
                </c:pt>
              </c:strCache>
            </c:strRef>
          </c:tx>
          <c:spPr>
            <a:solidFill>
              <a:srgbClr val="FFBC0D"/>
            </a:solidFill>
            <a:effectLst/>
          </c:spPr>
          <c:invertIfNegative val="0"/>
          <c:dLbls>
            <c:numFmt formatCode="+0&quot;%&quot;;-0&quot;%&quot;;;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27251F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Amount spent</c:v>
                  </c:pt>
                  <c:pt idx="1">
                    <c:v>Unique reach</c:v>
                  </c:pt>
                  <c:pt idx="2">
                    <c:v>Impressions</c:v>
                  </c:pt>
                  <c:pt idx="3">
                    <c:v>Clicks</c:v>
                  </c:pt>
                  <c:pt idx="4">
                    <c:v>2-sec video views</c:v>
                  </c:pt>
                </c:lvl>
              </c:multiLvlStrCache>
            </c:multiLvl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-11.309904912679578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Fell more than budget</c:v>
                </c:pt>
              </c:strCache>
            </c:strRef>
          </c:tx>
          <c:spPr>
            <a:solidFill>
              <a:srgbClr val="DA291C"/>
            </a:solidFill>
            <a:effectLst/>
          </c:spPr>
          <c:invertIfNegative val="0"/>
          <c:dLbls>
            <c:numFmt formatCode="+0&quot;%&quot;;-0&quot;%&quot;;;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27251F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Amount spent</c:v>
                  </c:pt>
                  <c:pt idx="1">
                    <c:v>Unique reach</c:v>
                  </c:pt>
                  <c:pt idx="2">
                    <c:v>Impressions</c:v>
                  </c:pt>
                  <c:pt idx="3">
                    <c:v>Clicks</c:v>
                  </c:pt>
                  <c:pt idx="4">
                    <c:v>2-sec video views</c:v>
                  </c:pt>
                </c:lvl>
              </c:multiLvlStrCache>
            </c:multiLvlStrRef>
          </c:cat>
          <c:val>
            <c:numRef>
              <c:f>Sheet1!$E$2:$E$6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-17.097209885256078</c:v>
                </c:pt>
                <c:pt idx="4">
                  <c:v>-29.95061064360242</c:v>
                </c:pt>
              </c:numCache>
            </c:numRef>
          </c:val>
        </c:ser>
        <c:dLbls>
          <c:numFmt formatCode="+0&quot;%&quot;;-0&quot;%&quot;;;" sourceLinked="0"/>
          <c:txPr>
            <a:bodyPr/>
            <a:lstStyle/>
            <a:p>
              <a:pPr>
                <a:defRPr b="1" i="0" strike="noStrike" sz="1200" u="none">
                  <a:solidFill>
                    <a:srgbClr val="27251F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A4A4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5"/>
          <c:min val="-4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E6E6E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4A4A4A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Cost / 1,000 reached</c:v>
                </c:pt>
              </c:strCache>
            </c:strRef>
          </c:tx>
          <c:spPr>
            <a:solidFill>
              <a:srgbClr val="BDBDBD"/>
            </a:solidFill>
            <a:effectLst/>
          </c:spPr>
          <c:invertIfNegative val="0"/>
          <c:dLbls>
            <c:numFmt formatCode="&quot;$&quot;0.00" sourceLinked="0"/>
            <c:txPr>
              <a:bodyPr/>
              <a:lstStyle/>
              <a:p>
                <a:pPr>
                  <a:defRPr b="1" i="0" strike="noStrike" sz="1400" u="none">
                    <a:solidFill>
                      <a:srgbClr val="27251F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BDBDBD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FBC0D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BEFORE (Apr–Jun)</c:v>
                  </c:pt>
                  <c:pt idx="1">
                    <c:v>AFTER (Jul–Sep)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5.530030707863424</c:v>
                </c:pt>
                <c:pt idx="1">
                  <c:v>4.362985305351002</c:v>
                </c:pt>
              </c:numCache>
            </c:numRef>
          </c:val>
        </c:ser>
        <c:dLbls>
          <c:numFmt formatCode="&quot;$&quot;0.00" sourceLinked="0"/>
          <c:txPr>
            <a:bodyPr/>
            <a:lstStyle/>
            <a:p>
              <a:pPr>
                <a:defRPr b="1" i="0" strike="noStrike" sz="1400" u="none">
                  <a:solidFill>
                    <a:srgbClr val="27251F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A4A4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.5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E6E6E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CPM</c:v>
                </c:pt>
              </c:strCache>
            </c:strRef>
          </c:tx>
          <c:spPr>
            <a:solidFill>
              <a:srgbClr val="BDBDBD"/>
            </a:solidFill>
            <a:effectLst/>
          </c:spPr>
          <c:invertIfNegative val="0"/>
          <c:dLbls>
            <c:numFmt formatCode="&quot;$&quot;0.000" sourceLinked="0"/>
            <c:txPr>
              <a:bodyPr/>
              <a:lstStyle/>
              <a:p>
                <a:pPr>
                  <a:defRPr b="1" i="0" strike="noStrike" sz="1400" u="none">
                    <a:solidFill>
                      <a:srgbClr val="27251F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BDBDBD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FBC0D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BEFORE (Apr–Jun)</c:v>
                  </c:pt>
                  <c:pt idx="1">
                    <c:v>AFTER (Jul–Sep)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0.2587009645391549</c:v>
                </c:pt>
                <c:pt idx="1">
                  <c:v>0.2629041010181057</c:v>
                </c:pt>
              </c:numCache>
            </c:numRef>
          </c:val>
        </c:ser>
        <c:dLbls>
          <c:numFmt formatCode="&quot;$&quot;0.000" sourceLinked="0"/>
          <c:txPr>
            <a:bodyPr/>
            <a:lstStyle/>
            <a:p>
              <a:pPr>
                <a:defRPr b="1" i="0" strike="noStrike" sz="1400" u="none">
                  <a:solidFill>
                    <a:srgbClr val="27251F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A4A4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35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E6E6E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BEFORE</c:v>
                </c:pt>
              </c:strCache>
            </c:strRef>
          </c:tx>
          <c:spPr>
            <a:solidFill>
              <a:srgbClr val="BDBDBD"/>
            </a:solidFill>
            <a:effectLst/>
          </c:spPr>
          <c:invertIfNegative val="0"/>
          <c:dLbls>
            <c:numFmt formatCode="0.000&quot;%&quot;;;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7251F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All campaigns</c:v>
                  </c:pt>
                  <c:pt idx="1">
                    <c:v>Reach campaigns</c:v>
                  </c:pt>
                  <c:pt idx="2">
                    <c:v>Video views (new)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0.23401350719482691</c:v>
                </c:pt>
                <c:pt idx="1">
                  <c:v>0.24302554516873556</c:v>
                </c:pt>
                <c:pt idx="2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AFTER</c:v>
                </c:pt>
              </c:strCache>
            </c:strRef>
          </c:tx>
          <c:spPr>
            <a:solidFill>
              <a:srgbClr val="FFBC0D"/>
            </a:solidFill>
            <a:effectLst/>
          </c:spPr>
          <c:invertIfNegative val="0"/>
          <c:dLbls>
            <c:numFmt formatCode="0.000&quot;%&quot;;;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7251F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All campaigns</c:v>
                  </c:pt>
                  <c:pt idx="1">
                    <c:v>Reach campaigns</c:v>
                  </c:pt>
                  <c:pt idx="2">
                    <c:v>Video views (new)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0.21874339690229316</c:v>
                </c:pt>
                <c:pt idx="1">
                  <c:v>0.23049471864374846</c:v>
                </c:pt>
                <c:pt idx="2">
                  <c:v>0.15158805455963292</c:v>
                </c:pt>
              </c:numCache>
            </c:numRef>
          </c:val>
        </c:ser>
        <c:dLbls>
          <c:numFmt formatCode="0.000&quot;%&quot;;;;" sourceLinked="0"/>
          <c:txPr>
            <a:bodyPr/>
            <a:lstStyle/>
            <a:p>
              <a:pPr>
                <a:defRPr b="0" i="0" strike="noStrike" sz="1000" u="none">
                  <a:solidFill>
                    <a:srgbClr val="27251F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A4A4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3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E6E6E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solidFill>
                <a:srgbClr val="4A4A4A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BEFORE</c:v>
                </c:pt>
              </c:strCache>
            </c:strRef>
          </c:tx>
          <c:spPr>
            <a:solidFill>
              <a:srgbClr val="BDBDBD"/>
            </a:solidFill>
            <a:effectLst/>
          </c:spPr>
          <c:invertIfNegative val="0"/>
          <c:dLbls>
            <c:numFmt formatCode="&quot;$&quot;0.000;;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7251F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All campaigns</c:v>
                  </c:pt>
                  <c:pt idx="1">
                    <c:v>Reach campaigns</c:v>
                  </c:pt>
                  <c:pt idx="2">
                    <c:v>Video views (new)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0.11054958649193466</c:v>
                </c:pt>
                <c:pt idx="1">
                  <c:v>0.10138686427444442</c:v>
                </c:pt>
                <c:pt idx="2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AFTER</c:v>
                </c:pt>
              </c:strCache>
            </c:strRef>
          </c:tx>
          <c:spPr>
            <a:solidFill>
              <a:srgbClr val="FFBC0D"/>
            </a:solidFill>
            <a:effectLst/>
          </c:spPr>
          <c:invertIfNegative val="0"/>
          <c:dLbls>
            <c:numFmt formatCode="&quot;$&quot;0.000;;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7251F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All campaigns</c:v>
                  </c:pt>
                  <c:pt idx="1">
                    <c:v>Reach campaigns</c:v>
                  </c:pt>
                  <c:pt idx="2">
                    <c:v>Video views (new)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0.12018835985048633</c:v>
                </c:pt>
                <c:pt idx="1">
                  <c:v>0.11149802552656916</c:v>
                </c:pt>
                <c:pt idx="2">
                  <c:v>0.21047562189054728</c:v>
                </c:pt>
              </c:numCache>
            </c:numRef>
          </c:val>
        </c:ser>
        <c:dLbls>
          <c:numFmt formatCode="&quot;$&quot;0.000;;;" sourceLinked="0"/>
          <c:txPr>
            <a:bodyPr/>
            <a:lstStyle/>
            <a:p>
              <a:pPr>
                <a:defRPr b="0" i="0" strike="noStrike" sz="1000" u="none">
                  <a:solidFill>
                    <a:srgbClr val="27251F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A4A4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25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E6E6E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solidFill>
                <a:srgbClr val="4A4A4A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BEFORE</c:v>
                </c:pt>
              </c:strCache>
            </c:strRef>
          </c:tx>
          <c:spPr>
            <a:solidFill>
              <a:srgbClr val="BDBDBD"/>
            </a:solidFill>
            <a:effectLst/>
          </c:spPr>
          <c:invertIfNegative val="0"/>
          <c:dLbls>
            <c:numFmt formatCode="&quot;$&quot;0.00;;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27251F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Reach campaigns</c:v>
                  </c:pt>
                  <c:pt idx="1">
                    <c:v>Video views (new in Q3)</c:v>
                  </c:pt>
                  <c:pt idx="2">
                    <c:v>Community interaction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1.0758185908845435</c:v>
                </c:pt>
                <c:pt idx="1">
                  <c:v>0</c:v>
                </c:pt>
                <c:pt idx="2">
                  <c:v>2.487159923768756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AFTER</c:v>
                </c:pt>
              </c:strCache>
            </c:strRef>
          </c:tx>
          <c:spPr>
            <a:solidFill>
              <a:srgbClr val="FFBC0D"/>
            </a:solidFill>
            <a:effectLst/>
          </c:spPr>
          <c:invertIfNegative val="0"/>
          <c:dLbls>
            <c:numFmt formatCode="&quot;$&quot;0.00;;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27251F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Reach campaigns</c:v>
                  </c:pt>
                  <c:pt idx="1">
                    <c:v>Video views (new in Q3)</c:v>
                  </c:pt>
                  <c:pt idx="2">
                    <c:v>Community interaction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1.6248422981275352</c:v>
                </c:pt>
                <c:pt idx="1">
                  <c:v>0.7821606667046295</c:v>
                </c:pt>
                <c:pt idx="2">
                  <c:v>1.7584736864211012</c:v>
                </c:pt>
              </c:numCache>
            </c:numRef>
          </c:val>
        </c:ser>
        <c:dLbls>
          <c:numFmt formatCode="&quot;$&quot;0.00;;;" sourceLinked="0"/>
          <c:txPr>
            <a:bodyPr/>
            <a:lstStyle/>
            <a:p>
              <a:pPr>
                <a:defRPr b="0" i="0" strike="noStrike" sz="1100" u="none">
                  <a:solidFill>
                    <a:srgbClr val="27251F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A4A4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E6E6E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solidFill>
                <a:srgbClr val="4A4A4A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View rate</c:v>
                </c:pt>
              </c:strCache>
            </c:strRef>
          </c:tx>
          <c:spPr>
            <a:solidFill>
              <a:srgbClr val="BDBDBD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27251F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BDBDBD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DA291C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FBC0D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BEFORE – all ads</c:v>
                  </c:pt>
                  <c:pt idx="1">
                    <c:v>AFTER – 3 largest Reach ads</c:v>
                  </c:pt>
                  <c:pt idx="2">
                    <c:v>AFTER – all other ads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22.91591523158286</c:v>
                </c:pt>
                <c:pt idx="1">
                  <c:v>7.019395803025024</c:v>
                </c:pt>
                <c:pt idx="2">
                  <c:v>21.692053147754915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1" i="0" strike="noStrike" sz="1200" u="none">
                  <a:solidFill>
                    <a:srgbClr val="27251F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A4A4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0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E6E6E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Cheaper than Q2 Reach average ($0.39)</c:v>
                </c:pt>
              </c:strCache>
            </c:strRef>
          </c:tx>
          <c:spPr>
            <a:solidFill>
              <a:srgbClr val="FFBC0D"/>
            </a:solidFill>
            <a:effectLst/>
          </c:spPr>
          <c:invertIfNegative val="0"/>
          <c:dLbls>
            <c:numFmt formatCode="&quot;$&quot;0.00;;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7251F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Sheet1!$A$2:$A$14</c:f>
              <c:multiLvlStrCache>
                <c:ptCount val="13"/>
                <c:lvl>
                  <c:pt idx="0">
                    <c:v>McChicken value (Jul)</c:v>
                  </c:pt>
                  <c:pt idx="1">
                    <c:v>McChicken iOS (Aug)</c:v>
                  </c:pt>
                  <c:pt idx="2">
                    <c:v>McCafé (Sep)</c:v>
                  </c:pt>
                  <c:pt idx="3">
                    <c:v>Happy Meal (Sep)</c:v>
                  </c:pt>
                  <c:pt idx="4">
                    <c:v>Mixology (Aug)</c:v>
                  </c:pt>
                  <c:pt idx="5">
                    <c:v>McChicken influencer (Sep)</c:v>
                  </c:pt>
                  <c:pt idx="6">
                    <c:v>FIFA (Jul)</c:v>
                  </c:pt>
                  <c:pt idx="7">
                    <c:v>McChicken Android (Aug)</c:v>
                  </c:pt>
                  <c:pt idx="8">
                    <c:v>Spiderman GenZ (Aug)</c:v>
                  </c:pt>
                  <c:pt idx="9">
                    <c:v>Mixology launch (Jul)</c:v>
                  </c:pt>
                  <c:pt idx="10">
                    <c:v>Spiderman Happy Meal (Aug)</c:v>
                  </c:pt>
                  <c:pt idx="11">
                    <c:v>Grimace (Jul)</c:v>
                  </c:pt>
                  <c:pt idx="12">
                    <c:v>Cheddar Sauce (Jul)</c:v>
                  </c:pt>
                </c:lvl>
              </c:multiLvlStrCache>
            </c:multiLvl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0.3656859115656193</c:v>
                </c:pt>
                <c:pt idx="5">
                  <c:v>0.3402579011119485</c:v>
                </c:pt>
                <c:pt idx="6">
                  <c:v>0.3378132886562501</c:v>
                </c:pt>
                <c:pt idx="7">
                  <c:v>0.309374616172481</c:v>
                </c:pt>
                <c:pt idx="8">
                  <c:v>0.2844944817553689</c:v>
                </c:pt>
                <c:pt idx="9">
                  <c:v>0.2759159903638198</c:v>
                </c:pt>
                <c:pt idx="10">
                  <c:v>0.2703813744268711</c:v>
                </c:pt>
                <c:pt idx="11">
                  <c:v>0.2251781845929588</c:v>
                </c:pt>
                <c:pt idx="12">
                  <c:v>0.20021291939970465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Costlier than Q2 average</c:v>
                </c:pt>
              </c:strCache>
            </c:strRef>
          </c:tx>
          <c:spPr>
            <a:solidFill>
              <a:srgbClr val="DA291C"/>
            </a:solidFill>
            <a:effectLst/>
          </c:spPr>
          <c:invertIfNegative val="0"/>
          <c:dLbls>
            <c:numFmt formatCode="&quot;$&quot;0.00;;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7251F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Sheet1!$A$2:$A$14</c:f>
              <c:multiLvlStrCache>
                <c:ptCount val="13"/>
                <c:lvl>
                  <c:pt idx="0">
                    <c:v>McChicken value (Jul)</c:v>
                  </c:pt>
                  <c:pt idx="1">
                    <c:v>McChicken iOS (Aug)</c:v>
                  </c:pt>
                  <c:pt idx="2">
                    <c:v>McCafé (Sep)</c:v>
                  </c:pt>
                  <c:pt idx="3">
                    <c:v>Happy Meal (Sep)</c:v>
                  </c:pt>
                  <c:pt idx="4">
                    <c:v>Mixology (Aug)</c:v>
                  </c:pt>
                  <c:pt idx="5">
                    <c:v>McChicken influencer (Sep)</c:v>
                  </c:pt>
                  <c:pt idx="6">
                    <c:v>FIFA (Jul)</c:v>
                  </c:pt>
                  <c:pt idx="7">
                    <c:v>McChicken Android (Aug)</c:v>
                  </c:pt>
                  <c:pt idx="8">
                    <c:v>Spiderman GenZ (Aug)</c:v>
                  </c:pt>
                  <c:pt idx="9">
                    <c:v>Mixology launch (Jul)</c:v>
                  </c:pt>
                  <c:pt idx="10">
                    <c:v>Spiderman Happy Meal (Aug)</c:v>
                  </c:pt>
                  <c:pt idx="11">
                    <c:v>Grimace (Jul)</c:v>
                  </c:pt>
                  <c:pt idx="12">
                    <c:v>Cheddar Sauce (Jul)</c:v>
                  </c:pt>
                </c:lvl>
              </c:multiLvlStrCache>
            </c:multiLvlStrRef>
          </c:cat>
          <c:val>
            <c:numRef>
              <c:f>Sheet1!$C$2:$C$14</c:f>
              <c:numCache>
                <c:formatCode>General</c:formatCode>
                <c:ptCount val="13"/>
                <c:pt idx="0">
                  <c:v>1.0698078964938438</c:v>
                </c:pt>
                <c:pt idx="1">
                  <c:v>0.781975961855822</c:v>
                </c:pt>
                <c:pt idx="2">
                  <c:v>0.6303236875922026</c:v>
                </c:pt>
                <c:pt idx="3">
                  <c:v>0.584439635019885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</c:numCache>
            </c:numRef>
          </c:val>
        </c:ser>
        <c:dLbls>
          <c:numFmt formatCode="&quot;$&quot;0.00;;;" sourceLinked="0"/>
          <c:txPr>
            <a:bodyPr/>
            <a:lstStyle/>
            <a:p>
              <a:pPr>
                <a:defRPr b="0" i="0" strike="noStrike" sz="1000" u="none">
                  <a:solidFill>
                    <a:srgbClr val="27251F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A4A4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.25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E6E6E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4A4A4A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BEFORE (Apr–Jun)</c:v>
                </c:pt>
              </c:strCache>
            </c:strRef>
          </c:tx>
          <c:spPr>
            <a:solidFill>
              <a:srgbClr val="BDBDBD"/>
            </a:solidFill>
            <a:effectLst/>
          </c:spPr>
          <c:invertIfNegative val="0"/>
          <c:dLbls>
            <c:numFmt formatCode="&quot;$&quot;0.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7251F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McCafé</c:v>
                  </c:pt>
                  <c:pt idx="1">
                    <c:v>Chicken</c:v>
                  </c:pt>
                  <c:pt idx="2">
                    <c:v>Happy Meal</c:v>
                  </c:pt>
                  <c:pt idx="3">
                    <c:v>FIFA / World Cup</c:v>
                  </c:pt>
                  <c:pt idx="4">
                    <c:v>Grimace</c:v>
                  </c:pt>
                  <c:pt idx="5">
                    <c:v>Mixology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0.24836046062157266</c:v>
                </c:pt>
                <c:pt idx="1">
                  <c:v>0.38757034010291164</c:v>
                </c:pt>
                <c:pt idx="2">
                  <c:v>0.33983117531487167</c:v>
                </c:pt>
                <c:pt idx="3">
                  <c:v>0.34305268246059684</c:v>
                </c:pt>
                <c:pt idx="4">
                  <c:v>0.30898720718298744</c:v>
                </c:pt>
                <c:pt idx="5">
                  <c:v>0.4235067606858907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AFTER (Jul–Sep)</c:v>
                </c:pt>
              </c:strCache>
            </c:strRef>
          </c:tx>
          <c:spPr>
            <a:solidFill>
              <a:srgbClr val="FFBC0D"/>
            </a:solidFill>
            <a:effectLst/>
          </c:spPr>
          <c:invertIfNegative val="0"/>
          <c:dLbls>
            <c:numFmt formatCode="&quot;$&quot;0.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7251F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McCafé</c:v>
                  </c:pt>
                  <c:pt idx="1">
                    <c:v>Chicken</c:v>
                  </c:pt>
                  <c:pt idx="2">
                    <c:v>Happy Meal</c:v>
                  </c:pt>
                  <c:pt idx="3">
                    <c:v>FIFA / World Cup</c:v>
                  </c:pt>
                  <c:pt idx="4">
                    <c:v>Grimace</c:v>
                  </c:pt>
                  <c:pt idx="5">
                    <c:v>Mixology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0.6303236875922026</c:v>
                </c:pt>
                <c:pt idx="1">
                  <c:v>0.6559421705289409</c:v>
                </c:pt>
                <c:pt idx="2">
                  <c:v>0.3702541308379044</c:v>
                </c:pt>
                <c:pt idx="3">
                  <c:v>0.3378132886562501</c:v>
                </c:pt>
                <c:pt idx="4">
                  <c:v>0.2251781845929588</c:v>
                </c:pt>
                <c:pt idx="5">
                  <c:v>0.305285698865332</c:v>
                </c:pt>
              </c:numCache>
            </c:numRef>
          </c:val>
        </c:ser>
        <c:dLbls>
          <c:numFmt formatCode="&quot;$&quot;0.00" sourceLinked="0"/>
          <c:txPr>
            <a:bodyPr/>
            <a:lstStyle/>
            <a:p>
              <a:pPr>
                <a:defRPr b="0" i="0" strike="noStrike" sz="1000" u="none">
                  <a:solidFill>
                    <a:srgbClr val="27251F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A4A4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8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E6E6E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4A4A4A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Android (AOS)</c:v>
                </c:pt>
              </c:strCache>
            </c:strRef>
          </c:tx>
          <c:spPr>
            <a:solidFill>
              <a:srgbClr val="FFBC0D"/>
            </a:solidFill>
            <a:effectLst/>
          </c:spPr>
          <c:invertIfNegative val="0"/>
          <c:dLbls>
            <c:numFmt formatCode="&quot;$&quot;0.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27251F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Cost / 1,000 reached ($)</c:v>
                  </c:pt>
                  <c:pt idx="1">
                    <c:v>CPM ($)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0.309374616172481</c:v>
                </c:pt>
                <c:pt idx="1">
                  <c:v>0.27981454152480334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iOS</c:v>
                </c:pt>
              </c:strCache>
            </c:strRef>
          </c:tx>
          <c:spPr>
            <a:solidFill>
              <a:srgbClr val="DA291C"/>
            </a:solidFill>
            <a:effectLst/>
          </c:spPr>
          <c:invertIfNegative val="0"/>
          <c:dLbls>
            <c:numFmt formatCode="&quot;$&quot;0.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27251F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Cost / 1,000 reached ($)</c:v>
                  </c:pt>
                  <c:pt idx="1">
                    <c:v>CPM ($)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0.781975961855822</c:v>
                </c:pt>
                <c:pt idx="1">
                  <c:v>0.5048214822301745</c:v>
                </c:pt>
              </c:numCache>
            </c:numRef>
          </c:val>
        </c:ser>
        <c:dLbls>
          <c:numFmt formatCode="&quot;$&quot;0.00" sourceLinked="0"/>
          <c:txPr>
            <a:bodyPr/>
            <a:lstStyle/>
            <a:p>
              <a:pPr>
                <a:defRPr b="0" i="0" strike="noStrike" sz="1100" u="none">
                  <a:solidFill>
                    <a:srgbClr val="27251F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A4A4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E6E6E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000">
              <a:solidFill>
                <a:srgbClr val="4A4A4A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Parents / HappyMeal</c:v>
                </c:pt>
              </c:strCache>
            </c:strRef>
          </c:tx>
          <c:spPr>
            <a:solidFill>
              <a:srgbClr val="BDBDBD"/>
            </a:solidFill>
            <a:effectLst/>
          </c:spPr>
          <c:invertIfNegative val="0"/>
          <c:dLbls>
            <c:numFmt formatCode="0.0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27251F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August (Spiderman HM)</c:v>
                  </c:pt>
                  <c:pt idx="1">
                    <c:v>September (One Piece × SpongeBob)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0.18795491031095832</c:v>
                </c:pt>
                <c:pt idx="1">
                  <c:v>0.2901650436583686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GenZ with GenA interest</c:v>
                </c:pt>
              </c:strCache>
            </c:strRef>
          </c:tx>
          <c:spPr>
            <a:solidFill>
              <a:srgbClr val="FFBC0D"/>
            </a:solidFill>
            <a:effectLst/>
          </c:spPr>
          <c:invertIfNegative val="0"/>
          <c:dLbls>
            <c:numFmt formatCode="0.0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27251F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August (Spiderman HM)</c:v>
                  </c:pt>
                  <c:pt idx="1">
                    <c:v>September (One Piece × SpongeBob)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0.28616672808711857</c:v>
                </c:pt>
                <c:pt idx="1">
                  <c:v>0.42954666203315406</c:v>
                </c:pt>
              </c:numCache>
            </c:numRef>
          </c:val>
        </c:ser>
        <c:dLbls>
          <c:numFmt formatCode="0.00&quot;%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27251F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A4A4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55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E6E6E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000">
              <a:solidFill>
                <a:srgbClr val="4A4A4A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Cover. BEFORE = 1 Apr–30 Jun 2026 (previous agency). AFTER = 1 Jul–30 Sep 2026 (current agency, took over TikTok on 1 July). Logo and imagery: official assets only – placeholders are marked where files were not supplied.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Big-3 Reach ads: Xususi toyuq kombolari_03.06 ($3,594.01, view rate 7.1%); Cofe_#2 ($1,500.00, view rate 8.1%); Cofe_#1 ($1,230.67, view rate 5.5%). All other AFTER ads: view rate 21.7%, cost per 1,000 2-sec views $1.192. Low-click ads: opening_nizami_mall [Opening_Nizami Mall] $621.95 – 1 clicks; Generic_1 [Video views_Sep'2026] $574.57 – 0 clicks; Spiderman_launch_03.08 [MCD&amp;SpidermanGenZ_Reach_Aug_26] $396.54 – 0 clicks; Spiderman_HM_launch_03.08 [MCD&amp;Spiderman_HM_Reach_Aug_26] $168.39 – 0 clicks; Spiderman_launch_05.08 [MCD&amp;SpidermanGenZ_Reach_Aug_26] $157.12 – 0 clicks; Ad name2026-08-20 09:52:52 [IOS_AppPromo_Chicken_AO_13043679488] $0.02 – 0 clicks.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values are period totals across every active ad (spend &gt; 0). CPM = spend ÷ impressions × 1,000; CTR = clicks ÷ impressions; CPC = spend ÷ clicks; 2-sec view rate = 2-sec views ÷ impressions; frequency = impressions ÷ unique reach. Ad-row sums match each export's Total row exactly for spend, impressions, clicks and 2-sec views.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Structure counted from active rows (spend &gt; 0): unique campaign names, unique (campaign, ad group) pairs and ad rows. The Opening_Nizami Mall campaign reports results (219,241) that differ from its reach, so its objective cannot be confirmed from the export; it is shown separately.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Cost / 1,000 unique reached: −21.1%; Cost / 1,000 reached (ad level): −3.7%; Frequency (per person): −22.4%; CPM: +1.6%; CTR: −6.5%; CPC: +8.7%; 2-sec view rate: −21.0%; Cost / 1,000 2-sec views: +28.7%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Amount spent: −9.9%; Unique reach: +14.2%; Impressions: −11.3%; Clicks: −17.1%; 2-sec video views: −30.0%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Ad-level reach (summed, not de-duplicated) for reference: 66.0M → 61.8M; cost per 1,000 ad-level reached $0.413 → $0.398 (−3.7%). Reach-objective campaigns: CPM $0.246 → $0.257, ad-level frequency 1.58 → 1.52.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Reach campaigns: CTR 0.243% → 0.230%, CPC $0.1014 → $0.1115. Video views campaigns (AFTER only): CTR 0.152%, CPC $0.2105.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Xususi toyuq kombolari_03.06 [MCchicken_Reach_July'26]: $3,594.01, view rate 7.13%, frequency 3.34
Cofe_#2 [McCafe_Reach_Sep_26]: $1,500.00, view rate 8.09%, frequency 2.67
Cofe_#1 [McCafe_Reach_Sep_26]: $1,230.67, view rate 5.45%, frequency 2.72
Video views campaign 'Results' (1,153,629) are a result type the export does not name, so they are not used.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MCD_Cheddar_sauce_Reach_July'26: spend $431, cost/1k reached $0.200, ad-level freq 1.06, CTR 0.220%, view rate 9.9%
Grimace_Reach_July'26: spend $757, cost/1k reached $0.225, ad-level freq 1.06, CTR 0.212%, view rate 14.7%
MCD&amp;Spiderman_HM_Reach_Aug_26: spend $1,778, cost/1k reached $0.270, ad-level freq 1.35, CTR 0.211%, view rate 15.2%
Mixology_Reach_July'26: spend $2,339, cost/1k reached $0.276, ad-level freq 1.12, CTR 0.244%, view rate 14.6%
MCD&amp;SpidermanGenZ_Reach_Aug_26: spend $1,500, cost/1k reached $0.284, ad-level freq 1.22, CTR 0.134%, view rate 16.9%
AOS_McChicken_Reach_AUG'2026_13043676216: spend $602, cost/1k reached $0.309, ad-level freq 1.11, CTR 0.304%, view rate 46.3%
FIFA_Reach_July'26: spend $3,310, cost/1k reached $0.338, ad-level freq 1.17, CTR 0.227%, view rate 26.9%
MCchicken_Reach_Sep'26: spend $852, cost/1k reached $0.340, ad-level freq 1.83, CTR 0.234%, view rate 30.5%
Mixology_Reach_Aug'26: spend $1,507, cost/1k reached $0.366, ad-level freq 1.73, CTR 0.243%, view rate 10.9%
HM_Reach_Sep'26: spend $1,793, cost/1k reached $0.584, ad-level freq 1.49, CTR 0.308%, view rate 13.6%
McCafe_Reach_Sep_26: spend $2,731, cost/1k reached $0.630, ad-level freq 2.69, CTR 0.232%, view rate 6.9%
IOS_McChicken_Reach_AUG'2026_13043676216: spend $462, cost/1k reached $0.782, ad-level freq 1.55, CTR 0.370%, view rate 31.3%
MCchicken_Reach_July'26: spend $3,594, cost/1k reached $1.070, ad-level freq 3.34, CTR 0.234%, view rate 7.1%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Mixology: ads 1→9; spend $433→$3,846; cost/1k reached $0.424→$0.305; CPM $0.373→$0.232; CTR 0.232%→0.243%; view rate 20.3%→13.0%; freq 1.14→1.31
Grimace: ads 2→2; spend $970→$757; cost/1k reached $0.309→$0.225; CPM $0.174→$0.213; CTR 0.193%→0.212%; view rate 27.4%→14.7%; freq 1.77→1.06
FIFA / World Cup: ads 17→7; spend $7,002→$3,310; cost/1k reached $0.343→$0.338; CPM $0.277→$0.289; CTR 0.216%→0.227%; view rate 23.9%→26.9%; freq 1.24→1.17
Happy Meal: ads 1→12; spend $621→$3,571; cost/1k reached $0.340→$0.370; CPM $0.199→$0.266; CTR 0.259%→0.244%; view rate 16.5%→14.6%; freq 1.71→1.39
Chicken: ads 3→4; spend $2,364→$5,510; cost/1k reached $0.388→$0.656; CPM $0.247→$0.292; CTR 0.234%→0.248%; view rate 16.7%→18.5%; freq 1.57→2.25
McCafé: ads 2→2; spend $682→$2,731; cost/1k reached $0.248→$0.630; CPM $0.220→$0.234; CTR 0.245%→0.232%; view rate 31.6%→6.9%; freq 1.13→2.69
Unmatched: Stranger Things, Bizim Burger/Roll, Squishmallows (Q2 only); Spiderman GenZ, Cheddar, McFlurry, Generic (Q3 only).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Android: spend $602.00, CPM $0.280, cost/1k reached $0.309, view rate 46.3%, CTR 0.304%. iOS: spend $462.00, CPM $0.505, cost/1k $0.782, view rate 31.3%, CTR 0.370%. HM CTR – Aug: HappyMeal_Aug_26 0.188% vs GenZ(GenA) 0.286%; Sep: Parents 0.290% vs GenZ(GenA) 0.430%. The August 'HappyMeal_Aug_26' ad group is not explicitly named Parents; it is the non-GenZ ad group of that campaign.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CTR leaders: red_card_boost_01.06 [FIFA_Reach_July'26] 0.344%; MCFlurry_IMG_6519 [Video views_July'2026] 0.317%; Futbol_əyləncə_və_dadlı_anlar [FIFA_Reach_July'26] 0.316%; Chicken_offer_inf_16.08.26 [AOS_McChicken_Reach_AUG'2026_13043676216] 0.304%
View-rate leaders: MCFlurry_IMG_6519 [Video views_July'2026] 53.49%; Generic_1 [Video views_Sep'2026] 51.81%; FIFA_GENZ_Beckham_Revenge_Global_EN_Social_9x16_13 [FIFA_Reach_July'26] 46.50%; Chicken_offer_inf_16.08.26 [AOS_McChicken_Reach_AUG'2026_13043676216] 46.33%
Underperformers: Xususi toyuq kombolari_03.06 [MCchicken_Reach_July'26] $3,594.01; Cofe_#1 [McCafe_Reach_Sep_26] $1,230.67; opening_nizami_mall [Opening_Nizami Mall] $621.95; Spiderman_launch_03.08 [MCD&amp;SpidermanGenZ_Reach_Aug_26] $396.54
Influencer-named ads: Chicken_offer_inf_14.09.26 [MCchicken_Reach_Sep'26]; Chicken_offer_inf_16.08.26 [AOS_McChicken_Reach_AUG'2026_13043676216]; Chicken_offer_inf_16.08.26 [IOS_McChicken_Reach_AUG'2026_13043676216]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Correlation between ad-level frequency and cost per 1,000 reached across Q3 Reach ads with ≥$200 spend: r = 0.75 (Q2: 0.65). This is an association, not proof of cause.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CD_COV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874520"/>
            <a:ext cx="630936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CD_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96012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150" kern="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94944"/>
            <a:ext cx="1033272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4" name="Text 0"/>
          <p:cNvSpPr/>
          <p:nvPr/>
        </p:nvSpPr>
        <p:spPr>
          <a:xfrm>
            <a:off x="54864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5"/>
                </a:solidFill>
              </a:rPr>
              <a:t>McDonald's Azerbaijan  ·  TikTok performance review  ·  Apr–Jun vs Jul–Sep 2026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chart" Target="/ppt/charts/chart5.xml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chart" Target="/ppt/charts/chart7.xml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.xml"/><Relationship Id="rId2" Type="http://schemas.openxmlformats.org/officeDocument/2006/relationships/chart" Target="/ppt/charts/chart9.xml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0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2.xml"/><Relationship Id="rId2" Type="http://schemas.openxmlformats.org/officeDocument/2006/relationships/chart" Target="/ppt/charts/chart13.xml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-1"/>
          <p:cNvSpPr txBox="1"/>
          <p:nvPr/>
        </p:nvSpPr>
        <p:spPr>
          <a:xfrm>
            <a:off x="640080" y="1417320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QUARTERLY BUSINESS REVIEW  ·  TIKTOK ADVERTISING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40080" y="1874520"/>
            <a:ext cx="6309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tx1"/>
                </a:solidFill>
              </a:rPr>
              <a:t>McDonald's Azerbaijan</a:t>
            </a:r>
            <a:endParaRPr lang="en-US" sz="3800" dirty="0"/>
          </a:p>
        </p:txBody>
      </p:sp>
      <p:sp>
        <p:nvSpPr>
          <p:cNvPr id="4" name="text-2"/>
          <p:cNvSpPr txBox="1"/>
          <p:nvPr/>
        </p:nvSpPr>
        <p:spPr>
          <a:xfrm>
            <a:off x="640080" y="2651760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TikTok Performance Review</a:t>
            </a:r>
            <a:endParaRPr lang="en-US" sz="3000" dirty="0"/>
          </a:p>
        </p:txBody>
      </p:sp>
      <p:sp>
        <p:nvSpPr>
          <p:cNvPr id="5" name="text-3"/>
          <p:cNvSpPr txBox="1"/>
          <p:nvPr/>
        </p:nvSpPr>
        <p:spPr>
          <a:xfrm>
            <a:off x="640080" y="3291840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tx2"/>
                </a:solidFill>
              </a:rPr>
              <a:t>April–June vs July–September 2026</a:t>
            </a:r>
            <a:endParaRPr lang="en-US" sz="2000" dirty="0"/>
          </a:p>
        </p:txBody>
      </p:sp>
      <p:sp>
        <p:nvSpPr>
          <p:cNvPr id="6" name="chip-4"/>
          <p:cNvSpPr txBox="1"/>
          <p:nvPr/>
        </p:nvSpPr>
        <p:spPr>
          <a:xfrm>
            <a:off x="640080" y="4069080"/>
            <a:ext cx="3246120" cy="38404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BEFORE  </a:t>
            </a:r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1 Apr – 30 Jun · previous agency</a:t>
            </a:r>
            <a:endParaRPr lang="en-US" sz="1200" dirty="0"/>
          </a:p>
        </p:txBody>
      </p:sp>
      <p:sp>
        <p:nvSpPr>
          <p:cNvPr id="7" name="chip-5"/>
          <p:cNvSpPr txBox="1"/>
          <p:nvPr/>
        </p:nvSpPr>
        <p:spPr>
          <a:xfrm>
            <a:off x="4023360" y="4069080"/>
            <a:ext cx="3108960" cy="38404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AFTER  </a:t>
            </a:r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1 Jul – 30 Sep · current agency</a:t>
            </a:r>
            <a:endParaRPr lang="en-US" sz="1200" dirty="0"/>
          </a:p>
        </p:txBody>
      </p:sp>
      <p:sp>
        <p:nvSpPr>
          <p:cNvPr id="8" name="logo-placeholder-6"/>
          <p:cNvSpPr txBox="1"/>
          <p:nvPr/>
        </p:nvSpPr>
        <p:spPr>
          <a:xfrm>
            <a:off x="640080" y="457200"/>
            <a:ext cx="2377440" cy="685800"/>
          </a:xfrm>
          <a:prstGeom prst="roundRect">
            <a:avLst>
              <a:gd name="adj" fmla="val 13333"/>
            </a:avLst>
          </a:prstGeom>
          <a:noFill/>
          <a:ln w="12700">
            <a:solidFill>
              <a:schemeClr val="accent3"/>
            </a:solidFill>
            <a:prstDash val="dash"/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Official McDonald's logo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(placeholder – add assets/mcd_logo.png)</a:t>
            </a:r>
            <a:endParaRPr lang="en-US" sz="1000" dirty="0"/>
          </a:p>
        </p:txBody>
      </p:sp>
      <p:sp>
        <p:nvSpPr>
          <p:cNvPr id="9" name="agency-placeholder-7"/>
          <p:cNvSpPr txBox="1"/>
          <p:nvPr/>
        </p:nvSpPr>
        <p:spPr>
          <a:xfrm>
            <a:off x="640080" y="5623560"/>
            <a:ext cx="1645920" cy="548640"/>
          </a:xfrm>
          <a:prstGeom prst="roundRect">
            <a:avLst>
              <a:gd name="adj" fmla="val 16667"/>
            </a:avLst>
          </a:prstGeom>
          <a:noFill/>
          <a:ln w="12700">
            <a:solidFill>
              <a:schemeClr val="accent3"/>
            </a:solidFill>
            <a:prstDash val="dash"/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Agency logo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(placeholder)</a:t>
            </a:r>
            <a:endParaRPr lang="en-US" sz="1000" dirty="0"/>
          </a:p>
        </p:txBody>
      </p:sp>
      <p:sp>
        <p:nvSpPr>
          <p:cNvPr id="10" name="text-8"/>
          <p:cNvSpPr txBox="1"/>
          <p:nvPr/>
        </p:nvSpPr>
        <p:spPr>
          <a:xfrm>
            <a:off x="2514600" y="57607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Prepared October 2026</a:t>
            </a:r>
            <a:endParaRPr lang="en-US" sz="1100" dirty="0"/>
          </a:p>
        </p:txBody>
      </p:sp>
      <p:sp>
        <p:nvSpPr>
          <p:cNvPr id="11" name="card-9"/>
          <p:cNvSpPr/>
          <p:nvPr/>
        </p:nvSpPr>
        <p:spPr>
          <a:xfrm>
            <a:off x="7406640" y="548640"/>
            <a:ext cx="4251960" cy="5760720"/>
          </a:xfrm>
          <a:prstGeom prst="roundRect">
            <a:avLst>
              <a:gd name="adj" fmla="val 2581"/>
            </a:avLst>
          </a:prstGeom>
          <a:solidFill>
            <a:schemeClr val="accent6"/>
          </a:solidFill>
          <a:ln/>
        </p:spPr>
      </p:sp>
      <p:sp>
        <p:nvSpPr>
          <p:cNvPr id="12" name="cover-arch-10"/>
          <p:cNvSpPr/>
          <p:nvPr/>
        </p:nvSpPr>
        <p:spPr>
          <a:xfrm>
            <a:off x="7658100" y="4434840"/>
            <a:ext cx="3749040" cy="3749040"/>
          </a:xfrm>
          <a:prstGeom prst="blockArc">
            <a:avLst>
              <a:gd name="adj1" fmla="val 10800000"/>
              <a:gd name="adj2" fmla="val 0"/>
              <a:gd name="adj3" fmla="val 10000"/>
            </a:avLst>
          </a:prstGeom>
          <a:solidFill>
            <a:schemeClr val="accent1"/>
          </a:solidFill>
          <a:ln/>
        </p:spPr>
      </p:sp>
      <p:sp>
        <p:nvSpPr>
          <p:cNvPr id="13" name="cover-arch-11"/>
          <p:cNvSpPr/>
          <p:nvPr/>
        </p:nvSpPr>
        <p:spPr>
          <a:xfrm>
            <a:off x="8183880" y="4960620"/>
            <a:ext cx="2697480" cy="2697480"/>
          </a:xfrm>
          <a:prstGeom prst="blockArc">
            <a:avLst>
              <a:gd name="adj1" fmla="val 10800000"/>
              <a:gd name="adj2" fmla="val 0"/>
              <a:gd name="adj3" fmla="val 12000"/>
            </a:avLst>
          </a:prstGeom>
          <a:solidFill>
            <a:schemeClr val="accent2"/>
          </a:solidFill>
          <a:ln/>
        </p:spPr>
      </p:sp>
      <p:sp>
        <p:nvSpPr>
          <p:cNvPr id="14" name="cover-arch-12"/>
          <p:cNvSpPr/>
          <p:nvPr/>
        </p:nvSpPr>
        <p:spPr>
          <a:xfrm>
            <a:off x="8709660" y="5486400"/>
            <a:ext cx="1645920" cy="1645920"/>
          </a:xfrm>
          <a:prstGeom prst="blockArc">
            <a:avLst>
              <a:gd name="adj1" fmla="val 10800000"/>
              <a:gd name="adj2" fmla="val 0"/>
              <a:gd name="adj3" fmla="val 17000"/>
            </a:avLst>
          </a:prstGeom>
          <a:solidFill>
            <a:schemeClr val="accent1"/>
          </a:solidFill>
          <a:ln/>
        </p:spPr>
      </p:sp>
      <p:sp>
        <p:nvSpPr>
          <p:cNvPr id="15" name="dot-13"/>
          <p:cNvSpPr/>
          <p:nvPr/>
        </p:nvSpPr>
        <p:spPr>
          <a:xfrm>
            <a:off x="10561320" y="1005840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6" name="dot-14"/>
          <p:cNvSpPr/>
          <p:nvPr/>
        </p:nvSpPr>
        <p:spPr>
          <a:xfrm>
            <a:off x="7863840" y="1463040"/>
            <a:ext cx="274320" cy="274320"/>
          </a:xfrm>
          <a:prstGeom prst="ellipse">
            <a:avLst/>
          </a:prstGeom>
          <a:solidFill>
            <a:schemeClr val="accent1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chemeClr val="accent1"/>
                </a:solidFill>
              </a:rPr>
              <a:t>EXECUTIVE SUMMARY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94944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Q3 reached 14% more people on 10% less budget; clicks and video views did not keep pace</a:t>
            </a:r>
            <a:endParaRPr lang="en-US" sz="2600" dirty="0"/>
          </a:p>
        </p:txBody>
      </p:sp>
      <p:sp>
        <p:nvSpPr>
          <p:cNvPr id="4" name="arch-motif-15"/>
          <p:cNvSpPr/>
          <p:nvPr/>
        </p:nvSpPr>
        <p:spPr>
          <a:xfrm>
            <a:off x="11137392" y="384048"/>
            <a:ext cx="512064" cy="512064"/>
          </a:xfrm>
          <a:prstGeom prst="blockArc">
            <a:avLst>
              <a:gd name="adj1" fmla="val 10800000"/>
              <a:gd name="adj2" fmla="val 0"/>
              <a:gd name="adj3" fmla="val 16000"/>
            </a:avLst>
          </a:prstGeom>
          <a:solidFill>
            <a:schemeClr val="accent2"/>
          </a:solidFill>
          <a:ln/>
        </p:spPr>
      </p:sp>
      <p:sp>
        <p:nvSpPr>
          <p:cNvPr id="5" name="card-16"/>
          <p:cNvSpPr/>
          <p:nvPr/>
        </p:nvSpPr>
        <p:spPr>
          <a:xfrm>
            <a:off x="548640" y="1755648"/>
            <a:ext cx="11091672" cy="749808"/>
          </a:xfrm>
          <a:prstGeom prst="roundRect">
            <a:avLst>
              <a:gd name="adj" fmla="val 14634"/>
            </a:avLst>
          </a:prstGeom>
          <a:solidFill>
            <a:schemeClr val="bg2"/>
          </a:solidFill>
          <a:ln/>
        </p:spPr>
      </p:sp>
      <p:sp>
        <p:nvSpPr>
          <p:cNvPr id="6" name="num-17"/>
          <p:cNvSpPr txBox="1"/>
          <p:nvPr/>
        </p:nvSpPr>
        <p:spPr>
          <a:xfrm>
            <a:off x="731520" y="1901952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-18"/>
          <p:cNvSpPr txBox="1"/>
          <p:nvPr/>
        </p:nvSpPr>
        <p:spPr>
          <a:xfrm>
            <a:off x="1371600" y="184708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Reach efficiency is the headline win</a:t>
            </a:r>
            <a:endParaRPr lang="en-US" sz="1500" dirty="0"/>
          </a:p>
        </p:txBody>
      </p:sp>
      <p:sp>
        <p:nvSpPr>
          <p:cNvPr id="8" name="text-19"/>
          <p:cNvSpPr txBox="1"/>
          <p:nvPr/>
        </p:nvSpPr>
        <p:spPr>
          <a:xfrm>
            <a:off x="1371600" y="2121408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Unique reach rose from 4.93M to 5.63M while spend fell from $27.3K to $24.6K – cost per 1,000 people reached dropped from $5.53 to $4.36.</a:t>
            </a:r>
            <a:endParaRPr lang="en-US" sz="1150" dirty="0"/>
          </a:p>
        </p:txBody>
      </p:sp>
      <p:sp>
        <p:nvSpPr>
          <p:cNvPr id="9" name="text-20"/>
          <p:cNvSpPr txBox="1"/>
          <p:nvPr/>
        </p:nvSpPr>
        <p:spPr>
          <a:xfrm>
            <a:off x="9464040" y="182880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400" b="1" dirty="0">
                <a:solidFill>
                  <a:schemeClr val="accent4"/>
                </a:solidFill>
              </a:rPr>
              <a:t>−21%</a:t>
            </a:r>
            <a:endParaRPr lang="en-US" sz="2400" dirty="0"/>
          </a:p>
        </p:txBody>
      </p:sp>
      <p:sp>
        <p:nvSpPr>
          <p:cNvPr id="10" name="text-21"/>
          <p:cNvSpPr txBox="1"/>
          <p:nvPr/>
        </p:nvSpPr>
        <p:spPr>
          <a:xfrm>
            <a:off x="9281160" y="2231136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cost / 1,000 unique reached</a:t>
            </a:r>
            <a:endParaRPr lang="en-US" sz="1000" dirty="0"/>
          </a:p>
        </p:txBody>
      </p:sp>
      <p:sp>
        <p:nvSpPr>
          <p:cNvPr id="11" name="card-22"/>
          <p:cNvSpPr/>
          <p:nvPr/>
        </p:nvSpPr>
        <p:spPr>
          <a:xfrm>
            <a:off x="548640" y="2624328"/>
            <a:ext cx="11091672" cy="749808"/>
          </a:xfrm>
          <a:prstGeom prst="roundRect">
            <a:avLst>
              <a:gd name="adj" fmla="val 14634"/>
            </a:avLst>
          </a:prstGeom>
          <a:solidFill>
            <a:schemeClr val="bg2"/>
          </a:solidFill>
          <a:ln/>
        </p:spPr>
      </p:sp>
      <p:sp>
        <p:nvSpPr>
          <p:cNvPr id="12" name="num-23"/>
          <p:cNvSpPr txBox="1"/>
          <p:nvPr/>
        </p:nvSpPr>
        <p:spPr>
          <a:xfrm>
            <a:off x="731520" y="2770632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2</a:t>
            </a:r>
            <a:endParaRPr lang="en-US" sz="1400" dirty="0"/>
          </a:p>
        </p:txBody>
      </p:sp>
      <p:sp>
        <p:nvSpPr>
          <p:cNvPr id="13" name="text-24"/>
          <p:cNvSpPr txBox="1"/>
          <p:nvPr/>
        </p:nvSpPr>
        <p:spPr>
          <a:xfrm>
            <a:off x="1371600" y="271576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Less over-exposure, stable media cost</a:t>
            </a:r>
            <a:endParaRPr lang="en-US" sz="1500" dirty="0"/>
          </a:p>
        </p:txBody>
      </p:sp>
      <p:sp>
        <p:nvSpPr>
          <p:cNvPr id="14" name="text-25"/>
          <p:cNvSpPr txBox="1"/>
          <p:nvPr/>
        </p:nvSpPr>
        <p:spPr>
          <a:xfrm>
            <a:off x="1371600" y="2990088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Impressions per person fell from 21.4 to 16.6 over the quarter, while CPM held almost flat ($0.259 → $0.263).</a:t>
            </a:r>
            <a:endParaRPr lang="en-US" sz="1150" dirty="0"/>
          </a:p>
        </p:txBody>
      </p:sp>
      <p:sp>
        <p:nvSpPr>
          <p:cNvPr id="15" name="text-26"/>
          <p:cNvSpPr txBox="1"/>
          <p:nvPr/>
        </p:nvSpPr>
        <p:spPr>
          <a:xfrm>
            <a:off x="9464040" y="26974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−22%</a:t>
            </a:r>
            <a:endParaRPr lang="en-US" sz="2400" dirty="0"/>
          </a:p>
        </p:txBody>
      </p:sp>
      <p:sp>
        <p:nvSpPr>
          <p:cNvPr id="16" name="text-27"/>
          <p:cNvSpPr txBox="1"/>
          <p:nvPr/>
        </p:nvSpPr>
        <p:spPr>
          <a:xfrm>
            <a:off x="9281160" y="3099816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frequency</a:t>
            </a:r>
            <a:endParaRPr lang="en-US" sz="1000" dirty="0"/>
          </a:p>
        </p:txBody>
      </p:sp>
      <p:sp>
        <p:nvSpPr>
          <p:cNvPr id="17" name="card-28"/>
          <p:cNvSpPr/>
          <p:nvPr/>
        </p:nvSpPr>
        <p:spPr>
          <a:xfrm>
            <a:off x="548640" y="3493008"/>
            <a:ext cx="11091672" cy="749808"/>
          </a:xfrm>
          <a:prstGeom prst="roundRect">
            <a:avLst>
              <a:gd name="adj" fmla="val 14634"/>
            </a:avLst>
          </a:prstGeom>
          <a:solidFill>
            <a:schemeClr val="bg2"/>
          </a:solidFill>
          <a:ln/>
        </p:spPr>
      </p:sp>
      <p:sp>
        <p:nvSpPr>
          <p:cNvPr id="18" name="num-29"/>
          <p:cNvSpPr txBox="1"/>
          <p:nvPr/>
        </p:nvSpPr>
        <p:spPr>
          <a:xfrm>
            <a:off x="731520" y="3639312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9" name="text-30"/>
          <p:cNvSpPr txBox="1"/>
          <p:nvPr/>
        </p:nvSpPr>
        <p:spPr>
          <a:xfrm>
            <a:off x="1371600" y="358444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Clicks fell faster than budget</a:t>
            </a:r>
            <a:endParaRPr lang="en-US" sz="1500" dirty="0"/>
          </a:p>
        </p:txBody>
      </p:sp>
      <p:sp>
        <p:nvSpPr>
          <p:cNvPr id="20" name="text-31"/>
          <p:cNvSpPr txBox="1"/>
          <p:nvPr/>
        </p:nvSpPr>
        <p:spPr>
          <a:xfrm>
            <a:off x="1371600" y="3858768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Clicks −17% vs spend −10%: CTR 0.234% → 0.219%, CPC $0.111 → $0.120. 6 Q3 ads ($1.9K) recorded 0–1 clicks.</a:t>
            </a:r>
            <a:endParaRPr lang="en-US" sz="1150" dirty="0"/>
          </a:p>
        </p:txBody>
      </p:sp>
      <p:sp>
        <p:nvSpPr>
          <p:cNvPr id="21" name="text-32"/>
          <p:cNvSpPr txBox="1"/>
          <p:nvPr/>
        </p:nvSpPr>
        <p:spPr>
          <a:xfrm>
            <a:off x="9464040" y="356616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+9%</a:t>
            </a:r>
            <a:endParaRPr lang="en-US" sz="2400" dirty="0"/>
          </a:p>
        </p:txBody>
      </p:sp>
      <p:sp>
        <p:nvSpPr>
          <p:cNvPr id="22" name="text-33"/>
          <p:cNvSpPr txBox="1"/>
          <p:nvPr/>
        </p:nvSpPr>
        <p:spPr>
          <a:xfrm>
            <a:off x="9281160" y="3968496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CPC</a:t>
            </a:r>
            <a:endParaRPr lang="en-US" sz="1000" dirty="0"/>
          </a:p>
        </p:txBody>
      </p:sp>
      <p:sp>
        <p:nvSpPr>
          <p:cNvPr id="23" name="card-34"/>
          <p:cNvSpPr/>
          <p:nvPr/>
        </p:nvSpPr>
        <p:spPr>
          <a:xfrm>
            <a:off x="548640" y="4361688"/>
            <a:ext cx="11091672" cy="749808"/>
          </a:xfrm>
          <a:prstGeom prst="roundRect">
            <a:avLst>
              <a:gd name="adj" fmla="val 14634"/>
            </a:avLst>
          </a:prstGeom>
          <a:solidFill>
            <a:schemeClr val="bg2"/>
          </a:solidFill>
          <a:ln/>
        </p:spPr>
      </p:sp>
      <p:sp>
        <p:nvSpPr>
          <p:cNvPr id="24" name="num-35"/>
          <p:cNvSpPr txBox="1"/>
          <p:nvPr/>
        </p:nvSpPr>
        <p:spPr>
          <a:xfrm>
            <a:off x="731520" y="4507992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25" name="text-36"/>
          <p:cNvSpPr txBox="1"/>
          <p:nvPr/>
        </p:nvSpPr>
        <p:spPr>
          <a:xfrm>
            <a:off x="1371600" y="445312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Video views are the weakest area</a:t>
            </a:r>
            <a:endParaRPr lang="en-US" sz="1500" dirty="0"/>
          </a:p>
        </p:txBody>
      </p:sp>
      <p:sp>
        <p:nvSpPr>
          <p:cNvPr id="26" name="text-37"/>
          <p:cNvSpPr txBox="1"/>
          <p:nvPr/>
        </p:nvSpPr>
        <p:spPr>
          <a:xfrm>
            <a:off x="1371600" y="4727448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2-second views −30%; view rate 22.9% → 18.1%. The three largest Q3 Reach ads (26% of spend) ran at a 7.0% view rate.</a:t>
            </a:r>
            <a:endParaRPr lang="en-US" sz="1150" dirty="0"/>
          </a:p>
        </p:txBody>
      </p:sp>
      <p:sp>
        <p:nvSpPr>
          <p:cNvPr id="27" name="text-38"/>
          <p:cNvSpPr txBox="1"/>
          <p:nvPr/>
        </p:nvSpPr>
        <p:spPr>
          <a:xfrm>
            <a:off x="9464040" y="44348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+29%</a:t>
            </a:r>
            <a:endParaRPr lang="en-US" sz="2400" dirty="0"/>
          </a:p>
        </p:txBody>
      </p:sp>
      <p:sp>
        <p:nvSpPr>
          <p:cNvPr id="28" name="text-39"/>
          <p:cNvSpPr txBox="1"/>
          <p:nvPr/>
        </p:nvSpPr>
        <p:spPr>
          <a:xfrm>
            <a:off x="9281160" y="4837176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cost / 1,000 2-sec views</a:t>
            </a:r>
            <a:endParaRPr lang="en-US" sz="1000" dirty="0"/>
          </a:p>
        </p:txBody>
      </p:sp>
      <p:sp>
        <p:nvSpPr>
          <p:cNvPr id="29" name="card-40"/>
          <p:cNvSpPr/>
          <p:nvPr/>
        </p:nvSpPr>
        <p:spPr>
          <a:xfrm>
            <a:off x="548640" y="5230368"/>
            <a:ext cx="11091672" cy="749808"/>
          </a:xfrm>
          <a:prstGeom prst="roundRect">
            <a:avLst>
              <a:gd name="adj" fmla="val 14634"/>
            </a:avLst>
          </a:prstGeom>
          <a:solidFill>
            <a:schemeClr val="bg2"/>
          </a:solidFill>
          <a:ln/>
        </p:spPr>
      </p:sp>
      <p:sp>
        <p:nvSpPr>
          <p:cNvPr id="30" name="num-41"/>
          <p:cNvSpPr txBox="1"/>
          <p:nvPr/>
        </p:nvSpPr>
        <p:spPr>
          <a:xfrm>
            <a:off x="731520" y="5376672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5</a:t>
            </a:r>
            <a:endParaRPr lang="en-US" sz="1400" dirty="0"/>
          </a:p>
        </p:txBody>
      </p:sp>
      <p:sp>
        <p:nvSpPr>
          <p:cNvPr id="31" name="text-42"/>
          <p:cNvSpPr txBox="1"/>
          <p:nvPr/>
        </p:nvSpPr>
        <p:spPr>
          <a:xfrm>
            <a:off x="1371600" y="532180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New Video views campaigns are the most efficient video source</a:t>
            </a:r>
            <a:endParaRPr lang="en-US" sz="1500" dirty="0"/>
          </a:p>
        </p:txBody>
      </p:sp>
      <p:sp>
        <p:nvSpPr>
          <p:cNvPr id="32" name="text-43"/>
          <p:cNvSpPr txBox="1"/>
          <p:nvPr/>
        </p:nvSpPr>
        <p:spPr>
          <a:xfrm>
            <a:off x="1371600" y="5596128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$2.1K delivered 2.7M 2-sec views at $0.78 per 1,000 – about half the $1.62 of Q3 Reach campaigns – with a 41% view rate.</a:t>
            </a:r>
            <a:endParaRPr lang="en-US" sz="1150" dirty="0"/>
          </a:p>
        </p:txBody>
      </p:sp>
      <p:sp>
        <p:nvSpPr>
          <p:cNvPr id="33" name="text-44"/>
          <p:cNvSpPr txBox="1"/>
          <p:nvPr/>
        </p:nvSpPr>
        <p:spPr>
          <a:xfrm>
            <a:off x="9464040" y="53035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400" b="1" dirty="0">
                <a:solidFill>
                  <a:schemeClr val="accent4"/>
                </a:solidFill>
              </a:rPr>
              <a:t>41%</a:t>
            </a:r>
            <a:endParaRPr lang="en-US" sz="2400" dirty="0"/>
          </a:p>
        </p:txBody>
      </p:sp>
      <p:sp>
        <p:nvSpPr>
          <p:cNvPr id="34" name="text-45"/>
          <p:cNvSpPr txBox="1"/>
          <p:nvPr/>
        </p:nvSpPr>
        <p:spPr>
          <a:xfrm>
            <a:off x="9281160" y="5705856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view rate, Video views goal</a:t>
            </a:r>
            <a:endParaRPr lang="en-US" sz="1000" dirty="0"/>
          </a:p>
        </p:txBody>
      </p:sp>
      <p:sp>
        <p:nvSpPr>
          <p:cNvPr id="35" name="text-46"/>
          <p:cNvSpPr txBox="1"/>
          <p:nvPr/>
        </p:nvSpPr>
        <p:spPr>
          <a:xfrm>
            <a:off x="548640" y="6108192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00" dirty="0">
                <a:solidFill>
                  <a:schemeClr val="accent5"/>
                </a:solidFill>
              </a:rPr>
              <a:t>Source: TikTok Ads Manager ad-level exports – BEFORE 1 Apr–30 Jun 2026 (47 active ads), AFTER 1 Jul–30 Sep 2026 (51 active ads). Rates recalculated from totals (weighted), not averaged. Unique reach and frequency from the de-duplicated Total row of each export.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chemeClr val="accent1"/>
                </a:solidFill>
              </a:rPr>
              <a:t>BEFORE VS AFTER · KPI SNAPSHOT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94944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At a glance: −10% budget, +14% unique reach, −30% video views</a:t>
            </a:r>
            <a:endParaRPr lang="en-US" sz="2600" dirty="0"/>
          </a:p>
        </p:txBody>
      </p:sp>
      <p:sp>
        <p:nvSpPr>
          <p:cNvPr id="4" name="arch-motif-47"/>
          <p:cNvSpPr/>
          <p:nvPr/>
        </p:nvSpPr>
        <p:spPr>
          <a:xfrm>
            <a:off x="11137392" y="384048"/>
            <a:ext cx="512064" cy="512064"/>
          </a:xfrm>
          <a:prstGeom prst="blockArc">
            <a:avLst>
              <a:gd name="adj1" fmla="val 10800000"/>
              <a:gd name="adj2" fmla="val 0"/>
              <a:gd name="adj3" fmla="val 16000"/>
            </a:avLst>
          </a:prstGeom>
          <a:solidFill>
            <a:schemeClr val="accent2"/>
          </a:solidFill>
          <a:ln/>
        </p:spPr>
      </p:sp>
      <p:sp>
        <p:nvSpPr>
          <p:cNvPr id="5" name="card-48"/>
          <p:cNvSpPr/>
          <p:nvPr/>
        </p:nvSpPr>
        <p:spPr>
          <a:xfrm>
            <a:off x="548640" y="1719072"/>
            <a:ext cx="1709928" cy="1828800"/>
          </a:xfrm>
          <a:prstGeom prst="roundRect">
            <a:avLst>
              <a:gd name="adj" fmla="val 6417"/>
            </a:avLst>
          </a:prstGeom>
          <a:solidFill>
            <a:schemeClr val="bg2"/>
          </a:solidFill>
          <a:ln/>
        </p:spPr>
      </p:sp>
      <p:sp>
        <p:nvSpPr>
          <p:cNvPr id="6" name="text-49"/>
          <p:cNvSpPr txBox="1"/>
          <p:nvPr/>
        </p:nvSpPr>
        <p:spPr>
          <a:xfrm>
            <a:off x="704088" y="1883664"/>
            <a:ext cx="1435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50" kern="0" dirty="0">
                <a:solidFill>
                  <a:schemeClr val="accent5"/>
                </a:solidFill>
              </a:rPr>
              <a:t>AMOUNT SPENT</a:t>
            </a:r>
            <a:endParaRPr lang="en-US" sz="950" dirty="0"/>
          </a:p>
        </p:txBody>
      </p:sp>
      <p:sp>
        <p:nvSpPr>
          <p:cNvPr id="7" name="text-50"/>
          <p:cNvSpPr txBox="1"/>
          <p:nvPr/>
        </p:nvSpPr>
        <p:spPr>
          <a:xfrm>
            <a:off x="704088" y="2157984"/>
            <a:ext cx="1435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$24.6K</a:t>
            </a:r>
            <a:endParaRPr lang="en-US" sz="2400" dirty="0"/>
          </a:p>
        </p:txBody>
      </p:sp>
      <p:sp>
        <p:nvSpPr>
          <p:cNvPr id="8" name="text-51"/>
          <p:cNvSpPr txBox="1"/>
          <p:nvPr/>
        </p:nvSpPr>
        <p:spPr>
          <a:xfrm>
            <a:off x="704088" y="2615184"/>
            <a:ext cx="1435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accent5"/>
                </a:solidFill>
              </a:rPr>
              <a:t>AFTER (Jul–Sep)</a:t>
            </a:r>
            <a:endParaRPr lang="en-US" sz="900" dirty="0"/>
          </a:p>
        </p:txBody>
      </p:sp>
      <p:sp>
        <p:nvSpPr>
          <p:cNvPr id="9" name="text-52"/>
          <p:cNvSpPr txBox="1"/>
          <p:nvPr/>
        </p:nvSpPr>
        <p:spPr>
          <a:xfrm>
            <a:off x="704088" y="2834640"/>
            <a:ext cx="1435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Before: </a:t>
            </a:r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$27.3K</a:t>
            </a:r>
            <a:endParaRPr lang="en-US" sz="1100" dirty="0"/>
          </a:p>
        </p:txBody>
      </p:sp>
      <p:sp>
        <p:nvSpPr>
          <p:cNvPr id="10" name="badge-53"/>
          <p:cNvSpPr txBox="1"/>
          <p:nvPr/>
        </p:nvSpPr>
        <p:spPr>
          <a:xfrm>
            <a:off x="704088" y="3145536"/>
            <a:ext cx="914400" cy="292608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▼ 10%</a:t>
            </a:r>
            <a:endParaRPr lang="en-US" sz="1200" dirty="0"/>
          </a:p>
        </p:txBody>
      </p:sp>
      <p:sp>
        <p:nvSpPr>
          <p:cNvPr id="11" name="card-54"/>
          <p:cNvSpPr/>
          <p:nvPr/>
        </p:nvSpPr>
        <p:spPr>
          <a:xfrm>
            <a:off x="2423160" y="1719072"/>
            <a:ext cx="1709928" cy="1828800"/>
          </a:xfrm>
          <a:prstGeom prst="roundRect">
            <a:avLst>
              <a:gd name="adj" fmla="val 6417"/>
            </a:avLst>
          </a:prstGeom>
          <a:solidFill>
            <a:schemeClr val="bg2"/>
          </a:solidFill>
          <a:ln/>
        </p:spPr>
      </p:sp>
      <p:sp>
        <p:nvSpPr>
          <p:cNvPr id="12" name="text-55"/>
          <p:cNvSpPr txBox="1"/>
          <p:nvPr/>
        </p:nvSpPr>
        <p:spPr>
          <a:xfrm>
            <a:off x="2578608" y="1883664"/>
            <a:ext cx="1435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50" kern="0" dirty="0">
                <a:solidFill>
                  <a:schemeClr val="accent5"/>
                </a:solidFill>
              </a:rPr>
              <a:t>UNIQUE REACH*</a:t>
            </a:r>
            <a:endParaRPr lang="en-US" sz="950" dirty="0"/>
          </a:p>
        </p:txBody>
      </p:sp>
      <p:sp>
        <p:nvSpPr>
          <p:cNvPr id="13" name="text-56"/>
          <p:cNvSpPr txBox="1"/>
          <p:nvPr/>
        </p:nvSpPr>
        <p:spPr>
          <a:xfrm>
            <a:off x="2578608" y="2157984"/>
            <a:ext cx="1435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5.63M</a:t>
            </a:r>
            <a:endParaRPr lang="en-US" sz="2400" dirty="0"/>
          </a:p>
        </p:txBody>
      </p:sp>
      <p:sp>
        <p:nvSpPr>
          <p:cNvPr id="14" name="text-57"/>
          <p:cNvSpPr txBox="1"/>
          <p:nvPr/>
        </p:nvSpPr>
        <p:spPr>
          <a:xfrm>
            <a:off x="2578608" y="2615184"/>
            <a:ext cx="1435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accent5"/>
                </a:solidFill>
              </a:rPr>
              <a:t>AFTER (Jul–Sep)</a:t>
            </a:r>
            <a:endParaRPr lang="en-US" sz="900" dirty="0"/>
          </a:p>
        </p:txBody>
      </p:sp>
      <p:sp>
        <p:nvSpPr>
          <p:cNvPr id="15" name="text-58"/>
          <p:cNvSpPr txBox="1"/>
          <p:nvPr/>
        </p:nvSpPr>
        <p:spPr>
          <a:xfrm>
            <a:off x="2578608" y="2834640"/>
            <a:ext cx="1435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Before: </a:t>
            </a:r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4.93M</a:t>
            </a:r>
            <a:endParaRPr lang="en-US" sz="1100" dirty="0"/>
          </a:p>
        </p:txBody>
      </p:sp>
      <p:sp>
        <p:nvSpPr>
          <p:cNvPr id="16" name="badge-59"/>
          <p:cNvSpPr txBox="1"/>
          <p:nvPr/>
        </p:nvSpPr>
        <p:spPr>
          <a:xfrm>
            <a:off x="2578608" y="3145536"/>
            <a:ext cx="914400" cy="292608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▲ 14%</a:t>
            </a:r>
            <a:endParaRPr lang="en-US" sz="1200" dirty="0"/>
          </a:p>
        </p:txBody>
      </p:sp>
      <p:sp>
        <p:nvSpPr>
          <p:cNvPr id="17" name="card-60"/>
          <p:cNvSpPr/>
          <p:nvPr/>
        </p:nvSpPr>
        <p:spPr>
          <a:xfrm>
            <a:off x="4297680" y="1719072"/>
            <a:ext cx="1709928" cy="1828800"/>
          </a:xfrm>
          <a:prstGeom prst="roundRect">
            <a:avLst>
              <a:gd name="adj" fmla="val 6417"/>
            </a:avLst>
          </a:prstGeom>
          <a:solidFill>
            <a:schemeClr val="bg2"/>
          </a:solidFill>
          <a:ln/>
        </p:spPr>
      </p:sp>
      <p:sp>
        <p:nvSpPr>
          <p:cNvPr id="18" name="text-61"/>
          <p:cNvSpPr txBox="1"/>
          <p:nvPr/>
        </p:nvSpPr>
        <p:spPr>
          <a:xfrm>
            <a:off x="4453128" y="1883664"/>
            <a:ext cx="1435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50" kern="0" dirty="0">
                <a:solidFill>
                  <a:schemeClr val="accent5"/>
                </a:solidFill>
              </a:rPr>
              <a:t>COST / 1K REACHED*</a:t>
            </a:r>
            <a:endParaRPr lang="en-US" sz="950" dirty="0"/>
          </a:p>
        </p:txBody>
      </p:sp>
      <p:sp>
        <p:nvSpPr>
          <p:cNvPr id="19" name="text-62"/>
          <p:cNvSpPr txBox="1"/>
          <p:nvPr/>
        </p:nvSpPr>
        <p:spPr>
          <a:xfrm>
            <a:off x="4453128" y="2157984"/>
            <a:ext cx="1435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$4.36</a:t>
            </a:r>
            <a:endParaRPr lang="en-US" sz="2400" dirty="0"/>
          </a:p>
        </p:txBody>
      </p:sp>
      <p:sp>
        <p:nvSpPr>
          <p:cNvPr id="20" name="text-63"/>
          <p:cNvSpPr txBox="1"/>
          <p:nvPr/>
        </p:nvSpPr>
        <p:spPr>
          <a:xfrm>
            <a:off x="4453128" y="2615184"/>
            <a:ext cx="1435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accent5"/>
                </a:solidFill>
              </a:rPr>
              <a:t>AFTER (Jul–Sep)</a:t>
            </a:r>
            <a:endParaRPr lang="en-US" sz="900" dirty="0"/>
          </a:p>
        </p:txBody>
      </p:sp>
      <p:sp>
        <p:nvSpPr>
          <p:cNvPr id="21" name="text-64"/>
          <p:cNvSpPr txBox="1"/>
          <p:nvPr/>
        </p:nvSpPr>
        <p:spPr>
          <a:xfrm>
            <a:off x="4453128" y="2834640"/>
            <a:ext cx="1435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Before: </a:t>
            </a:r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$5.53</a:t>
            </a:r>
            <a:endParaRPr lang="en-US" sz="1100" dirty="0"/>
          </a:p>
        </p:txBody>
      </p:sp>
      <p:sp>
        <p:nvSpPr>
          <p:cNvPr id="22" name="badge-65"/>
          <p:cNvSpPr txBox="1"/>
          <p:nvPr/>
        </p:nvSpPr>
        <p:spPr>
          <a:xfrm>
            <a:off x="4453128" y="3145536"/>
            <a:ext cx="914400" cy="292608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▼ 21%</a:t>
            </a:r>
            <a:endParaRPr lang="en-US" sz="1200" dirty="0"/>
          </a:p>
        </p:txBody>
      </p:sp>
      <p:sp>
        <p:nvSpPr>
          <p:cNvPr id="23" name="card-66"/>
          <p:cNvSpPr/>
          <p:nvPr/>
        </p:nvSpPr>
        <p:spPr>
          <a:xfrm>
            <a:off x="6172200" y="1719072"/>
            <a:ext cx="1709928" cy="1828800"/>
          </a:xfrm>
          <a:prstGeom prst="roundRect">
            <a:avLst>
              <a:gd name="adj" fmla="val 6417"/>
            </a:avLst>
          </a:prstGeom>
          <a:solidFill>
            <a:schemeClr val="bg2"/>
          </a:solidFill>
          <a:ln/>
        </p:spPr>
      </p:sp>
      <p:sp>
        <p:nvSpPr>
          <p:cNvPr id="24" name="text-67"/>
          <p:cNvSpPr txBox="1"/>
          <p:nvPr/>
        </p:nvSpPr>
        <p:spPr>
          <a:xfrm>
            <a:off x="6327648" y="1883664"/>
            <a:ext cx="1435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50" kern="0" dirty="0">
                <a:solidFill>
                  <a:schemeClr val="accent5"/>
                </a:solidFill>
              </a:rPr>
              <a:t>FREQUENCY*</a:t>
            </a:r>
            <a:endParaRPr lang="en-US" sz="950" dirty="0"/>
          </a:p>
        </p:txBody>
      </p:sp>
      <p:sp>
        <p:nvSpPr>
          <p:cNvPr id="25" name="text-68"/>
          <p:cNvSpPr txBox="1"/>
          <p:nvPr/>
        </p:nvSpPr>
        <p:spPr>
          <a:xfrm>
            <a:off x="6327648" y="2157984"/>
            <a:ext cx="1435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16.6</a:t>
            </a:r>
            <a:endParaRPr lang="en-US" sz="2400" dirty="0"/>
          </a:p>
        </p:txBody>
      </p:sp>
      <p:sp>
        <p:nvSpPr>
          <p:cNvPr id="26" name="text-69"/>
          <p:cNvSpPr txBox="1"/>
          <p:nvPr/>
        </p:nvSpPr>
        <p:spPr>
          <a:xfrm>
            <a:off x="6327648" y="2615184"/>
            <a:ext cx="1435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accent5"/>
                </a:solidFill>
              </a:rPr>
              <a:t>AFTER (Jul–Sep)</a:t>
            </a:r>
            <a:endParaRPr lang="en-US" sz="900" dirty="0"/>
          </a:p>
        </p:txBody>
      </p:sp>
      <p:sp>
        <p:nvSpPr>
          <p:cNvPr id="27" name="text-70"/>
          <p:cNvSpPr txBox="1"/>
          <p:nvPr/>
        </p:nvSpPr>
        <p:spPr>
          <a:xfrm>
            <a:off x="6327648" y="2834640"/>
            <a:ext cx="1435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Before: </a:t>
            </a:r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21.4</a:t>
            </a:r>
            <a:endParaRPr lang="en-US" sz="1100" dirty="0"/>
          </a:p>
        </p:txBody>
      </p:sp>
      <p:sp>
        <p:nvSpPr>
          <p:cNvPr id="28" name="badge-71"/>
          <p:cNvSpPr txBox="1"/>
          <p:nvPr/>
        </p:nvSpPr>
        <p:spPr>
          <a:xfrm>
            <a:off x="6327648" y="3145536"/>
            <a:ext cx="914400" cy="292608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▼ 22%</a:t>
            </a:r>
            <a:endParaRPr lang="en-US" sz="1200" dirty="0"/>
          </a:p>
        </p:txBody>
      </p:sp>
      <p:sp>
        <p:nvSpPr>
          <p:cNvPr id="29" name="card-72"/>
          <p:cNvSpPr/>
          <p:nvPr/>
        </p:nvSpPr>
        <p:spPr>
          <a:xfrm>
            <a:off x="8046720" y="1719072"/>
            <a:ext cx="1709928" cy="1828800"/>
          </a:xfrm>
          <a:prstGeom prst="roundRect">
            <a:avLst>
              <a:gd name="adj" fmla="val 6417"/>
            </a:avLst>
          </a:prstGeom>
          <a:solidFill>
            <a:schemeClr val="bg2"/>
          </a:solidFill>
          <a:ln/>
        </p:spPr>
      </p:sp>
      <p:sp>
        <p:nvSpPr>
          <p:cNvPr id="30" name="text-73"/>
          <p:cNvSpPr txBox="1"/>
          <p:nvPr/>
        </p:nvSpPr>
        <p:spPr>
          <a:xfrm>
            <a:off x="8202168" y="1883664"/>
            <a:ext cx="1435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50" kern="0" dirty="0">
                <a:solidFill>
                  <a:schemeClr val="accent5"/>
                </a:solidFill>
              </a:rPr>
              <a:t>IMPRESSIONS</a:t>
            </a:r>
            <a:endParaRPr lang="en-US" sz="950" dirty="0"/>
          </a:p>
        </p:txBody>
      </p:sp>
      <p:sp>
        <p:nvSpPr>
          <p:cNvPr id="31" name="text-74"/>
          <p:cNvSpPr txBox="1"/>
          <p:nvPr/>
        </p:nvSpPr>
        <p:spPr>
          <a:xfrm>
            <a:off x="8202168" y="2157984"/>
            <a:ext cx="1435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93.4M</a:t>
            </a:r>
            <a:endParaRPr lang="en-US" sz="2400" dirty="0"/>
          </a:p>
        </p:txBody>
      </p:sp>
      <p:sp>
        <p:nvSpPr>
          <p:cNvPr id="32" name="text-75"/>
          <p:cNvSpPr txBox="1"/>
          <p:nvPr/>
        </p:nvSpPr>
        <p:spPr>
          <a:xfrm>
            <a:off x="8202168" y="2615184"/>
            <a:ext cx="1435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accent5"/>
                </a:solidFill>
              </a:rPr>
              <a:t>AFTER (Jul–Sep)</a:t>
            </a:r>
            <a:endParaRPr lang="en-US" sz="900" dirty="0"/>
          </a:p>
        </p:txBody>
      </p:sp>
      <p:sp>
        <p:nvSpPr>
          <p:cNvPr id="33" name="text-76"/>
          <p:cNvSpPr txBox="1"/>
          <p:nvPr/>
        </p:nvSpPr>
        <p:spPr>
          <a:xfrm>
            <a:off x="8202168" y="2834640"/>
            <a:ext cx="1435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Before: </a:t>
            </a:r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105.4M</a:t>
            </a:r>
            <a:endParaRPr lang="en-US" sz="1100" dirty="0"/>
          </a:p>
        </p:txBody>
      </p:sp>
      <p:sp>
        <p:nvSpPr>
          <p:cNvPr id="34" name="badge-77"/>
          <p:cNvSpPr txBox="1"/>
          <p:nvPr/>
        </p:nvSpPr>
        <p:spPr>
          <a:xfrm>
            <a:off x="8202168" y="3145536"/>
            <a:ext cx="914400" cy="29260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▼ 11%</a:t>
            </a:r>
            <a:endParaRPr lang="en-US" sz="1200" dirty="0"/>
          </a:p>
        </p:txBody>
      </p:sp>
      <p:sp>
        <p:nvSpPr>
          <p:cNvPr id="35" name="card-78"/>
          <p:cNvSpPr/>
          <p:nvPr/>
        </p:nvSpPr>
        <p:spPr>
          <a:xfrm>
            <a:off x="9921240" y="1719072"/>
            <a:ext cx="1709928" cy="1828800"/>
          </a:xfrm>
          <a:prstGeom prst="roundRect">
            <a:avLst>
              <a:gd name="adj" fmla="val 6417"/>
            </a:avLst>
          </a:prstGeom>
          <a:solidFill>
            <a:schemeClr val="bg2"/>
          </a:solidFill>
          <a:ln/>
        </p:spPr>
      </p:sp>
      <p:sp>
        <p:nvSpPr>
          <p:cNvPr id="36" name="text-79"/>
          <p:cNvSpPr txBox="1"/>
          <p:nvPr/>
        </p:nvSpPr>
        <p:spPr>
          <a:xfrm>
            <a:off x="10076688" y="1883664"/>
            <a:ext cx="1435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50" kern="0" dirty="0">
                <a:solidFill>
                  <a:schemeClr val="accent5"/>
                </a:solidFill>
              </a:rPr>
              <a:t>CPM</a:t>
            </a:r>
            <a:endParaRPr lang="en-US" sz="950" dirty="0"/>
          </a:p>
        </p:txBody>
      </p:sp>
      <p:sp>
        <p:nvSpPr>
          <p:cNvPr id="37" name="text-80"/>
          <p:cNvSpPr txBox="1"/>
          <p:nvPr/>
        </p:nvSpPr>
        <p:spPr>
          <a:xfrm>
            <a:off x="10076688" y="2157984"/>
            <a:ext cx="1435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$0.263</a:t>
            </a:r>
            <a:endParaRPr lang="en-US" sz="2400" dirty="0"/>
          </a:p>
        </p:txBody>
      </p:sp>
      <p:sp>
        <p:nvSpPr>
          <p:cNvPr id="38" name="text-81"/>
          <p:cNvSpPr txBox="1"/>
          <p:nvPr/>
        </p:nvSpPr>
        <p:spPr>
          <a:xfrm>
            <a:off x="10076688" y="2615184"/>
            <a:ext cx="1435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accent5"/>
                </a:solidFill>
              </a:rPr>
              <a:t>AFTER (Jul–Sep)</a:t>
            </a:r>
            <a:endParaRPr lang="en-US" sz="900" dirty="0"/>
          </a:p>
        </p:txBody>
      </p:sp>
      <p:sp>
        <p:nvSpPr>
          <p:cNvPr id="39" name="text-82"/>
          <p:cNvSpPr txBox="1"/>
          <p:nvPr/>
        </p:nvSpPr>
        <p:spPr>
          <a:xfrm>
            <a:off x="10076688" y="2834640"/>
            <a:ext cx="1435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Before: </a:t>
            </a:r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$0.259</a:t>
            </a:r>
            <a:endParaRPr lang="en-US" sz="1100" dirty="0"/>
          </a:p>
        </p:txBody>
      </p:sp>
      <p:sp>
        <p:nvSpPr>
          <p:cNvPr id="40" name="badge-83"/>
          <p:cNvSpPr txBox="1"/>
          <p:nvPr/>
        </p:nvSpPr>
        <p:spPr>
          <a:xfrm>
            <a:off x="10076688" y="3145536"/>
            <a:ext cx="914400" cy="29260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▲ 2%</a:t>
            </a:r>
            <a:endParaRPr lang="en-US" sz="1200" dirty="0"/>
          </a:p>
        </p:txBody>
      </p:sp>
      <p:sp>
        <p:nvSpPr>
          <p:cNvPr id="41" name="card-84"/>
          <p:cNvSpPr/>
          <p:nvPr/>
        </p:nvSpPr>
        <p:spPr>
          <a:xfrm>
            <a:off x="548640" y="3730752"/>
            <a:ext cx="1709928" cy="1828800"/>
          </a:xfrm>
          <a:prstGeom prst="roundRect">
            <a:avLst>
              <a:gd name="adj" fmla="val 6417"/>
            </a:avLst>
          </a:prstGeom>
          <a:solidFill>
            <a:schemeClr val="bg2"/>
          </a:solidFill>
          <a:ln/>
        </p:spPr>
      </p:sp>
      <p:sp>
        <p:nvSpPr>
          <p:cNvPr id="42" name="text-85"/>
          <p:cNvSpPr txBox="1"/>
          <p:nvPr/>
        </p:nvSpPr>
        <p:spPr>
          <a:xfrm>
            <a:off x="704088" y="3895344"/>
            <a:ext cx="1435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50" kern="0" dirty="0">
                <a:solidFill>
                  <a:schemeClr val="accent5"/>
                </a:solidFill>
              </a:rPr>
              <a:t>CLICKS</a:t>
            </a:r>
            <a:endParaRPr lang="en-US" sz="950" dirty="0"/>
          </a:p>
        </p:txBody>
      </p:sp>
      <p:sp>
        <p:nvSpPr>
          <p:cNvPr id="43" name="text-86"/>
          <p:cNvSpPr txBox="1"/>
          <p:nvPr/>
        </p:nvSpPr>
        <p:spPr>
          <a:xfrm>
            <a:off x="704088" y="4169664"/>
            <a:ext cx="1435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204.4K</a:t>
            </a:r>
            <a:endParaRPr lang="en-US" sz="2400" dirty="0"/>
          </a:p>
        </p:txBody>
      </p:sp>
      <p:sp>
        <p:nvSpPr>
          <p:cNvPr id="44" name="text-87"/>
          <p:cNvSpPr txBox="1"/>
          <p:nvPr/>
        </p:nvSpPr>
        <p:spPr>
          <a:xfrm>
            <a:off x="704088" y="4626864"/>
            <a:ext cx="1435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accent5"/>
                </a:solidFill>
              </a:rPr>
              <a:t>AFTER (Jul–Sep)</a:t>
            </a:r>
            <a:endParaRPr lang="en-US" sz="900" dirty="0"/>
          </a:p>
        </p:txBody>
      </p:sp>
      <p:sp>
        <p:nvSpPr>
          <p:cNvPr id="45" name="text-88"/>
          <p:cNvSpPr txBox="1"/>
          <p:nvPr/>
        </p:nvSpPr>
        <p:spPr>
          <a:xfrm>
            <a:off x="704088" y="4846320"/>
            <a:ext cx="1435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Before: </a:t>
            </a:r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246.5K</a:t>
            </a:r>
            <a:endParaRPr lang="en-US" sz="1100" dirty="0"/>
          </a:p>
        </p:txBody>
      </p:sp>
      <p:sp>
        <p:nvSpPr>
          <p:cNvPr id="46" name="badge-89"/>
          <p:cNvSpPr txBox="1"/>
          <p:nvPr/>
        </p:nvSpPr>
        <p:spPr>
          <a:xfrm>
            <a:off x="704088" y="5157216"/>
            <a:ext cx="914400" cy="29260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▼ 17%</a:t>
            </a:r>
            <a:endParaRPr lang="en-US" sz="1200" dirty="0"/>
          </a:p>
        </p:txBody>
      </p:sp>
      <p:sp>
        <p:nvSpPr>
          <p:cNvPr id="47" name="card-90"/>
          <p:cNvSpPr/>
          <p:nvPr/>
        </p:nvSpPr>
        <p:spPr>
          <a:xfrm>
            <a:off x="2423160" y="3730752"/>
            <a:ext cx="1709928" cy="1828800"/>
          </a:xfrm>
          <a:prstGeom prst="roundRect">
            <a:avLst>
              <a:gd name="adj" fmla="val 6417"/>
            </a:avLst>
          </a:prstGeom>
          <a:solidFill>
            <a:schemeClr val="bg2"/>
          </a:solidFill>
          <a:ln/>
        </p:spPr>
      </p:sp>
      <p:sp>
        <p:nvSpPr>
          <p:cNvPr id="48" name="text-91"/>
          <p:cNvSpPr txBox="1"/>
          <p:nvPr/>
        </p:nvSpPr>
        <p:spPr>
          <a:xfrm>
            <a:off x="2578608" y="3895344"/>
            <a:ext cx="1435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50" kern="0" dirty="0">
                <a:solidFill>
                  <a:schemeClr val="accent5"/>
                </a:solidFill>
              </a:rPr>
              <a:t>CTR</a:t>
            </a:r>
            <a:endParaRPr lang="en-US" sz="950" dirty="0"/>
          </a:p>
        </p:txBody>
      </p:sp>
      <p:sp>
        <p:nvSpPr>
          <p:cNvPr id="49" name="text-92"/>
          <p:cNvSpPr txBox="1"/>
          <p:nvPr/>
        </p:nvSpPr>
        <p:spPr>
          <a:xfrm>
            <a:off x="2578608" y="4169664"/>
            <a:ext cx="1435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0.219%</a:t>
            </a:r>
            <a:endParaRPr lang="en-US" sz="2400" dirty="0"/>
          </a:p>
        </p:txBody>
      </p:sp>
      <p:sp>
        <p:nvSpPr>
          <p:cNvPr id="50" name="text-93"/>
          <p:cNvSpPr txBox="1"/>
          <p:nvPr/>
        </p:nvSpPr>
        <p:spPr>
          <a:xfrm>
            <a:off x="2578608" y="4626864"/>
            <a:ext cx="1435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accent5"/>
                </a:solidFill>
              </a:rPr>
              <a:t>AFTER (Jul–Sep)</a:t>
            </a:r>
            <a:endParaRPr lang="en-US" sz="900" dirty="0"/>
          </a:p>
        </p:txBody>
      </p:sp>
      <p:sp>
        <p:nvSpPr>
          <p:cNvPr id="51" name="text-94"/>
          <p:cNvSpPr txBox="1"/>
          <p:nvPr/>
        </p:nvSpPr>
        <p:spPr>
          <a:xfrm>
            <a:off x="2578608" y="4846320"/>
            <a:ext cx="1435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Before: </a:t>
            </a:r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0.234%</a:t>
            </a:r>
            <a:endParaRPr lang="en-US" sz="1100" dirty="0"/>
          </a:p>
        </p:txBody>
      </p:sp>
      <p:sp>
        <p:nvSpPr>
          <p:cNvPr id="52" name="badge-95"/>
          <p:cNvSpPr txBox="1"/>
          <p:nvPr/>
        </p:nvSpPr>
        <p:spPr>
          <a:xfrm>
            <a:off x="2578608" y="5157216"/>
            <a:ext cx="914400" cy="29260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▼ 7%</a:t>
            </a:r>
            <a:endParaRPr lang="en-US" sz="1200" dirty="0"/>
          </a:p>
        </p:txBody>
      </p:sp>
      <p:sp>
        <p:nvSpPr>
          <p:cNvPr id="53" name="card-96"/>
          <p:cNvSpPr/>
          <p:nvPr/>
        </p:nvSpPr>
        <p:spPr>
          <a:xfrm>
            <a:off x="4297680" y="3730752"/>
            <a:ext cx="1709928" cy="1828800"/>
          </a:xfrm>
          <a:prstGeom prst="roundRect">
            <a:avLst>
              <a:gd name="adj" fmla="val 6417"/>
            </a:avLst>
          </a:prstGeom>
          <a:solidFill>
            <a:schemeClr val="bg2"/>
          </a:solidFill>
          <a:ln/>
        </p:spPr>
      </p:sp>
      <p:sp>
        <p:nvSpPr>
          <p:cNvPr id="54" name="text-97"/>
          <p:cNvSpPr txBox="1"/>
          <p:nvPr/>
        </p:nvSpPr>
        <p:spPr>
          <a:xfrm>
            <a:off x="4453128" y="3895344"/>
            <a:ext cx="1435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50" kern="0" dirty="0">
                <a:solidFill>
                  <a:schemeClr val="accent5"/>
                </a:solidFill>
              </a:rPr>
              <a:t>CPC</a:t>
            </a:r>
            <a:endParaRPr lang="en-US" sz="950" dirty="0"/>
          </a:p>
        </p:txBody>
      </p:sp>
      <p:sp>
        <p:nvSpPr>
          <p:cNvPr id="55" name="text-98"/>
          <p:cNvSpPr txBox="1"/>
          <p:nvPr/>
        </p:nvSpPr>
        <p:spPr>
          <a:xfrm>
            <a:off x="4453128" y="4169664"/>
            <a:ext cx="1435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$0.120</a:t>
            </a:r>
            <a:endParaRPr lang="en-US" sz="2400" dirty="0"/>
          </a:p>
        </p:txBody>
      </p:sp>
      <p:sp>
        <p:nvSpPr>
          <p:cNvPr id="56" name="text-99"/>
          <p:cNvSpPr txBox="1"/>
          <p:nvPr/>
        </p:nvSpPr>
        <p:spPr>
          <a:xfrm>
            <a:off x="4453128" y="4626864"/>
            <a:ext cx="1435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accent5"/>
                </a:solidFill>
              </a:rPr>
              <a:t>AFTER (Jul–Sep)</a:t>
            </a:r>
            <a:endParaRPr lang="en-US" sz="900" dirty="0"/>
          </a:p>
        </p:txBody>
      </p:sp>
      <p:sp>
        <p:nvSpPr>
          <p:cNvPr id="57" name="text-100"/>
          <p:cNvSpPr txBox="1"/>
          <p:nvPr/>
        </p:nvSpPr>
        <p:spPr>
          <a:xfrm>
            <a:off x="4453128" y="4846320"/>
            <a:ext cx="1435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Before: </a:t>
            </a:r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$0.111</a:t>
            </a:r>
            <a:endParaRPr lang="en-US" sz="1100" dirty="0"/>
          </a:p>
        </p:txBody>
      </p:sp>
      <p:sp>
        <p:nvSpPr>
          <p:cNvPr id="58" name="badge-101"/>
          <p:cNvSpPr txBox="1"/>
          <p:nvPr/>
        </p:nvSpPr>
        <p:spPr>
          <a:xfrm>
            <a:off x="4453128" y="5157216"/>
            <a:ext cx="914400" cy="29260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▲ 9%</a:t>
            </a:r>
            <a:endParaRPr lang="en-US" sz="1200" dirty="0"/>
          </a:p>
        </p:txBody>
      </p:sp>
      <p:sp>
        <p:nvSpPr>
          <p:cNvPr id="59" name="card-102"/>
          <p:cNvSpPr/>
          <p:nvPr/>
        </p:nvSpPr>
        <p:spPr>
          <a:xfrm>
            <a:off x="6172200" y="3730752"/>
            <a:ext cx="1709928" cy="1828800"/>
          </a:xfrm>
          <a:prstGeom prst="roundRect">
            <a:avLst>
              <a:gd name="adj" fmla="val 6417"/>
            </a:avLst>
          </a:prstGeom>
          <a:solidFill>
            <a:schemeClr val="bg2"/>
          </a:solidFill>
          <a:ln/>
        </p:spPr>
      </p:sp>
      <p:sp>
        <p:nvSpPr>
          <p:cNvPr id="60" name="text-103"/>
          <p:cNvSpPr txBox="1"/>
          <p:nvPr/>
        </p:nvSpPr>
        <p:spPr>
          <a:xfrm>
            <a:off x="6327648" y="3895344"/>
            <a:ext cx="1435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50" kern="0" dirty="0">
                <a:solidFill>
                  <a:schemeClr val="accent5"/>
                </a:solidFill>
              </a:rPr>
              <a:t>2-SEC VIDEO VIEWS</a:t>
            </a:r>
            <a:endParaRPr lang="en-US" sz="950" dirty="0"/>
          </a:p>
        </p:txBody>
      </p:sp>
      <p:sp>
        <p:nvSpPr>
          <p:cNvPr id="61" name="text-104"/>
          <p:cNvSpPr txBox="1"/>
          <p:nvPr/>
        </p:nvSpPr>
        <p:spPr>
          <a:xfrm>
            <a:off x="6327648" y="4169664"/>
            <a:ext cx="1435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16.9M</a:t>
            </a:r>
            <a:endParaRPr lang="en-US" sz="2400" dirty="0"/>
          </a:p>
        </p:txBody>
      </p:sp>
      <p:sp>
        <p:nvSpPr>
          <p:cNvPr id="62" name="text-105"/>
          <p:cNvSpPr txBox="1"/>
          <p:nvPr/>
        </p:nvSpPr>
        <p:spPr>
          <a:xfrm>
            <a:off x="6327648" y="4626864"/>
            <a:ext cx="1435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accent5"/>
                </a:solidFill>
              </a:rPr>
              <a:t>AFTER (Jul–Sep)</a:t>
            </a:r>
            <a:endParaRPr lang="en-US" sz="900" dirty="0"/>
          </a:p>
        </p:txBody>
      </p:sp>
      <p:sp>
        <p:nvSpPr>
          <p:cNvPr id="63" name="text-106"/>
          <p:cNvSpPr txBox="1"/>
          <p:nvPr/>
        </p:nvSpPr>
        <p:spPr>
          <a:xfrm>
            <a:off x="6327648" y="4846320"/>
            <a:ext cx="1435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Before: </a:t>
            </a:r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24.1M</a:t>
            </a:r>
            <a:endParaRPr lang="en-US" sz="1100" dirty="0"/>
          </a:p>
        </p:txBody>
      </p:sp>
      <p:sp>
        <p:nvSpPr>
          <p:cNvPr id="64" name="badge-107"/>
          <p:cNvSpPr txBox="1"/>
          <p:nvPr/>
        </p:nvSpPr>
        <p:spPr>
          <a:xfrm>
            <a:off x="6327648" y="5157216"/>
            <a:ext cx="914400" cy="29260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▼ 30%</a:t>
            </a:r>
            <a:endParaRPr lang="en-US" sz="1200" dirty="0"/>
          </a:p>
        </p:txBody>
      </p:sp>
      <p:sp>
        <p:nvSpPr>
          <p:cNvPr id="65" name="card-108"/>
          <p:cNvSpPr/>
          <p:nvPr/>
        </p:nvSpPr>
        <p:spPr>
          <a:xfrm>
            <a:off x="8046720" y="3730752"/>
            <a:ext cx="1709928" cy="1828800"/>
          </a:xfrm>
          <a:prstGeom prst="roundRect">
            <a:avLst>
              <a:gd name="adj" fmla="val 6417"/>
            </a:avLst>
          </a:prstGeom>
          <a:solidFill>
            <a:schemeClr val="bg2"/>
          </a:solidFill>
          <a:ln/>
        </p:spPr>
      </p:sp>
      <p:sp>
        <p:nvSpPr>
          <p:cNvPr id="66" name="text-109"/>
          <p:cNvSpPr txBox="1"/>
          <p:nvPr/>
        </p:nvSpPr>
        <p:spPr>
          <a:xfrm>
            <a:off x="8202168" y="3895344"/>
            <a:ext cx="1435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50" kern="0" dirty="0">
                <a:solidFill>
                  <a:schemeClr val="accent5"/>
                </a:solidFill>
              </a:rPr>
              <a:t>2-SEC VIEW RATE</a:t>
            </a:r>
            <a:endParaRPr lang="en-US" sz="950" dirty="0"/>
          </a:p>
        </p:txBody>
      </p:sp>
      <p:sp>
        <p:nvSpPr>
          <p:cNvPr id="67" name="text-110"/>
          <p:cNvSpPr txBox="1"/>
          <p:nvPr/>
        </p:nvSpPr>
        <p:spPr>
          <a:xfrm>
            <a:off x="8202168" y="4169664"/>
            <a:ext cx="1435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18.1%</a:t>
            </a:r>
            <a:endParaRPr lang="en-US" sz="2400" dirty="0"/>
          </a:p>
        </p:txBody>
      </p:sp>
      <p:sp>
        <p:nvSpPr>
          <p:cNvPr id="68" name="text-111"/>
          <p:cNvSpPr txBox="1"/>
          <p:nvPr/>
        </p:nvSpPr>
        <p:spPr>
          <a:xfrm>
            <a:off x="8202168" y="4626864"/>
            <a:ext cx="1435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accent5"/>
                </a:solidFill>
              </a:rPr>
              <a:t>AFTER (Jul–Sep)</a:t>
            </a:r>
            <a:endParaRPr lang="en-US" sz="900" dirty="0"/>
          </a:p>
        </p:txBody>
      </p:sp>
      <p:sp>
        <p:nvSpPr>
          <p:cNvPr id="69" name="text-112"/>
          <p:cNvSpPr txBox="1"/>
          <p:nvPr/>
        </p:nvSpPr>
        <p:spPr>
          <a:xfrm>
            <a:off x="8202168" y="4846320"/>
            <a:ext cx="1435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Before: </a:t>
            </a:r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22.9%</a:t>
            </a:r>
            <a:endParaRPr lang="en-US" sz="1100" dirty="0"/>
          </a:p>
        </p:txBody>
      </p:sp>
      <p:sp>
        <p:nvSpPr>
          <p:cNvPr id="70" name="badge-113"/>
          <p:cNvSpPr txBox="1"/>
          <p:nvPr/>
        </p:nvSpPr>
        <p:spPr>
          <a:xfrm>
            <a:off x="8202168" y="5157216"/>
            <a:ext cx="914400" cy="29260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▼ 21%</a:t>
            </a:r>
            <a:endParaRPr lang="en-US" sz="1200" dirty="0"/>
          </a:p>
        </p:txBody>
      </p:sp>
      <p:sp>
        <p:nvSpPr>
          <p:cNvPr id="71" name="card-114"/>
          <p:cNvSpPr/>
          <p:nvPr/>
        </p:nvSpPr>
        <p:spPr>
          <a:xfrm>
            <a:off x="9921240" y="3730752"/>
            <a:ext cx="1709928" cy="1828800"/>
          </a:xfrm>
          <a:prstGeom prst="roundRect">
            <a:avLst>
              <a:gd name="adj" fmla="val 6417"/>
            </a:avLst>
          </a:prstGeom>
          <a:solidFill>
            <a:schemeClr val="bg2"/>
          </a:solidFill>
          <a:ln/>
        </p:spPr>
      </p:sp>
      <p:sp>
        <p:nvSpPr>
          <p:cNvPr id="72" name="text-115"/>
          <p:cNvSpPr txBox="1"/>
          <p:nvPr/>
        </p:nvSpPr>
        <p:spPr>
          <a:xfrm>
            <a:off x="10076688" y="3895344"/>
            <a:ext cx="1435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50" kern="0" dirty="0">
                <a:solidFill>
                  <a:schemeClr val="accent5"/>
                </a:solidFill>
              </a:rPr>
              <a:t>COST / 1K VIEWS</a:t>
            </a:r>
            <a:endParaRPr lang="en-US" sz="950" dirty="0"/>
          </a:p>
        </p:txBody>
      </p:sp>
      <p:sp>
        <p:nvSpPr>
          <p:cNvPr id="73" name="text-116"/>
          <p:cNvSpPr txBox="1"/>
          <p:nvPr/>
        </p:nvSpPr>
        <p:spPr>
          <a:xfrm>
            <a:off x="10076688" y="4169664"/>
            <a:ext cx="1435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$1.45</a:t>
            </a:r>
            <a:endParaRPr lang="en-US" sz="2400" dirty="0"/>
          </a:p>
        </p:txBody>
      </p:sp>
      <p:sp>
        <p:nvSpPr>
          <p:cNvPr id="74" name="text-117"/>
          <p:cNvSpPr txBox="1"/>
          <p:nvPr/>
        </p:nvSpPr>
        <p:spPr>
          <a:xfrm>
            <a:off x="10076688" y="4626864"/>
            <a:ext cx="1435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accent5"/>
                </a:solidFill>
              </a:rPr>
              <a:t>AFTER (Jul–Sep)</a:t>
            </a:r>
            <a:endParaRPr lang="en-US" sz="900" dirty="0"/>
          </a:p>
        </p:txBody>
      </p:sp>
      <p:sp>
        <p:nvSpPr>
          <p:cNvPr id="75" name="text-118"/>
          <p:cNvSpPr txBox="1"/>
          <p:nvPr/>
        </p:nvSpPr>
        <p:spPr>
          <a:xfrm>
            <a:off x="10076688" y="4846320"/>
            <a:ext cx="1435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Before: </a:t>
            </a:r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$1.13</a:t>
            </a:r>
            <a:endParaRPr lang="en-US" sz="1100" dirty="0"/>
          </a:p>
        </p:txBody>
      </p:sp>
      <p:sp>
        <p:nvSpPr>
          <p:cNvPr id="76" name="badge-119"/>
          <p:cNvSpPr txBox="1"/>
          <p:nvPr/>
        </p:nvSpPr>
        <p:spPr>
          <a:xfrm>
            <a:off x="10076688" y="5157216"/>
            <a:ext cx="914400" cy="29260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▲ 29%</a:t>
            </a:r>
            <a:endParaRPr lang="en-US" sz="1200" dirty="0"/>
          </a:p>
        </p:txBody>
      </p:sp>
      <p:sp>
        <p:nvSpPr>
          <p:cNvPr id="77" name="text-120"/>
          <p:cNvSpPr txBox="1"/>
          <p:nvPr/>
        </p:nvSpPr>
        <p:spPr>
          <a:xfrm>
            <a:off x="548640" y="56692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accent5"/>
                </a:solidFill>
              </a:rPr>
              <a:t>Green = improvement, red = decline, grey = context (budget, frequency).  </a:t>
            </a:r>
            <a:pPr indent="0" marL="0">
              <a:buNone/>
            </a:pPr>
            <a:r>
              <a:rPr lang="en-US" sz="950" dirty="0">
                <a:solidFill>
                  <a:schemeClr val="accent5"/>
                </a:solidFill>
              </a:rPr>
              <a:t>*Unique reach, frequency and cost per 1,000 reached use the de-duplicated account totals TikTok reports in each export's Total row.</a:t>
            </a:r>
            <a:endParaRPr lang="en-US" sz="950" dirty="0"/>
          </a:p>
        </p:txBody>
      </p:sp>
      <p:sp>
        <p:nvSpPr>
          <p:cNvPr id="78" name="text-121"/>
          <p:cNvSpPr txBox="1"/>
          <p:nvPr/>
        </p:nvSpPr>
        <p:spPr>
          <a:xfrm>
            <a:off x="548640" y="6108192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00" dirty="0">
                <a:solidFill>
                  <a:schemeClr val="accent5"/>
                </a:solidFill>
              </a:rPr>
              <a:t>Source: TikTok Ads Manager ad-level exports – BEFORE 1 Apr–30 Jun 2026 (47 active ads), AFTER 1 Jul–30 Sep 2026 (51 active ads). Rates recalculated from totals (weighted), not averaged.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chemeClr val="accent1"/>
                </a:solidFill>
              </a:rPr>
              <a:t>TRANSITION · 1 JULY 2026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94944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The account moved from monthly Reach buckets to product-led campaigns with audience-named ad groups</a:t>
            </a:r>
            <a:endParaRPr lang="en-US" sz="2600" dirty="0"/>
          </a:p>
        </p:txBody>
      </p:sp>
      <p:sp>
        <p:nvSpPr>
          <p:cNvPr id="4" name="arch-motif-122"/>
          <p:cNvSpPr/>
          <p:nvPr/>
        </p:nvSpPr>
        <p:spPr>
          <a:xfrm>
            <a:off x="11137392" y="384048"/>
            <a:ext cx="512064" cy="512064"/>
          </a:xfrm>
          <a:prstGeom prst="blockArc">
            <a:avLst>
              <a:gd name="adj1" fmla="val 10800000"/>
              <a:gd name="adj2" fmla="val 0"/>
              <a:gd name="adj3" fmla="val 16000"/>
            </a:avLst>
          </a:prstGeom>
          <a:solidFill>
            <a:schemeClr val="accent2"/>
          </a:solidFill>
          <a:ln/>
        </p:spPr>
      </p:sp>
      <p:sp>
        <p:nvSpPr>
          <p:cNvPr id="5" name="text-123"/>
          <p:cNvSpPr txBox="1"/>
          <p:nvPr/>
        </p:nvSpPr>
        <p:spPr>
          <a:xfrm>
            <a:off x="548640" y="173736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Share of spend by campaign objective</a:t>
            </a:r>
            <a:endParaRPr lang="en-US" sz="1300" dirty="0"/>
          </a:p>
        </p:txBody>
      </p:sp>
      <p:graphicFrame>
        <p:nvGraphicFramePr>
          <p:cNvPr id="6" name="chart-mix-124" descr=""/>
          <p:cNvGraphicFramePr/>
          <p:nvPr/>
        </p:nvGraphicFramePr>
        <p:xfrm>
          <a:off x="457200" y="2057400"/>
          <a:ext cx="530352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-125"/>
          <p:cNvSpPr txBox="1"/>
          <p:nvPr/>
        </p:nvSpPr>
        <p:spPr>
          <a:xfrm>
            <a:off x="548640" y="498348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Reach stays the backbone (92% → 88%). Community interaction was cut to 0.7%; dedicated Video views campaigns took 9%.</a:t>
            </a:r>
            <a:endParaRPr lang="en-US" sz="1200" dirty="0"/>
          </a:p>
        </p:txBody>
      </p:sp>
      <p:graphicFrame>
        <p:nvGraphicFramePr>
          <p:cNvPr id="5" name="structure-table-1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72200" y="1783080"/>
          <a:ext cx="5468112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2103120"/>
                <a:gridCol w="2221992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76200" marR="76200" marT="50800" marB="508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BEFORE · Apr–Jun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AFTER · Jul–Sep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C0D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Campaigns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6 – Reach by month (Reach_April'26…) plus community interaction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20 – by product / initiative (FIFA, Mixology, McChicken, McCafé, Happy Meal…)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Ad groups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6, one per campaign, named "all" (up to 24 ads each)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24, named by audience (Parents, GenZ with GenA interest, 18-34, 18-50…) or OS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Active ads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47 (7.8 per ad group)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51 (2.1 per ad group)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Objectives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Reach, Community interaction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Adds Video views, App promotion (test) and an opening campaign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</a:tr>
            </a:tbl>
          </a:graphicData>
        </a:graphic>
      </p:graphicFrame>
      <p:sp>
        <p:nvSpPr>
          <p:cNvPr id="9" name="card-127"/>
          <p:cNvSpPr/>
          <p:nvPr/>
        </p:nvSpPr>
        <p:spPr>
          <a:xfrm>
            <a:off x="6172200" y="4846320"/>
            <a:ext cx="5468112" cy="914400"/>
          </a:xfrm>
          <a:prstGeom prst="roundRect">
            <a:avLst>
              <a:gd name="adj" fmla="val 12000"/>
            </a:avLst>
          </a:prstGeom>
          <a:solidFill>
            <a:schemeClr val="accent6"/>
          </a:solidFill>
          <a:ln/>
        </p:spPr>
      </p:sp>
      <p:sp>
        <p:nvSpPr>
          <p:cNvPr id="10" name="text-128"/>
          <p:cNvSpPr txBox="1"/>
          <p:nvPr/>
        </p:nvSpPr>
        <p:spPr>
          <a:xfrm>
            <a:off x="6355080" y="4919472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Clean cut-over: </a:t>
            </a:r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no previous-agency ad spent in July–September. Each export also lists zero-spend legacy ads (54 BEFORE, 83 AFTER); they are excluded from all calculations.</a:t>
            </a:r>
            <a:endParaRPr lang="en-US" sz="1100" dirty="0"/>
          </a:p>
        </p:txBody>
      </p:sp>
      <p:sp>
        <p:nvSpPr>
          <p:cNvPr id="11" name="text-129"/>
          <p:cNvSpPr txBox="1"/>
          <p:nvPr/>
        </p:nvSpPr>
        <p:spPr>
          <a:xfrm>
            <a:off x="548640" y="6108192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00" dirty="0">
                <a:solidFill>
                  <a:schemeClr val="accent5"/>
                </a:solidFill>
              </a:rPr>
              <a:t>Source: TikTok Ads Manager ad-level exports – BEFORE 1 Apr–30 Jun 2026 (47 active ads), AFTER 1 Jul–30 Sep 2026 (51 active ads). Rates recalculated from totals (weighted), not averaged.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chemeClr val="accent1"/>
                </a:solidFill>
              </a:rPr>
              <a:t>WHAT CHANGED AFTER JULY 1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94944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Cost to reach a person fell 21%; the cost of a click and of a video view rose</a:t>
            </a:r>
            <a:endParaRPr lang="en-US" sz="2600" dirty="0"/>
          </a:p>
        </p:txBody>
      </p:sp>
      <p:sp>
        <p:nvSpPr>
          <p:cNvPr id="4" name="arch-motif-130"/>
          <p:cNvSpPr/>
          <p:nvPr/>
        </p:nvSpPr>
        <p:spPr>
          <a:xfrm>
            <a:off x="11137392" y="384048"/>
            <a:ext cx="512064" cy="512064"/>
          </a:xfrm>
          <a:prstGeom prst="blockArc">
            <a:avLst>
              <a:gd name="adj1" fmla="val 10800000"/>
              <a:gd name="adj2" fmla="val 0"/>
              <a:gd name="adj3" fmla="val 16000"/>
            </a:avLst>
          </a:prstGeom>
          <a:solidFill>
            <a:schemeClr val="accent2"/>
          </a:solidFill>
          <a:ln/>
        </p:spPr>
      </p:sp>
      <p:sp>
        <p:nvSpPr>
          <p:cNvPr id="5" name="text-131"/>
          <p:cNvSpPr txBox="1"/>
          <p:nvPr/>
        </p:nvSpPr>
        <p:spPr>
          <a:xfrm>
            <a:off x="548640" y="173736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% change AFTER vs BEFORE – efficiency KPIs</a:t>
            </a:r>
            <a:endParaRPr lang="en-US" sz="1300" dirty="0"/>
          </a:p>
        </p:txBody>
      </p:sp>
      <p:graphicFrame>
        <p:nvGraphicFramePr>
          <p:cNvPr id="6" name="chart-changes-132" descr=""/>
          <p:cNvGraphicFramePr/>
          <p:nvPr/>
        </p:nvGraphicFramePr>
        <p:xfrm>
          <a:off x="457200" y="2011680"/>
          <a:ext cx="7040880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card-133"/>
          <p:cNvSpPr/>
          <p:nvPr/>
        </p:nvSpPr>
        <p:spPr>
          <a:xfrm>
            <a:off x="7863840" y="1783080"/>
            <a:ext cx="3776472" cy="1965960"/>
          </a:xfrm>
          <a:prstGeom prst="roundRect">
            <a:avLst>
              <a:gd name="adj" fmla="val 5581"/>
            </a:avLst>
          </a:prstGeom>
          <a:solidFill>
            <a:schemeClr val="bg2"/>
          </a:solidFill>
          <a:ln/>
        </p:spPr>
      </p:sp>
      <p:sp>
        <p:nvSpPr>
          <p:cNvPr id="8" name="text-134"/>
          <p:cNvSpPr txBox="1"/>
          <p:nvPr/>
        </p:nvSpPr>
        <p:spPr>
          <a:xfrm>
            <a:off x="8092440" y="192024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chemeClr val="accent4"/>
                </a:solidFill>
              </a:rPr>
              <a:t>BIGGEST GAIN</a:t>
            </a:r>
            <a:endParaRPr lang="en-US" sz="1050" dirty="0"/>
          </a:p>
        </p:txBody>
      </p:sp>
      <p:sp>
        <p:nvSpPr>
          <p:cNvPr id="9" name="text-135"/>
          <p:cNvSpPr txBox="1"/>
          <p:nvPr/>
        </p:nvSpPr>
        <p:spPr>
          <a:xfrm>
            <a:off x="8092440" y="2176272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4"/>
                </a:solidFill>
              </a:rPr>
              <a:t>−21% cost / 1K reached</a:t>
            </a:r>
            <a:endParaRPr lang="en-US" sz="2200" dirty="0"/>
          </a:p>
        </p:txBody>
      </p:sp>
      <p:sp>
        <p:nvSpPr>
          <p:cNvPr id="10" name="text-136"/>
          <p:cNvSpPr txBox="1"/>
          <p:nvPr/>
        </p:nvSpPr>
        <p:spPr>
          <a:xfrm>
            <a:off x="8092440" y="2697480"/>
            <a:ext cx="3383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$5.53 → $4.36 per 1,000 unique people. With CPM flat, the gain comes from spreading impressions across more people.</a:t>
            </a:r>
            <a:endParaRPr lang="en-US" sz="1200" dirty="0"/>
          </a:p>
        </p:txBody>
      </p:sp>
      <p:sp>
        <p:nvSpPr>
          <p:cNvPr id="11" name="card-137"/>
          <p:cNvSpPr/>
          <p:nvPr/>
        </p:nvSpPr>
        <p:spPr>
          <a:xfrm>
            <a:off x="7863840" y="3931920"/>
            <a:ext cx="3776472" cy="1965960"/>
          </a:xfrm>
          <a:prstGeom prst="roundRect">
            <a:avLst>
              <a:gd name="adj" fmla="val 5581"/>
            </a:avLst>
          </a:prstGeom>
          <a:solidFill>
            <a:schemeClr val="bg2"/>
          </a:solidFill>
          <a:ln/>
        </p:spPr>
      </p:sp>
      <p:sp>
        <p:nvSpPr>
          <p:cNvPr id="12" name="text-138"/>
          <p:cNvSpPr txBox="1"/>
          <p:nvPr/>
        </p:nvSpPr>
        <p:spPr>
          <a:xfrm>
            <a:off x="8092440" y="406908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chemeClr val="accent1"/>
                </a:solidFill>
              </a:rPr>
              <a:t>BIGGEST DRAG</a:t>
            </a:r>
            <a:endParaRPr lang="en-US" sz="1050" dirty="0"/>
          </a:p>
        </p:txBody>
      </p:sp>
      <p:sp>
        <p:nvSpPr>
          <p:cNvPr id="13" name="text-139"/>
          <p:cNvSpPr txBox="1"/>
          <p:nvPr/>
        </p:nvSpPr>
        <p:spPr>
          <a:xfrm>
            <a:off x="8092440" y="4325112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+29% cost / 1K views</a:t>
            </a:r>
            <a:endParaRPr lang="en-US" sz="2200" dirty="0"/>
          </a:p>
        </p:txBody>
      </p:sp>
      <p:sp>
        <p:nvSpPr>
          <p:cNvPr id="14" name="text-140"/>
          <p:cNvSpPr txBox="1"/>
          <p:nvPr/>
        </p:nvSpPr>
        <p:spPr>
          <a:xfrm>
            <a:off x="8092440" y="4846320"/>
            <a:ext cx="3383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$1.13 → $1.45 per 1,000 2-sec views, because fewer impressions turned into views (22.9% → 18.1%).</a:t>
            </a:r>
            <a:endParaRPr lang="en-US" sz="1200" dirty="0"/>
          </a:p>
        </p:txBody>
      </p:sp>
      <p:sp>
        <p:nvSpPr>
          <p:cNvPr id="15" name="text-141"/>
          <p:cNvSpPr txBox="1"/>
          <p:nvPr/>
        </p:nvSpPr>
        <p:spPr>
          <a:xfrm>
            <a:off x="548640" y="6108192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00" dirty="0">
                <a:solidFill>
                  <a:schemeClr val="accent5"/>
                </a:solidFill>
              </a:rPr>
              <a:t>Source: TikTok Ads Manager ad-level exports – BEFORE 1 Apr–30 Jun 2026 (47 active ads), AFTER 1 Jul–30 Sep 2026 (51 active ads). Rates recalculated from totals (weighted), not averaged. Frequency shown as context: lower means less repetition per person.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chemeClr val="accent1"/>
                </a:solidFill>
              </a:rPr>
              <a:t>INVESTMENT VS PERFORMANCE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94944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Budget fell 10%: unique reach still grew 14%, but clicks and views fell further than spend</a:t>
            </a:r>
            <a:endParaRPr lang="en-US" sz="2600" dirty="0"/>
          </a:p>
        </p:txBody>
      </p:sp>
      <p:sp>
        <p:nvSpPr>
          <p:cNvPr id="4" name="arch-motif-142"/>
          <p:cNvSpPr/>
          <p:nvPr/>
        </p:nvSpPr>
        <p:spPr>
          <a:xfrm>
            <a:off x="11137392" y="384048"/>
            <a:ext cx="512064" cy="512064"/>
          </a:xfrm>
          <a:prstGeom prst="blockArc">
            <a:avLst>
              <a:gd name="adj1" fmla="val 10800000"/>
              <a:gd name="adj2" fmla="val 0"/>
              <a:gd name="adj3" fmla="val 16000"/>
            </a:avLst>
          </a:prstGeom>
          <a:solidFill>
            <a:schemeClr val="accent2"/>
          </a:solidFill>
          <a:ln/>
        </p:spPr>
      </p:sp>
      <p:sp>
        <p:nvSpPr>
          <p:cNvPr id="5" name="text-143"/>
          <p:cNvSpPr txBox="1"/>
          <p:nvPr/>
        </p:nvSpPr>
        <p:spPr>
          <a:xfrm>
            <a:off x="548640" y="173736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% change AFTER vs BEFORE – volume vs budget</a:t>
            </a:r>
            <a:endParaRPr lang="en-US" sz="1300" dirty="0"/>
          </a:p>
        </p:txBody>
      </p:sp>
      <p:graphicFrame>
        <p:nvGraphicFramePr>
          <p:cNvPr id="6" name="chart-scale-144" descr=""/>
          <p:cNvGraphicFramePr/>
          <p:nvPr/>
        </p:nvGraphicFramePr>
        <p:xfrm>
          <a:off x="457200" y="2011680"/>
          <a:ext cx="704088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card-145"/>
          <p:cNvSpPr/>
          <p:nvPr/>
        </p:nvSpPr>
        <p:spPr>
          <a:xfrm>
            <a:off x="7863840" y="1783080"/>
            <a:ext cx="3776472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/>
        </p:spPr>
      </p:sp>
      <p:sp>
        <p:nvSpPr>
          <p:cNvPr id="8" name="text-146"/>
          <p:cNvSpPr txBox="1"/>
          <p:nvPr/>
        </p:nvSpPr>
        <p:spPr>
          <a:xfrm>
            <a:off x="8092440" y="1901952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chemeClr val="accent4"/>
                </a:solidFill>
              </a:rPr>
              <a:t>GENUINE EFFICIENCY</a:t>
            </a:r>
            <a:endParaRPr lang="en-US" sz="1050" dirty="0"/>
          </a:p>
        </p:txBody>
      </p:sp>
      <p:sp>
        <p:nvSpPr>
          <p:cNvPr id="9" name="text-147"/>
          <p:cNvSpPr txBox="1"/>
          <p:nvPr/>
        </p:nvSpPr>
        <p:spPr>
          <a:xfrm>
            <a:off x="8092440" y="2176272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Each $1 reached 229 unique people vs 181 before (+27%) – a gain made with less money, not more.</a:t>
            </a:r>
            <a:endParaRPr lang="en-US" sz="1200" dirty="0"/>
          </a:p>
        </p:txBody>
      </p:sp>
      <p:sp>
        <p:nvSpPr>
          <p:cNvPr id="10" name="card-148"/>
          <p:cNvSpPr/>
          <p:nvPr/>
        </p:nvSpPr>
        <p:spPr>
          <a:xfrm>
            <a:off x="7863840" y="3246120"/>
            <a:ext cx="3776472" cy="1325880"/>
          </a:xfrm>
          <a:prstGeom prst="roundRect">
            <a:avLst>
              <a:gd name="adj" fmla="val 8276"/>
            </a:avLst>
          </a:prstGeom>
          <a:solidFill>
            <a:schemeClr val="accent6"/>
          </a:solidFill>
          <a:ln/>
        </p:spPr>
      </p:sp>
      <p:sp>
        <p:nvSpPr>
          <p:cNvPr id="11" name="text-149"/>
          <p:cNvSpPr txBox="1"/>
          <p:nvPr/>
        </p:nvSpPr>
        <p:spPr>
          <a:xfrm>
            <a:off x="8092440" y="3364992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chemeClr val="tx1"/>
                </a:solidFill>
              </a:rPr>
              <a:t>SCALE EFFECT</a:t>
            </a:r>
            <a:endParaRPr lang="en-US" sz="1050" dirty="0"/>
          </a:p>
        </p:txBody>
      </p:sp>
      <p:sp>
        <p:nvSpPr>
          <p:cNvPr id="12" name="text-150"/>
          <p:cNvSpPr txBox="1"/>
          <p:nvPr/>
        </p:nvSpPr>
        <p:spPr>
          <a:xfrm>
            <a:off x="8092440" y="3639312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Impressions (−11%) moved in line with the budget cut, as expected with a flat CPM.</a:t>
            </a:r>
            <a:endParaRPr lang="en-US" sz="1200" dirty="0"/>
          </a:p>
        </p:txBody>
      </p:sp>
      <p:sp>
        <p:nvSpPr>
          <p:cNvPr id="13" name="card-151"/>
          <p:cNvSpPr/>
          <p:nvPr/>
        </p:nvSpPr>
        <p:spPr>
          <a:xfrm>
            <a:off x="7863840" y="4709160"/>
            <a:ext cx="3776472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/>
        </p:spPr>
      </p:sp>
      <p:sp>
        <p:nvSpPr>
          <p:cNvPr id="14" name="text-152"/>
          <p:cNvSpPr txBox="1"/>
          <p:nvPr/>
        </p:nvSpPr>
        <p:spPr>
          <a:xfrm>
            <a:off x="8092440" y="4828032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chemeClr val="accent1"/>
                </a:solidFill>
              </a:rPr>
              <a:t>BEYOND THE BUDGET CUT</a:t>
            </a:r>
            <a:endParaRPr lang="en-US" sz="1050" dirty="0"/>
          </a:p>
        </p:txBody>
      </p:sp>
      <p:sp>
        <p:nvSpPr>
          <p:cNvPr id="15" name="text-153"/>
          <p:cNvSpPr txBox="1"/>
          <p:nvPr/>
        </p:nvSpPr>
        <p:spPr>
          <a:xfrm>
            <a:off x="8092440" y="5102352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Clicks (−17%) and 2-sec views (−30%) fell more than spend – a real efficiency loss.</a:t>
            </a:r>
            <a:endParaRPr lang="en-US" sz="1200" dirty="0"/>
          </a:p>
        </p:txBody>
      </p:sp>
      <p:sp>
        <p:nvSpPr>
          <p:cNvPr id="16" name="text-154"/>
          <p:cNvSpPr txBox="1"/>
          <p:nvPr/>
        </p:nvSpPr>
        <p:spPr>
          <a:xfrm>
            <a:off x="548640" y="6108192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00" dirty="0">
                <a:solidFill>
                  <a:schemeClr val="accent5"/>
                </a:solidFill>
              </a:rPr>
              <a:t>Source: TikTok Ads Manager ad-level exports – BEFORE 1 Apr–30 Jun 2026 (47 active ads), AFTER 1 Jul–30 Sep 2026 (51 active ads). Rates recalculated from totals (weighted), not averaged. "In line" = within 5 points of the budget change.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chemeClr val="accent1"/>
                </a:solidFill>
              </a:rPr>
              <a:t>REACH &amp; VISIBILITY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94944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Unique reach grew 14% with 22% fewer impressions per person, so each person reached cost 21% less</a:t>
            </a:r>
            <a:endParaRPr lang="en-US" sz="2600" dirty="0"/>
          </a:p>
        </p:txBody>
      </p:sp>
      <p:sp>
        <p:nvSpPr>
          <p:cNvPr id="4" name="arch-motif-155"/>
          <p:cNvSpPr/>
          <p:nvPr/>
        </p:nvSpPr>
        <p:spPr>
          <a:xfrm>
            <a:off x="11137392" y="384048"/>
            <a:ext cx="512064" cy="512064"/>
          </a:xfrm>
          <a:prstGeom prst="blockArc">
            <a:avLst>
              <a:gd name="adj1" fmla="val 10800000"/>
              <a:gd name="adj2" fmla="val 0"/>
              <a:gd name="adj3" fmla="val 16000"/>
            </a:avLst>
          </a:prstGeom>
          <a:solidFill>
            <a:schemeClr val="accent2"/>
          </a:solidFill>
          <a:ln/>
        </p:spPr>
      </p:sp>
      <p:sp>
        <p:nvSpPr>
          <p:cNvPr id="5" name="text-156"/>
          <p:cNvSpPr txBox="1"/>
          <p:nvPr/>
        </p:nvSpPr>
        <p:spPr>
          <a:xfrm>
            <a:off x="548640" y="17373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Cost per 1,000 unique people reached, USD</a:t>
            </a:r>
            <a:endParaRPr lang="en-US" sz="1300" dirty="0"/>
          </a:p>
        </p:txBody>
      </p:sp>
      <p:graphicFrame>
        <p:nvGraphicFramePr>
          <p:cNvPr id="6" name="chart-c1k-157" descr=""/>
          <p:cNvGraphicFramePr/>
          <p:nvPr/>
        </p:nvGraphicFramePr>
        <p:xfrm>
          <a:off x="457200" y="2011680"/>
          <a:ext cx="356616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-158"/>
          <p:cNvSpPr txBox="1"/>
          <p:nvPr/>
        </p:nvSpPr>
        <p:spPr>
          <a:xfrm>
            <a:off x="4251960" y="17373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CPM, USD</a:t>
            </a:r>
            <a:endParaRPr lang="en-US" sz="1300" dirty="0"/>
          </a:p>
        </p:txBody>
      </p:sp>
      <p:graphicFrame>
        <p:nvGraphicFramePr>
          <p:cNvPr id="8" name="chart-cpm-159" descr=""/>
          <p:cNvGraphicFramePr/>
          <p:nvPr/>
        </p:nvGraphicFramePr>
        <p:xfrm>
          <a:off x="4160520" y="2011680"/>
          <a:ext cx="338328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badge-160"/>
          <p:cNvSpPr txBox="1"/>
          <p:nvPr/>
        </p:nvSpPr>
        <p:spPr>
          <a:xfrm>
            <a:off x="1783080" y="5193792"/>
            <a:ext cx="914400" cy="292608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▼ 21%</a:t>
            </a:r>
            <a:endParaRPr lang="en-US" sz="1200" dirty="0"/>
          </a:p>
        </p:txBody>
      </p:sp>
      <p:sp>
        <p:nvSpPr>
          <p:cNvPr id="10" name="badge-161"/>
          <p:cNvSpPr txBox="1"/>
          <p:nvPr/>
        </p:nvSpPr>
        <p:spPr>
          <a:xfrm>
            <a:off x="5394960" y="5193792"/>
            <a:ext cx="914400" cy="29260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▲ 1.6%</a:t>
            </a:r>
            <a:endParaRPr lang="en-US" sz="1200" dirty="0"/>
          </a:p>
        </p:txBody>
      </p:sp>
      <p:sp>
        <p:nvSpPr>
          <p:cNvPr id="11" name="text-162"/>
          <p:cNvSpPr txBox="1"/>
          <p:nvPr/>
        </p:nvSpPr>
        <p:spPr>
          <a:xfrm>
            <a:off x="548640" y="5559552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CPM barely moved, so the gain in cost per person comes from distribution: the same budget was spread across more people instead of repeating to the same audience.</a:t>
            </a:r>
            <a:endParaRPr lang="en-US" sz="1100" dirty="0"/>
          </a:p>
        </p:txBody>
      </p:sp>
      <p:sp>
        <p:nvSpPr>
          <p:cNvPr id="12" name="card-163"/>
          <p:cNvSpPr/>
          <p:nvPr/>
        </p:nvSpPr>
        <p:spPr>
          <a:xfrm>
            <a:off x="7863840" y="1783080"/>
            <a:ext cx="3776472" cy="123444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/>
        </p:spPr>
      </p:sp>
      <p:sp>
        <p:nvSpPr>
          <p:cNvPr id="13" name="text-164"/>
          <p:cNvSpPr txBox="1"/>
          <p:nvPr/>
        </p:nvSpPr>
        <p:spPr>
          <a:xfrm>
            <a:off x="8092440" y="192024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chemeClr val="accent5"/>
                </a:solidFill>
              </a:rPr>
              <a:t>UNIQUE REACH</a:t>
            </a:r>
            <a:endParaRPr lang="en-US" sz="1050" dirty="0"/>
          </a:p>
        </p:txBody>
      </p:sp>
      <p:sp>
        <p:nvSpPr>
          <p:cNvPr id="14" name="badge-165"/>
          <p:cNvSpPr txBox="1"/>
          <p:nvPr/>
        </p:nvSpPr>
        <p:spPr>
          <a:xfrm>
            <a:off x="10515600" y="1901952"/>
            <a:ext cx="914400" cy="292608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▲ 14%</a:t>
            </a:r>
            <a:endParaRPr lang="en-US" sz="1200" dirty="0"/>
          </a:p>
        </p:txBody>
      </p:sp>
      <p:sp>
        <p:nvSpPr>
          <p:cNvPr id="15" name="text-166"/>
          <p:cNvSpPr txBox="1"/>
          <p:nvPr/>
        </p:nvSpPr>
        <p:spPr>
          <a:xfrm>
            <a:off x="8092440" y="224028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accent5"/>
                </a:solidFill>
              </a:rPr>
              <a:t>4.93M</a:t>
            </a:r>
            <a:pPr indent="0" marL="0">
              <a:buNone/>
            </a:pPr>
            <a:r>
              <a:rPr lang="en-US" sz="1800" dirty="0">
                <a:solidFill>
                  <a:schemeClr val="accent5"/>
                </a:solidFill>
              </a:rPr>
              <a:t>  →  </a:t>
            </a:r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5.63M</a:t>
            </a:r>
            <a:endParaRPr lang="en-US" sz="1400" dirty="0"/>
          </a:p>
        </p:txBody>
      </p:sp>
      <p:sp>
        <p:nvSpPr>
          <p:cNvPr id="16" name="card-167"/>
          <p:cNvSpPr/>
          <p:nvPr/>
        </p:nvSpPr>
        <p:spPr>
          <a:xfrm>
            <a:off x="7863840" y="3154680"/>
            <a:ext cx="3776472" cy="123444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/>
        </p:spPr>
      </p:sp>
      <p:sp>
        <p:nvSpPr>
          <p:cNvPr id="17" name="text-168"/>
          <p:cNvSpPr txBox="1"/>
          <p:nvPr/>
        </p:nvSpPr>
        <p:spPr>
          <a:xfrm>
            <a:off x="8092440" y="329184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chemeClr val="accent5"/>
                </a:solidFill>
              </a:rPr>
              <a:t>IMPRESSIONS</a:t>
            </a:r>
            <a:endParaRPr lang="en-US" sz="1050" dirty="0"/>
          </a:p>
        </p:txBody>
      </p:sp>
      <p:sp>
        <p:nvSpPr>
          <p:cNvPr id="18" name="badge-169"/>
          <p:cNvSpPr txBox="1"/>
          <p:nvPr/>
        </p:nvSpPr>
        <p:spPr>
          <a:xfrm>
            <a:off x="10515600" y="3273552"/>
            <a:ext cx="914400" cy="292608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▼ 11%</a:t>
            </a:r>
            <a:endParaRPr lang="en-US" sz="1200" dirty="0"/>
          </a:p>
        </p:txBody>
      </p:sp>
      <p:sp>
        <p:nvSpPr>
          <p:cNvPr id="19" name="text-170"/>
          <p:cNvSpPr txBox="1"/>
          <p:nvPr/>
        </p:nvSpPr>
        <p:spPr>
          <a:xfrm>
            <a:off x="8092440" y="361188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accent5"/>
                </a:solidFill>
              </a:rPr>
              <a:t>105.4M</a:t>
            </a:r>
            <a:pPr indent="0" marL="0">
              <a:buNone/>
            </a:pPr>
            <a:r>
              <a:rPr lang="en-US" sz="1800" dirty="0">
                <a:solidFill>
                  <a:schemeClr val="accent5"/>
                </a:solidFill>
              </a:rPr>
              <a:t>  →  </a:t>
            </a:r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93.4M</a:t>
            </a:r>
            <a:endParaRPr lang="en-US" sz="1400" dirty="0"/>
          </a:p>
        </p:txBody>
      </p:sp>
      <p:sp>
        <p:nvSpPr>
          <p:cNvPr id="20" name="card-171"/>
          <p:cNvSpPr/>
          <p:nvPr/>
        </p:nvSpPr>
        <p:spPr>
          <a:xfrm>
            <a:off x="7863840" y="4526280"/>
            <a:ext cx="3776472" cy="123444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/>
        </p:spPr>
      </p:sp>
      <p:sp>
        <p:nvSpPr>
          <p:cNvPr id="21" name="text-172"/>
          <p:cNvSpPr txBox="1"/>
          <p:nvPr/>
        </p:nvSpPr>
        <p:spPr>
          <a:xfrm>
            <a:off x="8092440" y="466344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chemeClr val="accent5"/>
                </a:solidFill>
              </a:rPr>
              <a:t>FREQUENCY (PER PERSON)</a:t>
            </a:r>
            <a:endParaRPr lang="en-US" sz="1050" dirty="0"/>
          </a:p>
        </p:txBody>
      </p:sp>
      <p:sp>
        <p:nvSpPr>
          <p:cNvPr id="22" name="badge-173"/>
          <p:cNvSpPr txBox="1"/>
          <p:nvPr/>
        </p:nvSpPr>
        <p:spPr>
          <a:xfrm>
            <a:off x="10515600" y="4645152"/>
            <a:ext cx="914400" cy="292608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▼ 22%</a:t>
            </a:r>
            <a:endParaRPr lang="en-US" sz="1200" dirty="0"/>
          </a:p>
        </p:txBody>
      </p:sp>
      <p:sp>
        <p:nvSpPr>
          <p:cNvPr id="23" name="text-174"/>
          <p:cNvSpPr txBox="1"/>
          <p:nvPr/>
        </p:nvSpPr>
        <p:spPr>
          <a:xfrm>
            <a:off x="8092440" y="498348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accent5"/>
                </a:solidFill>
              </a:rPr>
              <a:t>21.4</a:t>
            </a:r>
            <a:pPr indent="0" marL="0">
              <a:buNone/>
            </a:pPr>
            <a:r>
              <a:rPr lang="en-US" sz="1800" dirty="0">
                <a:solidFill>
                  <a:schemeClr val="accent5"/>
                </a:solidFill>
              </a:rPr>
              <a:t>  →  </a:t>
            </a:r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16.6</a:t>
            </a:r>
            <a:endParaRPr lang="en-US" sz="1400" dirty="0"/>
          </a:p>
        </p:txBody>
      </p:sp>
      <p:sp>
        <p:nvSpPr>
          <p:cNvPr id="24" name="text-175"/>
          <p:cNvSpPr txBox="1"/>
          <p:nvPr/>
        </p:nvSpPr>
        <p:spPr>
          <a:xfrm>
            <a:off x="548640" y="6108192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00" dirty="0">
                <a:solidFill>
                  <a:schemeClr val="accent5"/>
                </a:solidFill>
              </a:rPr>
              <a:t>Source: TikTok Ads Manager ad-level exports – BEFORE 1 Apr–30 Jun 2026 (47 active ads), AFTER 1 Jul–30 Sep 2026 (51 active ads). Rates recalculated from totals (weighted), not averaged. Unique reach is TikTok's de-duplicated account reach (Total row), not a sum of ad-level reach.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chemeClr val="accent1"/>
                </a:solidFill>
              </a:rPr>
              <a:t>TRAFFIC &amp; CLICK EFFICIENCY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94944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Click efficiency slipped: CTR −6.5% and CPC +8.7%, with $1.9K spent on ads that recorded 0–1 clicks</a:t>
            </a:r>
            <a:endParaRPr lang="en-US" sz="2600" dirty="0"/>
          </a:p>
        </p:txBody>
      </p:sp>
      <p:sp>
        <p:nvSpPr>
          <p:cNvPr id="4" name="arch-motif-176"/>
          <p:cNvSpPr/>
          <p:nvPr/>
        </p:nvSpPr>
        <p:spPr>
          <a:xfrm>
            <a:off x="11137392" y="384048"/>
            <a:ext cx="512064" cy="512064"/>
          </a:xfrm>
          <a:prstGeom prst="blockArc">
            <a:avLst>
              <a:gd name="adj1" fmla="val 10800000"/>
              <a:gd name="adj2" fmla="val 0"/>
              <a:gd name="adj3" fmla="val 16000"/>
            </a:avLst>
          </a:prstGeom>
          <a:solidFill>
            <a:schemeClr val="accent2"/>
          </a:solidFill>
          <a:ln/>
        </p:spPr>
      </p:sp>
      <p:sp>
        <p:nvSpPr>
          <p:cNvPr id="5" name="text-177"/>
          <p:cNvSpPr txBox="1"/>
          <p:nvPr/>
        </p:nvSpPr>
        <p:spPr>
          <a:xfrm>
            <a:off x="548640" y="17373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CTR, %</a:t>
            </a:r>
            <a:endParaRPr lang="en-US" sz="1300" dirty="0"/>
          </a:p>
        </p:txBody>
      </p:sp>
      <p:graphicFrame>
        <p:nvGraphicFramePr>
          <p:cNvPr id="6" name="chart-ctr-178" descr=""/>
          <p:cNvGraphicFramePr/>
          <p:nvPr/>
        </p:nvGraphicFramePr>
        <p:xfrm>
          <a:off x="457200" y="2011680"/>
          <a:ext cx="361188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-179"/>
          <p:cNvSpPr txBox="1"/>
          <p:nvPr/>
        </p:nvSpPr>
        <p:spPr>
          <a:xfrm>
            <a:off x="4251960" y="17373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CPC, USD</a:t>
            </a:r>
            <a:endParaRPr lang="en-US" sz="1300" dirty="0"/>
          </a:p>
        </p:txBody>
      </p:sp>
      <p:graphicFrame>
        <p:nvGraphicFramePr>
          <p:cNvPr id="8" name="chart-cpc-180" descr=""/>
          <p:cNvGraphicFramePr/>
          <p:nvPr/>
        </p:nvGraphicFramePr>
        <p:xfrm>
          <a:off x="4160520" y="2011680"/>
          <a:ext cx="361188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-181"/>
          <p:cNvSpPr txBox="1"/>
          <p:nvPr/>
        </p:nvSpPr>
        <p:spPr>
          <a:xfrm>
            <a:off x="548640" y="5166360"/>
            <a:ext cx="7223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chemeClr val="tx1"/>
                </a:solidFill>
              </a:rPr>
              <a:t>246.5K → 204.4K</a:t>
            </a:r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 total clicks (−17.1%) on −9.9% spend. Q2 Community interaction ads also record no clicks; they are part of both totals.</a:t>
            </a:r>
            <a:endParaRPr lang="en-US" sz="1150" dirty="0"/>
          </a:p>
        </p:txBody>
      </p:sp>
      <p:sp>
        <p:nvSpPr>
          <p:cNvPr id="10" name="card-182"/>
          <p:cNvSpPr/>
          <p:nvPr/>
        </p:nvSpPr>
        <p:spPr>
          <a:xfrm>
            <a:off x="8092440" y="1783080"/>
            <a:ext cx="3547872" cy="4206240"/>
          </a:xfrm>
          <a:prstGeom prst="roundRect">
            <a:avLst>
              <a:gd name="adj" fmla="val 3093"/>
            </a:avLst>
          </a:prstGeom>
          <a:solidFill>
            <a:schemeClr val="accent6"/>
          </a:solidFill>
          <a:ln/>
        </p:spPr>
      </p:sp>
      <p:sp>
        <p:nvSpPr>
          <p:cNvPr id="11" name="text-183"/>
          <p:cNvSpPr txBox="1"/>
          <p:nvPr/>
        </p:nvSpPr>
        <p:spPr>
          <a:xfrm>
            <a:off x="8302752" y="1901952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chemeClr val="accent1"/>
                </a:solidFill>
              </a:rPr>
              <a:t>0–1 CLICKS IN Q3</a:t>
            </a:r>
            <a:endParaRPr lang="en-US" sz="1050" dirty="0"/>
          </a:p>
        </p:txBody>
      </p:sp>
      <p:sp>
        <p:nvSpPr>
          <p:cNvPr id="12" name="text-184"/>
          <p:cNvSpPr txBox="1"/>
          <p:nvPr/>
        </p:nvSpPr>
        <p:spPr>
          <a:xfrm>
            <a:off x="8302752" y="2157984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$1,919</a:t>
            </a:r>
            <a:endParaRPr lang="en-US" sz="2600" dirty="0"/>
          </a:p>
        </p:txBody>
      </p:sp>
      <p:sp>
        <p:nvSpPr>
          <p:cNvPr id="13" name="text-185"/>
          <p:cNvSpPr txBox="1"/>
          <p:nvPr/>
        </p:nvSpPr>
        <p:spPr>
          <a:xfrm>
            <a:off x="8302752" y="2615184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accent5"/>
                </a:solidFill>
              </a:rPr>
              <a:t>7.8% of AFTER spend</a:t>
            </a:r>
            <a:endParaRPr lang="en-US" sz="1050" dirty="0"/>
          </a:p>
        </p:txBody>
      </p:sp>
      <p:sp>
        <p:nvSpPr>
          <p:cNvPr id="14" name="text-186"/>
          <p:cNvSpPr txBox="1"/>
          <p:nvPr/>
        </p:nvSpPr>
        <p:spPr>
          <a:xfrm>
            <a:off x="8302752" y="2971800"/>
            <a:ext cx="31546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opening_nizami_mall – $622, 1 click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Generic_1 – $575, 0 clicks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Spiderman_launch_03.08 – $397, 0 clicks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Spiderman_HM_launch_03.08 – $168, 0 clicks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Spiderman_launch_05.08 – $157, 0 clicks</a:t>
            </a:r>
            <a:endParaRPr lang="en-US" sz="1050" dirty="0"/>
          </a:p>
        </p:txBody>
      </p:sp>
      <p:sp>
        <p:nvSpPr>
          <p:cNvPr id="15" name="text-187"/>
          <p:cNvSpPr txBox="1"/>
          <p:nvPr/>
        </p:nvSpPr>
        <p:spPr>
          <a:xfrm>
            <a:off x="8302752" y="5029200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tx2"/>
                </a:solidFill>
              </a:rPr>
              <a:t>Whether these ads carried a click destination cannot be seen in the export – worth checking before Q4.</a:t>
            </a:r>
            <a:endParaRPr lang="en-US" sz="1000" dirty="0"/>
          </a:p>
        </p:txBody>
      </p:sp>
      <p:sp>
        <p:nvSpPr>
          <p:cNvPr id="16" name="text-188"/>
          <p:cNvSpPr txBox="1"/>
          <p:nvPr/>
        </p:nvSpPr>
        <p:spPr>
          <a:xfrm>
            <a:off x="548640" y="6108192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00" dirty="0">
                <a:solidFill>
                  <a:schemeClr val="accent5"/>
                </a:solidFill>
              </a:rPr>
              <a:t>Source: TikTok Ads Manager ad-level exports – BEFORE 1 Apr–30 Jun 2026 (47 active ads), AFTER 1 Jul–30 Sep 2026 (51 active ads). Rates recalculated from totals (weighted), not averaged. Clicks = TikTok 'Clicks (destination)'.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chemeClr val="accent1"/>
                </a:solidFill>
              </a:rPr>
              <a:t>VIDEO VIEWS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94944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Video efficiency fell: cost per 1,000 2-sec views rose 29%, driven by three large low-view Reach ads</a:t>
            </a:r>
            <a:endParaRPr lang="en-US" sz="2600" dirty="0"/>
          </a:p>
        </p:txBody>
      </p:sp>
      <p:sp>
        <p:nvSpPr>
          <p:cNvPr id="4" name="arch-motif-189"/>
          <p:cNvSpPr/>
          <p:nvPr/>
        </p:nvSpPr>
        <p:spPr>
          <a:xfrm>
            <a:off x="11137392" y="384048"/>
            <a:ext cx="512064" cy="512064"/>
          </a:xfrm>
          <a:prstGeom prst="blockArc">
            <a:avLst>
              <a:gd name="adj1" fmla="val 10800000"/>
              <a:gd name="adj2" fmla="val 0"/>
              <a:gd name="adj3" fmla="val 16000"/>
            </a:avLst>
          </a:prstGeom>
          <a:solidFill>
            <a:schemeClr val="accent2"/>
          </a:solidFill>
          <a:ln/>
        </p:spPr>
      </p:sp>
      <p:sp>
        <p:nvSpPr>
          <p:cNvPr id="5" name="text-190"/>
          <p:cNvSpPr txBox="1"/>
          <p:nvPr/>
        </p:nvSpPr>
        <p:spPr>
          <a:xfrm>
            <a:off x="548640" y="17373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Cost per 1,000 2-sec views, USD – by objective</a:t>
            </a:r>
            <a:endParaRPr lang="en-US" sz="1300" dirty="0"/>
          </a:p>
        </p:txBody>
      </p:sp>
      <p:graphicFrame>
        <p:nvGraphicFramePr>
          <p:cNvPr id="6" name="chart-cpv-191" descr=""/>
          <p:cNvGraphicFramePr/>
          <p:nvPr/>
        </p:nvGraphicFramePr>
        <p:xfrm>
          <a:off x="457200" y="2011680"/>
          <a:ext cx="5577840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-192"/>
          <p:cNvSpPr txBox="1"/>
          <p:nvPr/>
        </p:nvSpPr>
        <p:spPr>
          <a:xfrm>
            <a:off x="6355080" y="173736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2-sec view rate (views ÷ impressions)</a:t>
            </a:r>
            <a:endParaRPr lang="en-US" sz="1300" dirty="0"/>
          </a:p>
        </p:txBody>
      </p:sp>
      <p:graphicFrame>
        <p:nvGraphicFramePr>
          <p:cNvPr id="8" name="chart-vr-193" descr=""/>
          <p:cNvGraphicFramePr/>
          <p:nvPr/>
        </p:nvGraphicFramePr>
        <p:xfrm>
          <a:off x="6263640" y="2011680"/>
          <a:ext cx="5440680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card-194"/>
          <p:cNvSpPr/>
          <p:nvPr/>
        </p:nvSpPr>
        <p:spPr>
          <a:xfrm>
            <a:off x="548640" y="4983480"/>
            <a:ext cx="3593592" cy="1051560"/>
          </a:xfrm>
          <a:prstGeom prst="roundRect">
            <a:avLst>
              <a:gd name="adj" fmla="val 10435"/>
            </a:avLst>
          </a:prstGeom>
          <a:solidFill>
            <a:schemeClr val="accent6"/>
          </a:solidFill>
          <a:ln/>
        </p:spPr>
      </p:sp>
      <p:sp>
        <p:nvSpPr>
          <p:cNvPr id="10" name="text-195"/>
          <p:cNvSpPr txBox="1"/>
          <p:nvPr/>
        </p:nvSpPr>
        <p:spPr>
          <a:xfrm>
            <a:off x="731520" y="505663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26% of spend</a:t>
            </a:r>
            <a:endParaRPr lang="en-US" sz="1700" dirty="0"/>
          </a:p>
        </p:txBody>
      </p:sp>
      <p:sp>
        <p:nvSpPr>
          <p:cNvPr id="11" name="text-196"/>
          <p:cNvSpPr txBox="1"/>
          <p:nvPr/>
        </p:nvSpPr>
        <p:spPr>
          <a:xfrm>
            <a:off x="731520" y="5394960"/>
            <a:ext cx="3291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went to McChicken value, Cofe_#2, Cofe_#1 – at 7.0% view rate and $3.94 per 1,000 views.</a:t>
            </a:r>
            <a:endParaRPr lang="en-US" sz="1000" dirty="0"/>
          </a:p>
        </p:txBody>
      </p:sp>
      <p:sp>
        <p:nvSpPr>
          <p:cNvPr id="12" name="card-197"/>
          <p:cNvSpPr/>
          <p:nvPr/>
        </p:nvSpPr>
        <p:spPr>
          <a:xfrm>
            <a:off x="4297680" y="4983480"/>
            <a:ext cx="3593592" cy="1051560"/>
          </a:xfrm>
          <a:prstGeom prst="roundRect">
            <a:avLst>
              <a:gd name="adj" fmla="val 10435"/>
            </a:avLst>
          </a:prstGeom>
          <a:solidFill>
            <a:schemeClr val="bg2"/>
          </a:solidFill>
          <a:ln/>
        </p:spPr>
      </p:sp>
      <p:sp>
        <p:nvSpPr>
          <p:cNvPr id="13" name="text-198"/>
          <p:cNvSpPr txBox="1"/>
          <p:nvPr/>
        </p:nvSpPr>
        <p:spPr>
          <a:xfrm>
            <a:off x="4480560" y="505663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21.7% vs 22.9%</a:t>
            </a:r>
            <a:endParaRPr lang="en-US" sz="1700" dirty="0"/>
          </a:p>
        </p:txBody>
      </p:sp>
      <p:sp>
        <p:nvSpPr>
          <p:cNvPr id="14" name="text-199"/>
          <p:cNvSpPr txBox="1"/>
          <p:nvPr/>
        </p:nvSpPr>
        <p:spPr>
          <a:xfrm>
            <a:off x="4480560" y="5394960"/>
            <a:ext cx="3291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Every other Q3 ad held close to the Q2 view rate, at $1.19 per 1,000 views (Q2: $1.13).</a:t>
            </a:r>
            <a:endParaRPr lang="en-US" sz="1000" dirty="0"/>
          </a:p>
        </p:txBody>
      </p:sp>
      <p:sp>
        <p:nvSpPr>
          <p:cNvPr id="15" name="card-200"/>
          <p:cNvSpPr/>
          <p:nvPr/>
        </p:nvSpPr>
        <p:spPr>
          <a:xfrm>
            <a:off x="8046720" y="4983480"/>
            <a:ext cx="3593592" cy="1051560"/>
          </a:xfrm>
          <a:prstGeom prst="roundRect">
            <a:avLst>
              <a:gd name="adj" fmla="val 10435"/>
            </a:avLst>
          </a:prstGeom>
          <a:solidFill>
            <a:schemeClr val="bg2"/>
          </a:solidFill>
          <a:ln/>
        </p:spPr>
      </p:sp>
      <p:sp>
        <p:nvSpPr>
          <p:cNvPr id="16" name="text-201"/>
          <p:cNvSpPr txBox="1"/>
          <p:nvPr/>
        </p:nvSpPr>
        <p:spPr>
          <a:xfrm>
            <a:off x="8229600" y="505663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4"/>
                </a:solidFill>
              </a:rPr>
              <a:t>$0.78 / 1K views</a:t>
            </a:r>
            <a:endParaRPr lang="en-US" sz="1700" dirty="0"/>
          </a:p>
        </p:txBody>
      </p:sp>
      <p:sp>
        <p:nvSpPr>
          <p:cNvPr id="17" name="text-202"/>
          <p:cNvSpPr txBox="1"/>
          <p:nvPr/>
        </p:nvSpPr>
        <p:spPr>
          <a:xfrm>
            <a:off x="8229600" y="5394960"/>
            <a:ext cx="3291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New Video views campaigns: 2.7M views at a 41% view rate – the cheapest video in the account.</a:t>
            </a:r>
            <a:endParaRPr lang="en-US" sz="1000" dirty="0"/>
          </a:p>
        </p:txBody>
      </p:sp>
      <p:sp>
        <p:nvSpPr>
          <p:cNvPr id="18" name="text-203"/>
          <p:cNvSpPr txBox="1"/>
          <p:nvPr/>
        </p:nvSpPr>
        <p:spPr>
          <a:xfrm>
            <a:off x="548640" y="6108192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00" dirty="0">
                <a:solidFill>
                  <a:schemeClr val="accent5"/>
                </a:solidFill>
              </a:rPr>
              <a:t>Source: TikTok Ads Manager ad-level exports – BEFORE 1 Apr–30 Jun 2026 (47 active ads), AFTER 1 Jul–30 Sep 2026 (51 active ads). Rates recalculated from totals (weighted), not averaged. The exports contain 2-sec views only – no 6-sec views, likes, comments, shares or engagement rate – so engagement cannot be assessed.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chemeClr val="accent1"/>
                </a:solidFill>
              </a:rPr>
              <a:t>CAMPAIGN PERFORMANCE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94944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Grimace, Cheddar and Mixology set the efficiency bar; the McChicken value and McCafé campaigns pulled it down</a:t>
            </a:r>
            <a:endParaRPr lang="en-US" sz="2600" dirty="0"/>
          </a:p>
        </p:txBody>
      </p:sp>
      <p:sp>
        <p:nvSpPr>
          <p:cNvPr id="4" name="arch-motif-204"/>
          <p:cNvSpPr/>
          <p:nvPr/>
        </p:nvSpPr>
        <p:spPr>
          <a:xfrm>
            <a:off x="11137392" y="384048"/>
            <a:ext cx="512064" cy="512064"/>
          </a:xfrm>
          <a:prstGeom prst="blockArc">
            <a:avLst>
              <a:gd name="adj1" fmla="val 10800000"/>
              <a:gd name="adj2" fmla="val 0"/>
              <a:gd name="adj3" fmla="val 16000"/>
            </a:avLst>
          </a:prstGeom>
          <a:solidFill>
            <a:schemeClr val="accent2"/>
          </a:solidFill>
          <a:ln/>
        </p:spPr>
      </p:sp>
      <p:sp>
        <p:nvSpPr>
          <p:cNvPr id="5" name="text-205"/>
          <p:cNvSpPr txBox="1"/>
          <p:nvPr/>
        </p:nvSpPr>
        <p:spPr>
          <a:xfrm>
            <a:off x="548640" y="169164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Q3 Reach campaigns (≥$400 spend): cost per 1,000 reached (ad level), USD</a:t>
            </a:r>
            <a:endParaRPr lang="en-US" sz="1300" dirty="0"/>
          </a:p>
        </p:txBody>
      </p:sp>
      <p:graphicFrame>
        <p:nvGraphicFramePr>
          <p:cNvPr id="6" name="chart-campaigns-206" descr=""/>
          <p:cNvGraphicFramePr/>
          <p:nvPr/>
        </p:nvGraphicFramePr>
        <p:xfrm>
          <a:off x="457200" y="1965960"/>
          <a:ext cx="722376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card-207"/>
          <p:cNvSpPr/>
          <p:nvPr/>
        </p:nvSpPr>
        <p:spPr>
          <a:xfrm>
            <a:off x="8001000" y="1783080"/>
            <a:ext cx="3639312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/>
        </p:spPr>
      </p:sp>
      <p:sp>
        <p:nvSpPr>
          <p:cNvPr id="8" name="text-208"/>
          <p:cNvSpPr txBox="1"/>
          <p:nvPr/>
        </p:nvSpPr>
        <p:spPr>
          <a:xfrm>
            <a:off x="8202168" y="189280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chemeClr val="accent4"/>
                </a:solidFill>
              </a:rPr>
              <a:t>DRIVERS</a:t>
            </a:r>
            <a:endParaRPr lang="en-US" sz="1050" dirty="0"/>
          </a:p>
        </p:txBody>
      </p:sp>
      <p:sp>
        <p:nvSpPr>
          <p:cNvPr id="9" name="text-209"/>
          <p:cNvSpPr txBox="1"/>
          <p:nvPr/>
        </p:nvSpPr>
        <p:spPr>
          <a:xfrm>
            <a:off x="8202168" y="2167128"/>
            <a:ext cx="3291840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050" b="1" dirty="0">
                <a:solidFill>
                  <a:schemeClr val="tx2"/>
                </a:solidFill>
              </a:rPr>
              <a:t>Grimace / Cheddar (Jul): </a:t>
            </a:r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chemeClr val="tx2"/>
                </a:solidFill>
              </a:rPr>
              <a:t>$0.23 / $0.20 per 1,000 at frequency ~1.1.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b="1" dirty="0">
                <a:solidFill>
                  <a:schemeClr val="tx2"/>
                </a:solidFill>
              </a:rPr>
              <a:t>Mixology launch (Jul): </a:t>
            </a:r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chemeClr val="tx2"/>
                </a:solidFill>
              </a:rPr>
              <a:t>8.5M reach for $2.3K at $0.28.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b="1" dirty="0">
                <a:solidFill>
                  <a:schemeClr val="tx2"/>
                </a:solidFill>
              </a:rPr>
              <a:t>FIFA (Jul): </a:t>
            </a:r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chemeClr val="tx2"/>
                </a:solidFill>
              </a:rPr>
              <a:t>largest reach (9.8M) with a 27% view rate.</a:t>
            </a:r>
            <a:endParaRPr lang="en-US" sz="1050" dirty="0"/>
          </a:p>
        </p:txBody>
      </p:sp>
      <p:sp>
        <p:nvSpPr>
          <p:cNvPr id="10" name="card-210"/>
          <p:cNvSpPr/>
          <p:nvPr/>
        </p:nvSpPr>
        <p:spPr>
          <a:xfrm>
            <a:off x="8001000" y="4023360"/>
            <a:ext cx="3639312" cy="2057400"/>
          </a:xfrm>
          <a:prstGeom prst="roundRect">
            <a:avLst>
              <a:gd name="adj" fmla="val 5333"/>
            </a:avLst>
          </a:prstGeom>
          <a:solidFill>
            <a:schemeClr val="accent6"/>
          </a:solidFill>
          <a:ln/>
        </p:spPr>
      </p:sp>
      <p:sp>
        <p:nvSpPr>
          <p:cNvPr id="11" name="text-211"/>
          <p:cNvSpPr txBox="1"/>
          <p:nvPr/>
        </p:nvSpPr>
        <p:spPr>
          <a:xfrm>
            <a:off x="8202168" y="413308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chemeClr val="accent1"/>
                </a:solidFill>
              </a:rPr>
              <a:t>DRAGS</a:t>
            </a:r>
            <a:endParaRPr lang="en-US" sz="1050" dirty="0"/>
          </a:p>
        </p:txBody>
      </p:sp>
      <p:sp>
        <p:nvSpPr>
          <p:cNvPr id="12" name="text-212"/>
          <p:cNvSpPr txBox="1"/>
          <p:nvPr/>
        </p:nvSpPr>
        <p:spPr>
          <a:xfrm>
            <a:off x="8202168" y="4407408"/>
            <a:ext cx="3291840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050" b="1" dirty="0">
                <a:solidFill>
                  <a:schemeClr val="tx2"/>
                </a:solidFill>
              </a:rPr>
              <a:t>McChicken value (Jul): </a:t>
            </a:r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chemeClr val="tx2"/>
                </a:solidFill>
              </a:rPr>
              <a:t>$3.6K in one ad at $1.07 per 1,000, frequency 3.3.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b="1" dirty="0">
                <a:solidFill>
                  <a:schemeClr val="tx2"/>
                </a:solidFill>
              </a:rPr>
              <a:t>McCafé (Sep): </a:t>
            </a:r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chemeClr val="tx2"/>
                </a:solidFill>
              </a:rPr>
              <a:t>$2.7K at $0.63, frequency 2.7, 6.9% view rate.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b="1" dirty="0">
                <a:solidFill>
                  <a:schemeClr val="tx2"/>
                </a:solidFill>
              </a:rPr>
              <a:t>McChicken iOS (Aug): </a:t>
            </a:r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chemeClr val="tx2"/>
                </a:solidFill>
              </a:rPr>
              <a:t>$0.78 per 1,000 at $0.50 CPM.</a:t>
            </a:r>
            <a:endParaRPr lang="en-US" sz="1050" dirty="0"/>
          </a:p>
        </p:txBody>
      </p:sp>
      <p:sp>
        <p:nvSpPr>
          <p:cNvPr id="13" name="text-213"/>
          <p:cNvSpPr txBox="1"/>
          <p:nvPr/>
        </p:nvSpPr>
        <p:spPr>
          <a:xfrm>
            <a:off x="548640" y="6108192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00" dirty="0">
                <a:solidFill>
                  <a:schemeClr val="accent5"/>
                </a:solidFill>
              </a:rPr>
              <a:t>Q2 ran three monthly Reach campaigns at $0.36–0.47 per 1,000 reached (ad level). Campaign names shortened; full list in the analysis workbook.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chemeClr val="accent1"/>
                </a:solidFill>
              </a:rPr>
              <a:t>LIKE-FOR-LIKE INITIATIVES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94944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Like-for-like: Mixology and Grimace got cheaper to reach, FIFA held steady, Chicken and McCafé got costlier</a:t>
            </a:r>
            <a:endParaRPr lang="en-US" sz="2600" dirty="0"/>
          </a:p>
        </p:txBody>
      </p:sp>
      <p:sp>
        <p:nvSpPr>
          <p:cNvPr id="4" name="arch-motif-214"/>
          <p:cNvSpPr/>
          <p:nvPr/>
        </p:nvSpPr>
        <p:spPr>
          <a:xfrm>
            <a:off x="11137392" y="384048"/>
            <a:ext cx="512064" cy="512064"/>
          </a:xfrm>
          <a:prstGeom prst="blockArc">
            <a:avLst>
              <a:gd name="adj1" fmla="val 10800000"/>
              <a:gd name="adj2" fmla="val 0"/>
              <a:gd name="adj3" fmla="val 16000"/>
            </a:avLst>
          </a:prstGeom>
          <a:solidFill>
            <a:schemeClr val="accent2"/>
          </a:solidFill>
          <a:ln/>
        </p:spPr>
      </p:sp>
      <p:sp>
        <p:nvSpPr>
          <p:cNvPr id="5" name="text-215"/>
          <p:cNvSpPr txBox="1"/>
          <p:nvPr/>
        </p:nvSpPr>
        <p:spPr>
          <a:xfrm>
            <a:off x="548640" y="173736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Cost per 1,000 reached (ad level), USD – Reach-objective ads, matched initiatives</a:t>
            </a:r>
            <a:endParaRPr lang="en-US" sz="1300" dirty="0"/>
          </a:p>
        </p:txBody>
      </p:sp>
      <p:graphicFrame>
        <p:nvGraphicFramePr>
          <p:cNvPr id="6" name="chart-themes-216" descr=""/>
          <p:cNvGraphicFramePr/>
          <p:nvPr/>
        </p:nvGraphicFramePr>
        <p:xfrm>
          <a:off x="457200" y="2011680"/>
          <a:ext cx="685800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-217"/>
          <p:cNvSpPr txBox="1"/>
          <p:nvPr/>
        </p:nvSpPr>
        <p:spPr>
          <a:xfrm>
            <a:off x="7680960" y="178308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chemeClr val="accent5"/>
                </a:solidFill>
              </a:rPr>
              <a:t>INITIATIVE</a:t>
            </a:r>
            <a:endParaRPr lang="en-US" sz="900" dirty="0"/>
          </a:p>
        </p:txBody>
      </p:sp>
      <p:sp>
        <p:nvSpPr>
          <p:cNvPr id="8" name="text-218"/>
          <p:cNvSpPr txBox="1"/>
          <p:nvPr/>
        </p:nvSpPr>
        <p:spPr>
          <a:xfrm>
            <a:off x="8915400" y="1783080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accent5"/>
                </a:solidFill>
              </a:rPr>
              <a:t>COST/1K</a:t>
            </a:r>
            <a:endParaRPr lang="en-US" sz="900" dirty="0"/>
          </a:p>
        </p:txBody>
      </p:sp>
      <p:sp>
        <p:nvSpPr>
          <p:cNvPr id="9" name="text-219"/>
          <p:cNvSpPr txBox="1"/>
          <p:nvPr/>
        </p:nvSpPr>
        <p:spPr>
          <a:xfrm>
            <a:off x="9802368" y="1783080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accent5"/>
                </a:solidFill>
              </a:rPr>
              <a:t>CTR</a:t>
            </a:r>
            <a:endParaRPr lang="en-US" sz="900" dirty="0"/>
          </a:p>
        </p:txBody>
      </p:sp>
      <p:sp>
        <p:nvSpPr>
          <p:cNvPr id="10" name="text-220"/>
          <p:cNvSpPr txBox="1"/>
          <p:nvPr/>
        </p:nvSpPr>
        <p:spPr>
          <a:xfrm>
            <a:off x="10698480" y="17830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accent5"/>
                </a:solidFill>
              </a:rPr>
              <a:t>VIEW RATE</a:t>
            </a:r>
            <a:endParaRPr lang="en-US" sz="900" dirty="0"/>
          </a:p>
        </p:txBody>
      </p:sp>
      <p:sp>
        <p:nvSpPr>
          <p:cNvPr id="11" name="card-221"/>
          <p:cNvSpPr/>
          <p:nvPr/>
        </p:nvSpPr>
        <p:spPr>
          <a:xfrm>
            <a:off x="7589520" y="2103120"/>
            <a:ext cx="4050792" cy="457200"/>
          </a:xfrm>
          <a:prstGeom prst="roundRect">
            <a:avLst>
              <a:gd name="adj" fmla="val 24000"/>
            </a:avLst>
          </a:prstGeom>
          <a:solidFill>
            <a:schemeClr val="bg2"/>
          </a:solidFill>
          <a:ln/>
        </p:spPr>
      </p:sp>
      <p:sp>
        <p:nvSpPr>
          <p:cNvPr id="12" name="text-222"/>
          <p:cNvSpPr txBox="1"/>
          <p:nvPr/>
        </p:nvSpPr>
        <p:spPr>
          <a:xfrm>
            <a:off x="7680960" y="221284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Mixology</a:t>
            </a:r>
            <a:endParaRPr lang="en-US" sz="1100" dirty="0"/>
          </a:p>
        </p:txBody>
      </p:sp>
      <p:sp>
        <p:nvSpPr>
          <p:cNvPr id="13" name="badge-223"/>
          <p:cNvSpPr txBox="1"/>
          <p:nvPr/>
        </p:nvSpPr>
        <p:spPr>
          <a:xfrm>
            <a:off x="8961120" y="2185416"/>
            <a:ext cx="777240" cy="292608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▼ 28%</a:t>
            </a:r>
            <a:endParaRPr lang="en-US" sz="1200" dirty="0"/>
          </a:p>
        </p:txBody>
      </p:sp>
      <p:sp>
        <p:nvSpPr>
          <p:cNvPr id="14" name="badge-224"/>
          <p:cNvSpPr txBox="1"/>
          <p:nvPr/>
        </p:nvSpPr>
        <p:spPr>
          <a:xfrm>
            <a:off x="9848088" y="2185416"/>
            <a:ext cx="777240" cy="292608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▲ 5%</a:t>
            </a:r>
            <a:endParaRPr lang="en-US" sz="1200" dirty="0"/>
          </a:p>
        </p:txBody>
      </p:sp>
      <p:sp>
        <p:nvSpPr>
          <p:cNvPr id="15" name="badge-225"/>
          <p:cNvSpPr txBox="1"/>
          <p:nvPr/>
        </p:nvSpPr>
        <p:spPr>
          <a:xfrm>
            <a:off x="10762488" y="2185416"/>
            <a:ext cx="777240" cy="29260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▼ 36%</a:t>
            </a:r>
            <a:endParaRPr lang="en-US" sz="1200" dirty="0"/>
          </a:p>
        </p:txBody>
      </p:sp>
      <p:sp>
        <p:nvSpPr>
          <p:cNvPr id="16" name="card-226"/>
          <p:cNvSpPr/>
          <p:nvPr/>
        </p:nvSpPr>
        <p:spPr>
          <a:xfrm>
            <a:off x="7589520" y="2651760"/>
            <a:ext cx="4050792" cy="45720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/>
        </p:spPr>
      </p:sp>
      <p:sp>
        <p:nvSpPr>
          <p:cNvPr id="17" name="text-227"/>
          <p:cNvSpPr txBox="1"/>
          <p:nvPr/>
        </p:nvSpPr>
        <p:spPr>
          <a:xfrm>
            <a:off x="7680960" y="276148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Grimace</a:t>
            </a:r>
            <a:endParaRPr lang="en-US" sz="1100" dirty="0"/>
          </a:p>
        </p:txBody>
      </p:sp>
      <p:sp>
        <p:nvSpPr>
          <p:cNvPr id="18" name="badge-228"/>
          <p:cNvSpPr txBox="1"/>
          <p:nvPr/>
        </p:nvSpPr>
        <p:spPr>
          <a:xfrm>
            <a:off x="8961120" y="2734056"/>
            <a:ext cx="777240" cy="292608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▼ 27%</a:t>
            </a:r>
            <a:endParaRPr lang="en-US" sz="1200" dirty="0"/>
          </a:p>
        </p:txBody>
      </p:sp>
      <p:sp>
        <p:nvSpPr>
          <p:cNvPr id="19" name="badge-229"/>
          <p:cNvSpPr txBox="1"/>
          <p:nvPr/>
        </p:nvSpPr>
        <p:spPr>
          <a:xfrm>
            <a:off x="9848088" y="2734056"/>
            <a:ext cx="777240" cy="292608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▲ 10%</a:t>
            </a:r>
            <a:endParaRPr lang="en-US" sz="1200" dirty="0"/>
          </a:p>
        </p:txBody>
      </p:sp>
      <p:sp>
        <p:nvSpPr>
          <p:cNvPr id="20" name="badge-230"/>
          <p:cNvSpPr txBox="1"/>
          <p:nvPr/>
        </p:nvSpPr>
        <p:spPr>
          <a:xfrm>
            <a:off x="10762488" y="2734056"/>
            <a:ext cx="777240" cy="29260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▼ 47%</a:t>
            </a:r>
            <a:endParaRPr lang="en-US" sz="1200" dirty="0"/>
          </a:p>
        </p:txBody>
      </p:sp>
      <p:sp>
        <p:nvSpPr>
          <p:cNvPr id="21" name="card-231"/>
          <p:cNvSpPr/>
          <p:nvPr/>
        </p:nvSpPr>
        <p:spPr>
          <a:xfrm>
            <a:off x="7589520" y="3200400"/>
            <a:ext cx="4050792" cy="457200"/>
          </a:xfrm>
          <a:prstGeom prst="roundRect">
            <a:avLst>
              <a:gd name="adj" fmla="val 24000"/>
            </a:avLst>
          </a:prstGeom>
          <a:solidFill>
            <a:schemeClr val="bg2"/>
          </a:solidFill>
          <a:ln/>
        </p:spPr>
      </p:sp>
      <p:sp>
        <p:nvSpPr>
          <p:cNvPr id="22" name="text-232"/>
          <p:cNvSpPr txBox="1"/>
          <p:nvPr/>
        </p:nvSpPr>
        <p:spPr>
          <a:xfrm>
            <a:off x="7680960" y="331012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FIFA</a:t>
            </a:r>
            <a:endParaRPr lang="en-US" sz="1100" dirty="0"/>
          </a:p>
        </p:txBody>
      </p:sp>
      <p:sp>
        <p:nvSpPr>
          <p:cNvPr id="23" name="badge-233"/>
          <p:cNvSpPr txBox="1"/>
          <p:nvPr/>
        </p:nvSpPr>
        <p:spPr>
          <a:xfrm>
            <a:off x="8961120" y="3282696"/>
            <a:ext cx="777240" cy="292608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▼ 2%</a:t>
            </a:r>
            <a:endParaRPr lang="en-US" sz="1200" dirty="0"/>
          </a:p>
        </p:txBody>
      </p:sp>
      <p:sp>
        <p:nvSpPr>
          <p:cNvPr id="24" name="badge-234"/>
          <p:cNvSpPr txBox="1"/>
          <p:nvPr/>
        </p:nvSpPr>
        <p:spPr>
          <a:xfrm>
            <a:off x="9848088" y="3282696"/>
            <a:ext cx="777240" cy="292608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▲ 5%</a:t>
            </a:r>
            <a:endParaRPr lang="en-US" sz="1200" dirty="0"/>
          </a:p>
        </p:txBody>
      </p:sp>
      <p:sp>
        <p:nvSpPr>
          <p:cNvPr id="25" name="badge-235"/>
          <p:cNvSpPr txBox="1"/>
          <p:nvPr/>
        </p:nvSpPr>
        <p:spPr>
          <a:xfrm>
            <a:off x="10762488" y="3282696"/>
            <a:ext cx="777240" cy="292608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▲ 12%</a:t>
            </a:r>
            <a:endParaRPr lang="en-US" sz="1200" dirty="0"/>
          </a:p>
        </p:txBody>
      </p:sp>
      <p:sp>
        <p:nvSpPr>
          <p:cNvPr id="26" name="card-236"/>
          <p:cNvSpPr/>
          <p:nvPr/>
        </p:nvSpPr>
        <p:spPr>
          <a:xfrm>
            <a:off x="7589520" y="3749040"/>
            <a:ext cx="4050792" cy="45720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/>
        </p:spPr>
      </p:sp>
      <p:sp>
        <p:nvSpPr>
          <p:cNvPr id="27" name="text-237"/>
          <p:cNvSpPr txBox="1"/>
          <p:nvPr/>
        </p:nvSpPr>
        <p:spPr>
          <a:xfrm>
            <a:off x="7680960" y="385876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Happy Meal</a:t>
            </a:r>
            <a:endParaRPr lang="en-US" sz="1100" dirty="0"/>
          </a:p>
        </p:txBody>
      </p:sp>
      <p:sp>
        <p:nvSpPr>
          <p:cNvPr id="28" name="badge-238"/>
          <p:cNvSpPr txBox="1"/>
          <p:nvPr/>
        </p:nvSpPr>
        <p:spPr>
          <a:xfrm>
            <a:off x="8961120" y="3831336"/>
            <a:ext cx="777240" cy="29260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▲ 9%</a:t>
            </a:r>
            <a:endParaRPr lang="en-US" sz="1200" dirty="0"/>
          </a:p>
        </p:txBody>
      </p:sp>
      <p:sp>
        <p:nvSpPr>
          <p:cNvPr id="29" name="badge-239"/>
          <p:cNvSpPr txBox="1"/>
          <p:nvPr/>
        </p:nvSpPr>
        <p:spPr>
          <a:xfrm>
            <a:off x="9848088" y="3831336"/>
            <a:ext cx="777240" cy="29260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▼ 6%</a:t>
            </a:r>
            <a:endParaRPr lang="en-US" sz="1200" dirty="0"/>
          </a:p>
        </p:txBody>
      </p:sp>
      <p:sp>
        <p:nvSpPr>
          <p:cNvPr id="30" name="badge-240"/>
          <p:cNvSpPr txBox="1"/>
          <p:nvPr/>
        </p:nvSpPr>
        <p:spPr>
          <a:xfrm>
            <a:off x="10762488" y="3831336"/>
            <a:ext cx="777240" cy="29260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▼ 11%</a:t>
            </a:r>
            <a:endParaRPr lang="en-US" sz="1200" dirty="0"/>
          </a:p>
        </p:txBody>
      </p:sp>
      <p:sp>
        <p:nvSpPr>
          <p:cNvPr id="31" name="card-241"/>
          <p:cNvSpPr/>
          <p:nvPr/>
        </p:nvSpPr>
        <p:spPr>
          <a:xfrm>
            <a:off x="7589520" y="4297680"/>
            <a:ext cx="4050792" cy="457200"/>
          </a:xfrm>
          <a:prstGeom prst="roundRect">
            <a:avLst>
              <a:gd name="adj" fmla="val 24000"/>
            </a:avLst>
          </a:prstGeom>
          <a:solidFill>
            <a:schemeClr val="bg2"/>
          </a:solidFill>
          <a:ln/>
        </p:spPr>
      </p:sp>
      <p:sp>
        <p:nvSpPr>
          <p:cNvPr id="32" name="text-242"/>
          <p:cNvSpPr txBox="1"/>
          <p:nvPr/>
        </p:nvSpPr>
        <p:spPr>
          <a:xfrm>
            <a:off x="7680960" y="440740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Chicken</a:t>
            </a:r>
            <a:endParaRPr lang="en-US" sz="1100" dirty="0"/>
          </a:p>
        </p:txBody>
      </p:sp>
      <p:sp>
        <p:nvSpPr>
          <p:cNvPr id="33" name="badge-243"/>
          <p:cNvSpPr txBox="1"/>
          <p:nvPr/>
        </p:nvSpPr>
        <p:spPr>
          <a:xfrm>
            <a:off x="8961120" y="4379976"/>
            <a:ext cx="777240" cy="29260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▲ 69%</a:t>
            </a:r>
            <a:endParaRPr lang="en-US" sz="1200" dirty="0"/>
          </a:p>
        </p:txBody>
      </p:sp>
      <p:sp>
        <p:nvSpPr>
          <p:cNvPr id="34" name="badge-244"/>
          <p:cNvSpPr txBox="1"/>
          <p:nvPr/>
        </p:nvSpPr>
        <p:spPr>
          <a:xfrm>
            <a:off x="9848088" y="4379976"/>
            <a:ext cx="777240" cy="292608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▲ 6%</a:t>
            </a:r>
            <a:endParaRPr lang="en-US" sz="1200" dirty="0"/>
          </a:p>
        </p:txBody>
      </p:sp>
      <p:sp>
        <p:nvSpPr>
          <p:cNvPr id="35" name="badge-245"/>
          <p:cNvSpPr txBox="1"/>
          <p:nvPr/>
        </p:nvSpPr>
        <p:spPr>
          <a:xfrm>
            <a:off x="10762488" y="4379976"/>
            <a:ext cx="777240" cy="292608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▲ 11%</a:t>
            </a:r>
            <a:endParaRPr lang="en-US" sz="1200" dirty="0"/>
          </a:p>
        </p:txBody>
      </p:sp>
      <p:sp>
        <p:nvSpPr>
          <p:cNvPr id="36" name="card-246"/>
          <p:cNvSpPr/>
          <p:nvPr/>
        </p:nvSpPr>
        <p:spPr>
          <a:xfrm>
            <a:off x="7589520" y="4846320"/>
            <a:ext cx="4050792" cy="45720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/>
        </p:spPr>
      </p:sp>
      <p:sp>
        <p:nvSpPr>
          <p:cNvPr id="37" name="text-247"/>
          <p:cNvSpPr txBox="1"/>
          <p:nvPr/>
        </p:nvSpPr>
        <p:spPr>
          <a:xfrm>
            <a:off x="7680960" y="495604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McCafé</a:t>
            </a:r>
            <a:endParaRPr lang="en-US" sz="1100" dirty="0"/>
          </a:p>
        </p:txBody>
      </p:sp>
      <p:sp>
        <p:nvSpPr>
          <p:cNvPr id="38" name="badge-248"/>
          <p:cNvSpPr txBox="1"/>
          <p:nvPr/>
        </p:nvSpPr>
        <p:spPr>
          <a:xfrm>
            <a:off x="8961120" y="4928616"/>
            <a:ext cx="777240" cy="29260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▲ 154%</a:t>
            </a:r>
            <a:endParaRPr lang="en-US" sz="1200" dirty="0"/>
          </a:p>
        </p:txBody>
      </p:sp>
      <p:sp>
        <p:nvSpPr>
          <p:cNvPr id="39" name="badge-249"/>
          <p:cNvSpPr txBox="1"/>
          <p:nvPr/>
        </p:nvSpPr>
        <p:spPr>
          <a:xfrm>
            <a:off x="9848088" y="4928616"/>
            <a:ext cx="777240" cy="29260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▼ 5%</a:t>
            </a:r>
            <a:endParaRPr lang="en-US" sz="1200" dirty="0"/>
          </a:p>
        </p:txBody>
      </p:sp>
      <p:sp>
        <p:nvSpPr>
          <p:cNvPr id="40" name="badge-250"/>
          <p:cNvSpPr txBox="1"/>
          <p:nvPr/>
        </p:nvSpPr>
        <p:spPr>
          <a:xfrm>
            <a:off x="10762488" y="4928616"/>
            <a:ext cx="777240" cy="29260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▼ 78%</a:t>
            </a:r>
            <a:endParaRPr lang="en-US" sz="1200" dirty="0"/>
          </a:p>
        </p:txBody>
      </p:sp>
      <p:sp>
        <p:nvSpPr>
          <p:cNvPr id="41" name="card-251"/>
          <p:cNvSpPr/>
          <p:nvPr/>
        </p:nvSpPr>
        <p:spPr>
          <a:xfrm>
            <a:off x="7589520" y="5440680"/>
            <a:ext cx="4050792" cy="621792"/>
          </a:xfrm>
          <a:prstGeom prst="roundRect">
            <a:avLst>
              <a:gd name="adj" fmla="val 17647"/>
            </a:avLst>
          </a:prstGeom>
          <a:solidFill>
            <a:schemeClr val="accent6"/>
          </a:solidFill>
          <a:ln/>
        </p:spPr>
      </p:sp>
      <p:sp>
        <p:nvSpPr>
          <p:cNvPr id="42" name="text-252"/>
          <p:cNvSpPr txBox="1"/>
          <p:nvPr/>
        </p:nvSpPr>
        <p:spPr>
          <a:xfrm>
            <a:off x="7726680" y="5486400"/>
            <a:ext cx="3794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Chicken and McCafé costs rose with frequency (Q3 ad-level 2.3 and 2.7); Q3 CTR improved in four of six initiatives.</a:t>
            </a:r>
            <a:endParaRPr lang="en-US" sz="1000" dirty="0"/>
          </a:p>
        </p:txBody>
      </p:sp>
      <p:sp>
        <p:nvSpPr>
          <p:cNvPr id="43" name="text-253"/>
          <p:cNvSpPr txBox="1"/>
          <p:nvPr/>
        </p:nvSpPr>
        <p:spPr>
          <a:xfrm>
            <a:off x="548640" y="6108192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00" dirty="0">
                <a:solidFill>
                  <a:schemeClr val="accent5"/>
                </a:solidFill>
              </a:rPr>
              <a:t>Matched only where the product keyword appears in both periods (fifa, mixology, happy meal / HM, chicken / toyuq, cafe / cofe, grimace); Reach-objective ads only. Mixology and Happy Meal rest on one Q2 ad each.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chemeClr val="accent1"/>
                </a:solidFill>
              </a:rPr>
              <a:t>AD GROUP PERFORMANCE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94944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The same chicken creative cost 2.5× more per person reached on iOS; GenZ-with-GenA-interest ad groups out-clicked Parents</a:t>
            </a:r>
            <a:endParaRPr lang="en-US" sz="2600" dirty="0"/>
          </a:p>
        </p:txBody>
      </p:sp>
      <p:sp>
        <p:nvSpPr>
          <p:cNvPr id="4" name="arch-motif-254"/>
          <p:cNvSpPr/>
          <p:nvPr/>
        </p:nvSpPr>
        <p:spPr>
          <a:xfrm>
            <a:off x="11137392" y="384048"/>
            <a:ext cx="512064" cy="512064"/>
          </a:xfrm>
          <a:prstGeom prst="blockArc">
            <a:avLst>
              <a:gd name="adj1" fmla="val 10800000"/>
              <a:gd name="adj2" fmla="val 0"/>
              <a:gd name="adj3" fmla="val 16000"/>
            </a:avLst>
          </a:prstGeom>
          <a:solidFill>
            <a:schemeClr val="accent2"/>
          </a:solidFill>
          <a:ln/>
        </p:spPr>
      </p:sp>
      <p:sp>
        <p:nvSpPr>
          <p:cNvPr id="5" name="text-255"/>
          <p:cNvSpPr txBox="1"/>
          <p:nvPr/>
        </p:nvSpPr>
        <p:spPr>
          <a:xfrm>
            <a:off x="548640" y="173736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Chicken_offer_inf_16.08.26 – Android vs iOS ad group</a:t>
            </a:r>
            <a:endParaRPr lang="en-US" sz="1300" dirty="0"/>
          </a:p>
        </p:txBody>
      </p:sp>
      <p:graphicFrame>
        <p:nvGraphicFramePr>
          <p:cNvPr id="6" name="chart-os-256" descr=""/>
          <p:cNvGraphicFramePr/>
          <p:nvPr/>
        </p:nvGraphicFramePr>
        <p:xfrm>
          <a:off x="457200" y="2011680"/>
          <a:ext cx="539496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-257"/>
          <p:cNvSpPr txBox="1"/>
          <p:nvPr/>
        </p:nvSpPr>
        <p:spPr>
          <a:xfrm>
            <a:off x="548640" y="406908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Happy Meal ad groups – CTR, %</a:t>
            </a:r>
            <a:endParaRPr lang="en-US" sz="1300" dirty="0"/>
          </a:p>
        </p:txBody>
      </p:sp>
      <p:graphicFrame>
        <p:nvGraphicFramePr>
          <p:cNvPr id="8" name="chart-hm-258" descr=""/>
          <p:cNvGraphicFramePr/>
          <p:nvPr/>
        </p:nvGraphicFramePr>
        <p:xfrm>
          <a:off x="457200" y="4315968"/>
          <a:ext cx="539496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card-259"/>
          <p:cNvSpPr/>
          <p:nvPr/>
        </p:nvSpPr>
        <p:spPr>
          <a:xfrm>
            <a:off x="6217920" y="1783080"/>
            <a:ext cx="5422392" cy="621792"/>
          </a:xfrm>
          <a:prstGeom prst="roundRect">
            <a:avLst>
              <a:gd name="adj" fmla="val 17647"/>
            </a:avLst>
          </a:prstGeom>
          <a:solidFill>
            <a:schemeClr val="bg2"/>
          </a:solidFill>
          <a:ln/>
        </p:spPr>
      </p:sp>
      <p:sp>
        <p:nvSpPr>
          <p:cNvPr id="10" name="num-260"/>
          <p:cNvSpPr txBox="1"/>
          <p:nvPr/>
        </p:nvSpPr>
        <p:spPr>
          <a:xfrm>
            <a:off x="6355080" y="1938528"/>
            <a:ext cx="310896" cy="310896"/>
          </a:xfrm>
          <a:prstGeom prst="ellipse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✓</a:t>
            </a:r>
            <a:endParaRPr lang="en-US" sz="1400" dirty="0"/>
          </a:p>
        </p:txBody>
      </p:sp>
      <p:sp>
        <p:nvSpPr>
          <p:cNvPr id="11" name="text-261"/>
          <p:cNvSpPr txBox="1"/>
          <p:nvPr/>
        </p:nvSpPr>
        <p:spPr>
          <a:xfrm>
            <a:off x="6784848" y="1847088"/>
            <a:ext cx="4754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4"/>
                </a:solidFill>
              </a:rPr>
              <a:t>Cheapest reach: </a:t>
            </a:r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Cheddar_mcd_360_days_interaction (Cheddar Sauce (Jul))</a:t>
            </a:r>
            <a:endParaRPr lang="en-US" sz="1100" dirty="0"/>
          </a:p>
        </p:txBody>
      </p:sp>
      <p:sp>
        <p:nvSpPr>
          <p:cNvPr id="12" name="text-262"/>
          <p:cNvSpPr txBox="1"/>
          <p:nvPr/>
        </p:nvSpPr>
        <p:spPr>
          <a:xfrm>
            <a:off x="6784848" y="2103120"/>
            <a:ext cx="4754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$0.20 per 1,000 reached, frequency 1.06</a:t>
            </a:r>
            <a:endParaRPr lang="en-US" sz="1050" dirty="0"/>
          </a:p>
        </p:txBody>
      </p:sp>
      <p:sp>
        <p:nvSpPr>
          <p:cNvPr id="13" name="card-263"/>
          <p:cNvSpPr/>
          <p:nvPr/>
        </p:nvSpPr>
        <p:spPr>
          <a:xfrm>
            <a:off x="6217920" y="2496312"/>
            <a:ext cx="5422392" cy="621792"/>
          </a:xfrm>
          <a:prstGeom prst="roundRect">
            <a:avLst>
              <a:gd name="adj" fmla="val 17647"/>
            </a:avLst>
          </a:prstGeom>
          <a:solidFill>
            <a:schemeClr val="bg2"/>
          </a:solidFill>
          <a:ln/>
        </p:spPr>
      </p:sp>
      <p:sp>
        <p:nvSpPr>
          <p:cNvPr id="14" name="num-264"/>
          <p:cNvSpPr txBox="1"/>
          <p:nvPr/>
        </p:nvSpPr>
        <p:spPr>
          <a:xfrm>
            <a:off x="6355080" y="2651760"/>
            <a:ext cx="310896" cy="310896"/>
          </a:xfrm>
          <a:prstGeom prst="ellipse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✓</a:t>
            </a:r>
            <a:endParaRPr lang="en-US" sz="1400" dirty="0"/>
          </a:p>
        </p:txBody>
      </p:sp>
      <p:sp>
        <p:nvSpPr>
          <p:cNvPr id="15" name="text-265"/>
          <p:cNvSpPr txBox="1"/>
          <p:nvPr/>
        </p:nvSpPr>
        <p:spPr>
          <a:xfrm>
            <a:off x="6784848" y="2560320"/>
            <a:ext cx="4754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4"/>
                </a:solidFill>
              </a:rPr>
              <a:t>Reach + video: </a:t>
            </a:r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Fifa_reach_18-50</a:t>
            </a:r>
            <a:endParaRPr lang="en-US" sz="1100" dirty="0"/>
          </a:p>
        </p:txBody>
      </p:sp>
      <p:sp>
        <p:nvSpPr>
          <p:cNvPr id="16" name="text-266"/>
          <p:cNvSpPr txBox="1"/>
          <p:nvPr/>
        </p:nvSpPr>
        <p:spPr>
          <a:xfrm>
            <a:off x="6784848" y="2816352"/>
            <a:ext cx="4754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9.0M reach at $0.35, 25.8% view rate</a:t>
            </a:r>
            <a:endParaRPr lang="en-US" sz="1050" dirty="0"/>
          </a:p>
        </p:txBody>
      </p:sp>
      <p:sp>
        <p:nvSpPr>
          <p:cNvPr id="17" name="card-267"/>
          <p:cNvSpPr/>
          <p:nvPr/>
        </p:nvSpPr>
        <p:spPr>
          <a:xfrm>
            <a:off x="6217920" y="3209544"/>
            <a:ext cx="5422392" cy="621792"/>
          </a:xfrm>
          <a:prstGeom prst="roundRect">
            <a:avLst>
              <a:gd name="adj" fmla="val 17647"/>
            </a:avLst>
          </a:prstGeom>
          <a:solidFill>
            <a:schemeClr val="bg2"/>
          </a:solidFill>
          <a:ln/>
        </p:spPr>
      </p:sp>
      <p:sp>
        <p:nvSpPr>
          <p:cNvPr id="18" name="num-268"/>
          <p:cNvSpPr txBox="1"/>
          <p:nvPr/>
        </p:nvSpPr>
        <p:spPr>
          <a:xfrm>
            <a:off x="6355080" y="3364992"/>
            <a:ext cx="310896" cy="310896"/>
          </a:xfrm>
          <a:prstGeom prst="ellipse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✓</a:t>
            </a:r>
            <a:endParaRPr lang="en-US" sz="1400" dirty="0"/>
          </a:p>
        </p:txBody>
      </p:sp>
      <p:sp>
        <p:nvSpPr>
          <p:cNvPr id="19" name="text-269"/>
          <p:cNvSpPr txBox="1"/>
          <p:nvPr/>
        </p:nvSpPr>
        <p:spPr>
          <a:xfrm>
            <a:off x="6784848" y="3273552"/>
            <a:ext cx="4754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4"/>
                </a:solidFill>
              </a:rPr>
              <a:t>Best video value: </a:t>
            </a:r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MCchicken_Reach_Sep'26</a:t>
            </a:r>
            <a:endParaRPr lang="en-US" sz="1100" dirty="0"/>
          </a:p>
        </p:txBody>
      </p:sp>
      <p:sp>
        <p:nvSpPr>
          <p:cNvPr id="20" name="text-270"/>
          <p:cNvSpPr txBox="1"/>
          <p:nvPr/>
        </p:nvSpPr>
        <p:spPr>
          <a:xfrm>
            <a:off x="6784848" y="3529584"/>
            <a:ext cx="4754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30.5% view rate at $0.61 per 1,000 views</a:t>
            </a:r>
            <a:endParaRPr lang="en-US" sz="1050" dirty="0"/>
          </a:p>
        </p:txBody>
      </p:sp>
      <p:sp>
        <p:nvSpPr>
          <p:cNvPr id="21" name="card-271"/>
          <p:cNvSpPr/>
          <p:nvPr/>
        </p:nvSpPr>
        <p:spPr>
          <a:xfrm>
            <a:off x="6217920" y="3922776"/>
            <a:ext cx="5422392" cy="621792"/>
          </a:xfrm>
          <a:prstGeom prst="roundRect">
            <a:avLst>
              <a:gd name="adj" fmla="val 17647"/>
            </a:avLst>
          </a:prstGeom>
          <a:solidFill>
            <a:schemeClr val="accent6"/>
          </a:solidFill>
          <a:ln/>
        </p:spPr>
      </p:sp>
      <p:sp>
        <p:nvSpPr>
          <p:cNvPr id="22" name="num-272"/>
          <p:cNvSpPr txBox="1"/>
          <p:nvPr/>
        </p:nvSpPr>
        <p:spPr>
          <a:xfrm>
            <a:off x="6355080" y="4078224"/>
            <a:ext cx="310896" cy="310896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!</a:t>
            </a:r>
            <a:endParaRPr lang="en-US" sz="1400" dirty="0"/>
          </a:p>
        </p:txBody>
      </p:sp>
      <p:sp>
        <p:nvSpPr>
          <p:cNvPr id="23" name="text-273"/>
          <p:cNvSpPr txBox="1"/>
          <p:nvPr/>
        </p:nvSpPr>
        <p:spPr>
          <a:xfrm>
            <a:off x="6784848" y="3986784"/>
            <a:ext cx="4754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Weakest reach set: </a:t>
            </a:r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MC_Value_03.06 (McChicken value)</a:t>
            </a:r>
            <a:endParaRPr lang="en-US" sz="1100" dirty="0"/>
          </a:p>
        </p:txBody>
      </p:sp>
      <p:sp>
        <p:nvSpPr>
          <p:cNvPr id="24" name="text-274"/>
          <p:cNvSpPr txBox="1"/>
          <p:nvPr/>
        </p:nvSpPr>
        <p:spPr>
          <a:xfrm>
            <a:off x="6784848" y="4242816"/>
            <a:ext cx="4754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$1.07 per 1,000, frequency 3.3, 7.1% view rate</a:t>
            </a:r>
            <a:endParaRPr lang="en-US" sz="1050" dirty="0"/>
          </a:p>
        </p:txBody>
      </p:sp>
      <p:sp>
        <p:nvSpPr>
          <p:cNvPr id="25" name="card-275"/>
          <p:cNvSpPr/>
          <p:nvPr/>
        </p:nvSpPr>
        <p:spPr>
          <a:xfrm>
            <a:off x="6217920" y="4636008"/>
            <a:ext cx="5422392" cy="621792"/>
          </a:xfrm>
          <a:prstGeom prst="roundRect">
            <a:avLst>
              <a:gd name="adj" fmla="val 17647"/>
            </a:avLst>
          </a:prstGeom>
          <a:solidFill>
            <a:schemeClr val="accent6"/>
          </a:solidFill>
          <a:ln/>
        </p:spPr>
      </p:sp>
      <p:sp>
        <p:nvSpPr>
          <p:cNvPr id="26" name="num-276"/>
          <p:cNvSpPr txBox="1"/>
          <p:nvPr/>
        </p:nvSpPr>
        <p:spPr>
          <a:xfrm>
            <a:off x="6355080" y="4791456"/>
            <a:ext cx="310896" cy="310896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!</a:t>
            </a:r>
            <a:endParaRPr lang="en-US" sz="1400" dirty="0"/>
          </a:p>
        </p:txBody>
      </p:sp>
      <p:sp>
        <p:nvSpPr>
          <p:cNvPr id="27" name="text-277"/>
          <p:cNvSpPr txBox="1"/>
          <p:nvPr/>
        </p:nvSpPr>
        <p:spPr>
          <a:xfrm>
            <a:off x="6784848" y="4700016"/>
            <a:ext cx="4754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Over-served audience: </a:t>
            </a:r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Core TA (McCafé)</a:t>
            </a:r>
            <a:endParaRPr lang="en-US" sz="1100" dirty="0"/>
          </a:p>
        </p:txBody>
      </p:sp>
      <p:sp>
        <p:nvSpPr>
          <p:cNvPr id="28" name="text-278"/>
          <p:cNvSpPr txBox="1"/>
          <p:nvPr/>
        </p:nvSpPr>
        <p:spPr>
          <a:xfrm>
            <a:off x="6784848" y="4956048"/>
            <a:ext cx="4754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frequency 2.7, 6.9% view rate on $2.7K</a:t>
            </a:r>
            <a:endParaRPr lang="en-US" sz="1050" dirty="0"/>
          </a:p>
        </p:txBody>
      </p:sp>
      <p:sp>
        <p:nvSpPr>
          <p:cNvPr id="29" name="card-279"/>
          <p:cNvSpPr/>
          <p:nvPr/>
        </p:nvSpPr>
        <p:spPr>
          <a:xfrm>
            <a:off x="6217920" y="5376672"/>
            <a:ext cx="5422392" cy="6858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/>
        </p:spPr>
      </p:sp>
      <p:sp>
        <p:nvSpPr>
          <p:cNvPr id="30" name="text-280"/>
          <p:cNvSpPr txBox="1"/>
          <p:nvPr/>
        </p:nvSpPr>
        <p:spPr>
          <a:xfrm>
            <a:off x="6355080" y="5394960"/>
            <a:ext cx="5212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chemeClr val="tx1"/>
                </a:solidFill>
              </a:rPr>
              <a:t>Q2 ad groups </a:t>
            </a:r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were one per campaign, named "all" and holding up to 24 ads, so audience-level comparison is only possible for Q3.</a:t>
            </a:r>
            <a:endParaRPr lang="en-US" sz="1050" dirty="0"/>
          </a:p>
        </p:txBody>
      </p:sp>
      <p:sp>
        <p:nvSpPr>
          <p:cNvPr id="31" name="text-281"/>
          <p:cNvSpPr txBox="1"/>
          <p:nvPr/>
        </p:nvSpPr>
        <p:spPr>
          <a:xfrm>
            <a:off x="548640" y="6108192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00" dirty="0">
                <a:solidFill>
                  <a:schemeClr val="accent5"/>
                </a:solidFill>
              </a:rPr>
              <a:t>Source: TikTok Ads Manager ad-level exports – BEFORE 1 Apr–30 Jun 2026 (47 active ads), AFTER 1 Jul–30 Sep 2026 (51 active ads). Rates recalculated from totals (weighted), not averaged. Leaderboard: Q3 Reach ad groups with ≥$400 spend.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chemeClr val="accent1"/>
                </a:solidFill>
              </a:rPr>
              <a:t>CREATIVE / AD PERFORMANCE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94944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FIFA and chicken-offer ads won the click; dedicated Video views ads won attention</a:t>
            </a:r>
            <a:endParaRPr lang="en-US" sz="2600" dirty="0"/>
          </a:p>
        </p:txBody>
      </p:sp>
      <p:sp>
        <p:nvSpPr>
          <p:cNvPr id="4" name="arch-motif-282"/>
          <p:cNvSpPr/>
          <p:nvPr/>
        </p:nvSpPr>
        <p:spPr>
          <a:xfrm>
            <a:off x="11137392" y="384048"/>
            <a:ext cx="512064" cy="512064"/>
          </a:xfrm>
          <a:prstGeom prst="blockArc">
            <a:avLst>
              <a:gd name="adj1" fmla="val 10800000"/>
              <a:gd name="adj2" fmla="val 0"/>
              <a:gd name="adj3" fmla="val 16000"/>
            </a:avLst>
          </a:prstGeom>
          <a:solidFill>
            <a:schemeClr val="accent2"/>
          </a:solidFill>
          <a:ln/>
        </p:spPr>
      </p:sp>
      <p:sp>
        <p:nvSpPr>
          <p:cNvPr id="5" name="card-283"/>
          <p:cNvSpPr/>
          <p:nvPr/>
        </p:nvSpPr>
        <p:spPr>
          <a:xfrm>
            <a:off x="548640" y="1737360"/>
            <a:ext cx="3593592" cy="3310128"/>
          </a:xfrm>
          <a:prstGeom prst="roundRect">
            <a:avLst>
              <a:gd name="adj" fmla="val 3315"/>
            </a:avLst>
          </a:prstGeom>
          <a:solidFill>
            <a:schemeClr val="bg2"/>
          </a:solidFill>
          <a:ln/>
        </p:spPr>
      </p:sp>
      <p:sp>
        <p:nvSpPr>
          <p:cNvPr id="6" name="text-284"/>
          <p:cNvSpPr txBox="1"/>
          <p:nvPr/>
        </p:nvSpPr>
        <p:spPr>
          <a:xfrm>
            <a:off x="731520" y="1847088"/>
            <a:ext cx="32278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chemeClr val="accent4"/>
                </a:solidFill>
              </a:rPr>
              <a:t>STRONGEST CTR</a:t>
            </a:r>
            <a:endParaRPr lang="en-US" sz="1050" dirty="0"/>
          </a:p>
        </p:txBody>
      </p:sp>
      <p:sp>
        <p:nvSpPr>
          <p:cNvPr id="7" name="num-285"/>
          <p:cNvSpPr txBox="1"/>
          <p:nvPr/>
        </p:nvSpPr>
        <p:spPr>
          <a:xfrm>
            <a:off x="731520" y="2212848"/>
            <a:ext cx="292608" cy="292608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-286"/>
          <p:cNvSpPr txBox="1"/>
          <p:nvPr/>
        </p:nvSpPr>
        <p:spPr>
          <a:xfrm>
            <a:off x="1115568" y="2176272"/>
            <a:ext cx="28620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chemeClr val="tx1"/>
                </a:solidFill>
              </a:rPr>
              <a:t>red_card_boost_01.06</a:t>
            </a:r>
            <a:endParaRPr lang="en-US" sz="1050" dirty="0"/>
          </a:p>
        </p:txBody>
      </p:sp>
      <p:sp>
        <p:nvSpPr>
          <p:cNvPr id="9" name="text-287"/>
          <p:cNvSpPr txBox="1"/>
          <p:nvPr/>
        </p:nvSpPr>
        <p:spPr>
          <a:xfrm>
            <a:off x="1115568" y="2423160"/>
            <a:ext cx="2862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0.34% CTR · $0.057 CPC · Reach</a:t>
            </a:r>
            <a:endParaRPr lang="en-US" sz="950" dirty="0"/>
          </a:p>
        </p:txBody>
      </p:sp>
      <p:sp>
        <p:nvSpPr>
          <p:cNvPr id="10" name="num-288"/>
          <p:cNvSpPr txBox="1"/>
          <p:nvPr/>
        </p:nvSpPr>
        <p:spPr>
          <a:xfrm>
            <a:off x="731520" y="2852928"/>
            <a:ext cx="292608" cy="292608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text-289"/>
          <p:cNvSpPr txBox="1"/>
          <p:nvPr/>
        </p:nvSpPr>
        <p:spPr>
          <a:xfrm>
            <a:off x="1115568" y="2816352"/>
            <a:ext cx="28620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chemeClr val="tx1"/>
                </a:solidFill>
              </a:rPr>
              <a:t>MCFlurry_IMG_6519</a:t>
            </a:r>
            <a:endParaRPr lang="en-US" sz="1050" dirty="0"/>
          </a:p>
        </p:txBody>
      </p:sp>
      <p:sp>
        <p:nvSpPr>
          <p:cNvPr id="12" name="text-290"/>
          <p:cNvSpPr txBox="1"/>
          <p:nvPr/>
        </p:nvSpPr>
        <p:spPr>
          <a:xfrm>
            <a:off x="1115568" y="3063240"/>
            <a:ext cx="2862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0.32% CTR · $0.087 CPC · Video views</a:t>
            </a:r>
            <a:endParaRPr lang="en-US" sz="950" dirty="0"/>
          </a:p>
        </p:txBody>
      </p:sp>
      <p:sp>
        <p:nvSpPr>
          <p:cNvPr id="13" name="num-291"/>
          <p:cNvSpPr txBox="1"/>
          <p:nvPr/>
        </p:nvSpPr>
        <p:spPr>
          <a:xfrm>
            <a:off x="731520" y="3493008"/>
            <a:ext cx="292608" cy="292608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3</a:t>
            </a:r>
            <a:endParaRPr lang="en-US" sz="1400" dirty="0"/>
          </a:p>
        </p:txBody>
      </p:sp>
      <p:sp>
        <p:nvSpPr>
          <p:cNvPr id="14" name="text-292"/>
          <p:cNvSpPr txBox="1"/>
          <p:nvPr/>
        </p:nvSpPr>
        <p:spPr>
          <a:xfrm>
            <a:off x="1115568" y="3456432"/>
            <a:ext cx="28620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chemeClr val="tx1"/>
                </a:solidFill>
              </a:rPr>
              <a:t>Futbol_əyləncə_və_dadlı_anlar</a:t>
            </a:r>
            <a:endParaRPr lang="en-US" sz="1050" dirty="0"/>
          </a:p>
        </p:txBody>
      </p:sp>
      <p:sp>
        <p:nvSpPr>
          <p:cNvPr id="15" name="text-293"/>
          <p:cNvSpPr txBox="1"/>
          <p:nvPr/>
        </p:nvSpPr>
        <p:spPr>
          <a:xfrm>
            <a:off x="1115568" y="3703320"/>
            <a:ext cx="2862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0.32% CTR · $0.092 CPC · Reach</a:t>
            </a:r>
            <a:endParaRPr lang="en-US" sz="950" dirty="0"/>
          </a:p>
        </p:txBody>
      </p:sp>
      <p:sp>
        <p:nvSpPr>
          <p:cNvPr id="16" name="num-294"/>
          <p:cNvSpPr txBox="1"/>
          <p:nvPr/>
        </p:nvSpPr>
        <p:spPr>
          <a:xfrm>
            <a:off x="731520" y="4133088"/>
            <a:ext cx="292608" cy="292608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4</a:t>
            </a:r>
            <a:endParaRPr lang="en-US" sz="1400" dirty="0"/>
          </a:p>
        </p:txBody>
      </p:sp>
      <p:sp>
        <p:nvSpPr>
          <p:cNvPr id="17" name="text-295"/>
          <p:cNvSpPr txBox="1"/>
          <p:nvPr/>
        </p:nvSpPr>
        <p:spPr>
          <a:xfrm>
            <a:off x="1115568" y="4096512"/>
            <a:ext cx="28620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chemeClr val="tx1"/>
                </a:solidFill>
              </a:rPr>
              <a:t>Chicken_offer_inf_16.08.26 (Android)</a:t>
            </a:r>
            <a:endParaRPr lang="en-US" sz="1050" dirty="0"/>
          </a:p>
        </p:txBody>
      </p:sp>
      <p:sp>
        <p:nvSpPr>
          <p:cNvPr id="18" name="text-296"/>
          <p:cNvSpPr txBox="1"/>
          <p:nvPr/>
        </p:nvSpPr>
        <p:spPr>
          <a:xfrm>
            <a:off x="1115568" y="4343400"/>
            <a:ext cx="2862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0.30% CTR · $0.092 CPC · Reach</a:t>
            </a:r>
            <a:endParaRPr lang="en-US" sz="950" dirty="0"/>
          </a:p>
        </p:txBody>
      </p:sp>
      <p:sp>
        <p:nvSpPr>
          <p:cNvPr id="19" name="text-297"/>
          <p:cNvSpPr txBox="1"/>
          <p:nvPr/>
        </p:nvSpPr>
        <p:spPr>
          <a:xfrm>
            <a:off x="731520" y="4736592"/>
            <a:ext cx="3227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chemeClr val="accent5"/>
                </a:solidFill>
              </a:rPr>
              <a:t>Q2 best: pov_bizim_burger_10.04 0.41%</a:t>
            </a:r>
            <a:endParaRPr lang="en-US" sz="950" dirty="0"/>
          </a:p>
        </p:txBody>
      </p:sp>
      <p:sp>
        <p:nvSpPr>
          <p:cNvPr id="20" name="card-298"/>
          <p:cNvSpPr/>
          <p:nvPr/>
        </p:nvSpPr>
        <p:spPr>
          <a:xfrm>
            <a:off x="4297680" y="1737360"/>
            <a:ext cx="3593592" cy="3310128"/>
          </a:xfrm>
          <a:prstGeom prst="roundRect">
            <a:avLst>
              <a:gd name="adj" fmla="val 3315"/>
            </a:avLst>
          </a:prstGeom>
          <a:solidFill>
            <a:schemeClr val="bg2"/>
          </a:solidFill>
          <a:ln/>
        </p:spPr>
      </p:sp>
      <p:sp>
        <p:nvSpPr>
          <p:cNvPr id="21" name="text-299"/>
          <p:cNvSpPr txBox="1"/>
          <p:nvPr/>
        </p:nvSpPr>
        <p:spPr>
          <a:xfrm>
            <a:off x="4480560" y="1847088"/>
            <a:ext cx="32278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chemeClr val="accent4"/>
                </a:solidFill>
              </a:rPr>
              <a:t>STRONGEST 2-SEC VIEW RATE</a:t>
            </a:r>
            <a:endParaRPr lang="en-US" sz="1050" dirty="0"/>
          </a:p>
        </p:txBody>
      </p:sp>
      <p:sp>
        <p:nvSpPr>
          <p:cNvPr id="22" name="num-300"/>
          <p:cNvSpPr txBox="1"/>
          <p:nvPr/>
        </p:nvSpPr>
        <p:spPr>
          <a:xfrm>
            <a:off x="4480560" y="2212848"/>
            <a:ext cx="292608" cy="292608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1</a:t>
            </a:r>
            <a:endParaRPr lang="en-US" sz="1400" dirty="0"/>
          </a:p>
        </p:txBody>
      </p:sp>
      <p:sp>
        <p:nvSpPr>
          <p:cNvPr id="23" name="text-301"/>
          <p:cNvSpPr txBox="1"/>
          <p:nvPr/>
        </p:nvSpPr>
        <p:spPr>
          <a:xfrm>
            <a:off x="4864608" y="2176272"/>
            <a:ext cx="28620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chemeClr val="tx1"/>
                </a:solidFill>
              </a:rPr>
              <a:t>MCFlurry_IMG_6519</a:t>
            </a:r>
            <a:endParaRPr lang="en-US" sz="1050" dirty="0"/>
          </a:p>
        </p:txBody>
      </p:sp>
      <p:sp>
        <p:nvSpPr>
          <p:cNvPr id="24" name="text-302"/>
          <p:cNvSpPr txBox="1"/>
          <p:nvPr/>
        </p:nvSpPr>
        <p:spPr>
          <a:xfrm>
            <a:off x="4864608" y="2423160"/>
            <a:ext cx="2862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53.5% view rate · $0.52 / 1K views · Video views</a:t>
            </a:r>
            <a:endParaRPr lang="en-US" sz="950" dirty="0"/>
          </a:p>
        </p:txBody>
      </p:sp>
      <p:sp>
        <p:nvSpPr>
          <p:cNvPr id="25" name="num-303"/>
          <p:cNvSpPr txBox="1"/>
          <p:nvPr/>
        </p:nvSpPr>
        <p:spPr>
          <a:xfrm>
            <a:off x="4480560" y="2852928"/>
            <a:ext cx="292608" cy="292608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2</a:t>
            </a:r>
            <a:endParaRPr lang="en-US" sz="1400" dirty="0"/>
          </a:p>
        </p:txBody>
      </p:sp>
      <p:sp>
        <p:nvSpPr>
          <p:cNvPr id="26" name="text-304"/>
          <p:cNvSpPr txBox="1"/>
          <p:nvPr/>
        </p:nvSpPr>
        <p:spPr>
          <a:xfrm>
            <a:off x="4864608" y="2816352"/>
            <a:ext cx="28620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chemeClr val="tx1"/>
                </a:solidFill>
              </a:rPr>
              <a:t>Generic_1</a:t>
            </a:r>
            <a:endParaRPr lang="en-US" sz="1050" dirty="0"/>
          </a:p>
        </p:txBody>
      </p:sp>
      <p:sp>
        <p:nvSpPr>
          <p:cNvPr id="27" name="text-305"/>
          <p:cNvSpPr txBox="1"/>
          <p:nvPr/>
        </p:nvSpPr>
        <p:spPr>
          <a:xfrm>
            <a:off x="4864608" y="3063240"/>
            <a:ext cx="2862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51.8% view rate · $0.59 / 1K views · Video views</a:t>
            </a:r>
            <a:endParaRPr lang="en-US" sz="950" dirty="0"/>
          </a:p>
        </p:txBody>
      </p:sp>
      <p:sp>
        <p:nvSpPr>
          <p:cNvPr id="28" name="num-306"/>
          <p:cNvSpPr txBox="1"/>
          <p:nvPr/>
        </p:nvSpPr>
        <p:spPr>
          <a:xfrm>
            <a:off x="4480560" y="3493008"/>
            <a:ext cx="292608" cy="292608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3</a:t>
            </a:r>
            <a:endParaRPr lang="en-US" sz="1400" dirty="0"/>
          </a:p>
        </p:txBody>
      </p:sp>
      <p:sp>
        <p:nvSpPr>
          <p:cNvPr id="29" name="text-307"/>
          <p:cNvSpPr txBox="1"/>
          <p:nvPr/>
        </p:nvSpPr>
        <p:spPr>
          <a:xfrm>
            <a:off x="4864608" y="3456432"/>
            <a:ext cx="28620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chemeClr val="tx1"/>
                </a:solidFill>
              </a:rPr>
              <a:t>FIFA_GENZ_Beckham_Revenge_Global_EN_Social_9x16_13</a:t>
            </a:r>
            <a:endParaRPr lang="en-US" sz="1050" dirty="0"/>
          </a:p>
        </p:txBody>
      </p:sp>
      <p:sp>
        <p:nvSpPr>
          <p:cNvPr id="30" name="text-308"/>
          <p:cNvSpPr txBox="1"/>
          <p:nvPr/>
        </p:nvSpPr>
        <p:spPr>
          <a:xfrm>
            <a:off x="4864608" y="3703320"/>
            <a:ext cx="2862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46.5% view rate · $0.92 / 1K views · Reach</a:t>
            </a:r>
            <a:endParaRPr lang="en-US" sz="950" dirty="0"/>
          </a:p>
        </p:txBody>
      </p:sp>
      <p:sp>
        <p:nvSpPr>
          <p:cNvPr id="31" name="num-309"/>
          <p:cNvSpPr txBox="1"/>
          <p:nvPr/>
        </p:nvSpPr>
        <p:spPr>
          <a:xfrm>
            <a:off x="4480560" y="4133088"/>
            <a:ext cx="292608" cy="292608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4</a:t>
            </a:r>
            <a:endParaRPr lang="en-US" sz="1400" dirty="0"/>
          </a:p>
        </p:txBody>
      </p:sp>
      <p:sp>
        <p:nvSpPr>
          <p:cNvPr id="32" name="text-310"/>
          <p:cNvSpPr txBox="1"/>
          <p:nvPr/>
        </p:nvSpPr>
        <p:spPr>
          <a:xfrm>
            <a:off x="4864608" y="4096512"/>
            <a:ext cx="28620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chemeClr val="tx1"/>
                </a:solidFill>
              </a:rPr>
              <a:t>Chicken_offer_inf_16.08.26 (Android)</a:t>
            </a:r>
            <a:endParaRPr lang="en-US" sz="1050" dirty="0"/>
          </a:p>
        </p:txBody>
      </p:sp>
      <p:sp>
        <p:nvSpPr>
          <p:cNvPr id="33" name="text-311"/>
          <p:cNvSpPr txBox="1"/>
          <p:nvPr/>
        </p:nvSpPr>
        <p:spPr>
          <a:xfrm>
            <a:off x="4864608" y="4343400"/>
            <a:ext cx="2862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46.3% view rate · $0.60 / 1K views · Reach</a:t>
            </a:r>
            <a:endParaRPr lang="en-US" sz="950" dirty="0"/>
          </a:p>
        </p:txBody>
      </p:sp>
      <p:sp>
        <p:nvSpPr>
          <p:cNvPr id="34" name="text-312"/>
          <p:cNvSpPr txBox="1"/>
          <p:nvPr/>
        </p:nvSpPr>
        <p:spPr>
          <a:xfrm>
            <a:off x="4480560" y="4736592"/>
            <a:ext cx="3227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chemeClr val="accent5"/>
                </a:solidFill>
              </a:rPr>
              <a:t>Q2 best: fifa_athletes_vs_grimace_10.06 50.9%</a:t>
            </a:r>
            <a:endParaRPr lang="en-US" sz="950" dirty="0"/>
          </a:p>
        </p:txBody>
      </p:sp>
      <p:sp>
        <p:nvSpPr>
          <p:cNvPr id="35" name="card-313"/>
          <p:cNvSpPr/>
          <p:nvPr/>
        </p:nvSpPr>
        <p:spPr>
          <a:xfrm>
            <a:off x="8046720" y="1737360"/>
            <a:ext cx="3593592" cy="3310128"/>
          </a:xfrm>
          <a:prstGeom prst="roundRect">
            <a:avLst>
              <a:gd name="adj" fmla="val 3315"/>
            </a:avLst>
          </a:prstGeom>
          <a:solidFill>
            <a:schemeClr val="accent6"/>
          </a:solidFill>
          <a:ln/>
        </p:spPr>
      </p:sp>
      <p:sp>
        <p:nvSpPr>
          <p:cNvPr id="36" name="text-314"/>
          <p:cNvSpPr txBox="1"/>
          <p:nvPr/>
        </p:nvSpPr>
        <p:spPr>
          <a:xfrm>
            <a:off x="8229600" y="1847088"/>
            <a:ext cx="32278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chemeClr val="accent1"/>
                </a:solidFill>
              </a:rPr>
              <a:t>UNDERPERFORMERS</a:t>
            </a:r>
            <a:endParaRPr lang="en-US" sz="1050" dirty="0"/>
          </a:p>
        </p:txBody>
      </p:sp>
      <p:sp>
        <p:nvSpPr>
          <p:cNvPr id="37" name="num-315"/>
          <p:cNvSpPr txBox="1"/>
          <p:nvPr/>
        </p:nvSpPr>
        <p:spPr>
          <a:xfrm>
            <a:off x="8229600" y="2212848"/>
            <a:ext cx="292608" cy="29260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38" name="text-316"/>
          <p:cNvSpPr txBox="1"/>
          <p:nvPr/>
        </p:nvSpPr>
        <p:spPr>
          <a:xfrm>
            <a:off x="8613648" y="2176272"/>
            <a:ext cx="28620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chemeClr val="tx1"/>
                </a:solidFill>
              </a:rPr>
              <a:t>Xususi toyuq kombolari_03.06</a:t>
            </a:r>
            <a:endParaRPr lang="en-US" sz="1050" dirty="0"/>
          </a:p>
        </p:txBody>
      </p:sp>
      <p:sp>
        <p:nvSpPr>
          <p:cNvPr id="39" name="text-317"/>
          <p:cNvSpPr txBox="1"/>
          <p:nvPr/>
        </p:nvSpPr>
        <p:spPr>
          <a:xfrm>
            <a:off x="8613648" y="2423160"/>
            <a:ext cx="2862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$3,594 · 7.1% view rate · freq 3.3</a:t>
            </a:r>
            <a:endParaRPr lang="en-US" sz="950" dirty="0"/>
          </a:p>
        </p:txBody>
      </p:sp>
      <p:sp>
        <p:nvSpPr>
          <p:cNvPr id="40" name="num-318"/>
          <p:cNvSpPr txBox="1"/>
          <p:nvPr/>
        </p:nvSpPr>
        <p:spPr>
          <a:xfrm>
            <a:off x="8229600" y="2852928"/>
            <a:ext cx="292608" cy="29260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41" name="text-319"/>
          <p:cNvSpPr txBox="1"/>
          <p:nvPr/>
        </p:nvSpPr>
        <p:spPr>
          <a:xfrm>
            <a:off x="8613648" y="2816352"/>
            <a:ext cx="28620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chemeClr val="tx1"/>
                </a:solidFill>
              </a:rPr>
              <a:t>Cofe_#1</a:t>
            </a:r>
            <a:endParaRPr lang="en-US" sz="1050" dirty="0"/>
          </a:p>
        </p:txBody>
      </p:sp>
      <p:sp>
        <p:nvSpPr>
          <p:cNvPr id="42" name="text-320"/>
          <p:cNvSpPr txBox="1"/>
          <p:nvPr/>
        </p:nvSpPr>
        <p:spPr>
          <a:xfrm>
            <a:off x="8613648" y="3063240"/>
            <a:ext cx="2862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$1,231 · 5.5% view rate · freq 2.7</a:t>
            </a:r>
            <a:endParaRPr lang="en-US" sz="950" dirty="0"/>
          </a:p>
        </p:txBody>
      </p:sp>
      <p:sp>
        <p:nvSpPr>
          <p:cNvPr id="43" name="num-321"/>
          <p:cNvSpPr txBox="1"/>
          <p:nvPr/>
        </p:nvSpPr>
        <p:spPr>
          <a:xfrm>
            <a:off x="8229600" y="3493008"/>
            <a:ext cx="292608" cy="29260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44" name="text-322"/>
          <p:cNvSpPr txBox="1"/>
          <p:nvPr/>
        </p:nvSpPr>
        <p:spPr>
          <a:xfrm>
            <a:off x="8613648" y="3456432"/>
            <a:ext cx="28620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chemeClr val="tx1"/>
                </a:solidFill>
              </a:rPr>
              <a:t>opening_nizami_mall</a:t>
            </a:r>
            <a:endParaRPr lang="en-US" sz="1050" dirty="0"/>
          </a:p>
        </p:txBody>
      </p:sp>
      <p:sp>
        <p:nvSpPr>
          <p:cNvPr id="45" name="text-323"/>
          <p:cNvSpPr txBox="1"/>
          <p:nvPr/>
        </p:nvSpPr>
        <p:spPr>
          <a:xfrm>
            <a:off x="8613648" y="3703320"/>
            <a:ext cx="2862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$622 · 1 click · 34.4% view rate</a:t>
            </a:r>
            <a:endParaRPr lang="en-US" sz="950" dirty="0"/>
          </a:p>
        </p:txBody>
      </p:sp>
      <p:sp>
        <p:nvSpPr>
          <p:cNvPr id="46" name="num-324"/>
          <p:cNvSpPr txBox="1"/>
          <p:nvPr/>
        </p:nvSpPr>
        <p:spPr>
          <a:xfrm>
            <a:off x="8229600" y="4133088"/>
            <a:ext cx="292608" cy="29260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47" name="text-325"/>
          <p:cNvSpPr txBox="1"/>
          <p:nvPr/>
        </p:nvSpPr>
        <p:spPr>
          <a:xfrm>
            <a:off x="8613648" y="4096512"/>
            <a:ext cx="28620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chemeClr val="tx1"/>
                </a:solidFill>
              </a:rPr>
              <a:t>Spiderman_launch_03.08</a:t>
            </a:r>
            <a:endParaRPr lang="en-US" sz="1050" dirty="0"/>
          </a:p>
        </p:txBody>
      </p:sp>
      <p:sp>
        <p:nvSpPr>
          <p:cNvPr id="48" name="text-326"/>
          <p:cNvSpPr txBox="1"/>
          <p:nvPr/>
        </p:nvSpPr>
        <p:spPr>
          <a:xfrm>
            <a:off x="8613648" y="4343400"/>
            <a:ext cx="2862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$397 · 0 clicks · 12.4% view rate</a:t>
            </a:r>
            <a:endParaRPr lang="en-US" sz="950" dirty="0"/>
          </a:p>
        </p:txBody>
      </p:sp>
      <p:sp>
        <p:nvSpPr>
          <p:cNvPr id="49" name="text-327"/>
          <p:cNvSpPr txBox="1"/>
          <p:nvPr/>
        </p:nvSpPr>
        <p:spPr>
          <a:xfrm>
            <a:off x="8229600" y="4736592"/>
            <a:ext cx="3227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chemeClr val="accent5"/>
                </a:solidFill>
              </a:rPr>
              <a:t>High spend with weak views or no clicks</a:t>
            </a:r>
            <a:endParaRPr lang="en-US" sz="950" dirty="0"/>
          </a:p>
        </p:txBody>
      </p:sp>
      <p:sp>
        <p:nvSpPr>
          <p:cNvPr id="50" name="card-328"/>
          <p:cNvSpPr/>
          <p:nvPr/>
        </p:nvSpPr>
        <p:spPr>
          <a:xfrm>
            <a:off x="548640" y="5193792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/>
        </p:spPr>
      </p:sp>
      <p:sp>
        <p:nvSpPr>
          <p:cNvPr id="51" name="arch-icon-329"/>
          <p:cNvSpPr/>
          <p:nvPr/>
        </p:nvSpPr>
        <p:spPr>
          <a:xfrm>
            <a:off x="685800" y="5349240"/>
            <a:ext cx="548640" cy="548640"/>
          </a:xfrm>
          <a:prstGeom prst="blockArc">
            <a:avLst>
              <a:gd name="adj1" fmla="val 10800000"/>
              <a:gd name="adj2" fmla="val 0"/>
              <a:gd name="adj3" fmla="val 16000"/>
            </a:avLst>
          </a:prstGeom>
          <a:solidFill>
            <a:schemeClr val="accent2"/>
          </a:solidFill>
          <a:ln/>
        </p:spPr>
      </p:sp>
      <p:sp>
        <p:nvSpPr>
          <p:cNvPr id="52" name="text-330"/>
          <p:cNvSpPr txBox="1"/>
          <p:nvPr/>
        </p:nvSpPr>
        <p:spPr>
          <a:xfrm>
            <a:off x="1371600" y="5230368"/>
            <a:ext cx="101498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tx1"/>
                </a:solidFill>
              </a:rPr>
              <a:t>Pattern: </a:t>
            </a:r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ads with "inf" (influencer) in the name – 3 Q3 chicken-offer ads, $1.9K – averaged a 35.0% view rate vs 18.1% for the account. The biggest single-ad budgets (McChicken value, McCafé) had the weakest view rates.</a:t>
            </a:r>
            <a:endParaRPr lang="en-US" sz="1150" dirty="0"/>
          </a:p>
        </p:txBody>
      </p:sp>
      <p:sp>
        <p:nvSpPr>
          <p:cNvPr id="53" name="text-331"/>
          <p:cNvSpPr txBox="1"/>
          <p:nvPr/>
        </p:nvSpPr>
        <p:spPr>
          <a:xfrm>
            <a:off x="548640" y="6108192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00" dirty="0">
                <a:solidFill>
                  <a:schemeClr val="accent5"/>
                </a:solidFill>
              </a:rPr>
              <a:t>Source: TikTok Ads Manager ad-level exports – BEFORE 1 Apr–30 Jun 2026 (47 active ads), AFTER 1 Jul–30 Sep 2026 (51 active ads). Rates recalculated from totals (weighted), not averaged. Rankings use ads with ≥1M impressions. Creative content is not inferred from ad names.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chemeClr val="accent1"/>
                </a:solidFill>
              </a:rPr>
              <a:t>KEY WINS &amp; OPPORTUNITIES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94944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Scorecard: what improved after July 1 – and what needs fixing in Q4</a:t>
            </a:r>
            <a:endParaRPr lang="en-US" sz="2600" dirty="0"/>
          </a:p>
        </p:txBody>
      </p:sp>
      <p:sp>
        <p:nvSpPr>
          <p:cNvPr id="4" name="arch-motif-332"/>
          <p:cNvSpPr/>
          <p:nvPr/>
        </p:nvSpPr>
        <p:spPr>
          <a:xfrm>
            <a:off x="11137392" y="384048"/>
            <a:ext cx="512064" cy="512064"/>
          </a:xfrm>
          <a:prstGeom prst="blockArc">
            <a:avLst>
              <a:gd name="adj1" fmla="val 10800000"/>
              <a:gd name="adj2" fmla="val 0"/>
              <a:gd name="adj3" fmla="val 16000"/>
            </a:avLst>
          </a:prstGeom>
          <a:solidFill>
            <a:schemeClr val="accent2"/>
          </a:solidFill>
          <a:ln/>
        </p:spPr>
      </p:sp>
      <p:sp>
        <p:nvSpPr>
          <p:cNvPr id="5" name="card-333"/>
          <p:cNvSpPr/>
          <p:nvPr/>
        </p:nvSpPr>
        <p:spPr>
          <a:xfrm>
            <a:off x="548640" y="1737360"/>
            <a:ext cx="5404104" cy="4315968"/>
          </a:xfrm>
          <a:prstGeom prst="roundRect">
            <a:avLst>
              <a:gd name="adj" fmla="val 2542"/>
            </a:avLst>
          </a:prstGeom>
          <a:solidFill>
            <a:schemeClr val="bg2"/>
          </a:solidFill>
          <a:ln/>
        </p:spPr>
      </p:sp>
      <p:sp>
        <p:nvSpPr>
          <p:cNvPr id="6" name="text-334"/>
          <p:cNvSpPr txBox="1"/>
          <p:nvPr/>
        </p:nvSpPr>
        <p:spPr>
          <a:xfrm>
            <a:off x="777240" y="1856232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4"/>
                </a:solidFill>
              </a:rPr>
              <a:t>KEY WINS AFTER JULY 1</a:t>
            </a:r>
            <a:endParaRPr lang="en-US" sz="1100" dirty="0"/>
          </a:p>
        </p:txBody>
      </p:sp>
      <p:sp>
        <p:nvSpPr>
          <p:cNvPr id="7" name="text-335"/>
          <p:cNvSpPr txBox="1"/>
          <p:nvPr/>
        </p:nvSpPr>
        <p:spPr>
          <a:xfrm>
            <a:off x="777240" y="2212848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4"/>
                </a:solidFill>
              </a:rPr>
              <a:t>+14%</a:t>
            </a:r>
            <a:endParaRPr lang="en-US" sz="2200" dirty="0"/>
          </a:p>
        </p:txBody>
      </p:sp>
      <p:sp>
        <p:nvSpPr>
          <p:cNvPr id="8" name="text-336"/>
          <p:cNvSpPr txBox="1"/>
          <p:nvPr/>
        </p:nvSpPr>
        <p:spPr>
          <a:xfrm>
            <a:off x="777240" y="2596896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accent5"/>
                </a:solidFill>
              </a:rPr>
              <a:t>unique reach</a:t>
            </a:r>
            <a:endParaRPr lang="en-US" sz="950" dirty="0"/>
          </a:p>
        </p:txBody>
      </p:sp>
      <p:sp>
        <p:nvSpPr>
          <p:cNvPr id="9" name="text-337"/>
          <p:cNvSpPr txBox="1"/>
          <p:nvPr/>
        </p:nvSpPr>
        <p:spPr>
          <a:xfrm>
            <a:off x="2468880" y="2258568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4.93M → 5.63M people on −10% spend</a:t>
            </a:r>
            <a:endParaRPr lang="en-US" sz="1150" dirty="0"/>
          </a:p>
        </p:txBody>
      </p:sp>
      <p:sp>
        <p:nvSpPr>
          <p:cNvPr id="10" name="text-338"/>
          <p:cNvSpPr txBox="1"/>
          <p:nvPr/>
        </p:nvSpPr>
        <p:spPr>
          <a:xfrm>
            <a:off x="777240" y="297180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4"/>
                </a:solidFill>
              </a:rPr>
              <a:t>−21%</a:t>
            </a:r>
            <a:endParaRPr lang="en-US" sz="2200" dirty="0"/>
          </a:p>
        </p:txBody>
      </p:sp>
      <p:sp>
        <p:nvSpPr>
          <p:cNvPr id="11" name="text-339"/>
          <p:cNvSpPr txBox="1"/>
          <p:nvPr/>
        </p:nvSpPr>
        <p:spPr>
          <a:xfrm>
            <a:off x="777240" y="3355848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accent5"/>
                </a:solidFill>
              </a:rPr>
              <a:t>cost / 1,000 reached</a:t>
            </a:r>
            <a:endParaRPr lang="en-US" sz="950" dirty="0"/>
          </a:p>
        </p:txBody>
      </p:sp>
      <p:sp>
        <p:nvSpPr>
          <p:cNvPr id="12" name="text-340"/>
          <p:cNvSpPr txBox="1"/>
          <p:nvPr/>
        </p:nvSpPr>
        <p:spPr>
          <a:xfrm>
            <a:off x="2468880" y="3017520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$5.53 → $4.36 per 1,000 unique people</a:t>
            </a:r>
            <a:endParaRPr lang="en-US" sz="1150" dirty="0"/>
          </a:p>
        </p:txBody>
      </p:sp>
      <p:sp>
        <p:nvSpPr>
          <p:cNvPr id="13" name="text-341"/>
          <p:cNvSpPr txBox="1"/>
          <p:nvPr/>
        </p:nvSpPr>
        <p:spPr>
          <a:xfrm>
            <a:off x="777240" y="3730752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4"/>
                </a:solidFill>
              </a:rPr>
              <a:t>−22%</a:t>
            </a:r>
            <a:endParaRPr lang="en-US" sz="2200" dirty="0"/>
          </a:p>
        </p:txBody>
      </p:sp>
      <p:sp>
        <p:nvSpPr>
          <p:cNvPr id="14" name="text-342"/>
          <p:cNvSpPr txBox="1"/>
          <p:nvPr/>
        </p:nvSpPr>
        <p:spPr>
          <a:xfrm>
            <a:off x="777240" y="411480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accent5"/>
                </a:solidFill>
              </a:rPr>
              <a:t>frequency</a:t>
            </a:r>
            <a:endParaRPr lang="en-US" sz="950" dirty="0"/>
          </a:p>
        </p:txBody>
      </p:sp>
      <p:sp>
        <p:nvSpPr>
          <p:cNvPr id="15" name="text-343"/>
          <p:cNvSpPr txBox="1"/>
          <p:nvPr/>
        </p:nvSpPr>
        <p:spPr>
          <a:xfrm>
            <a:off x="2468880" y="3776472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21.4 → 16.6 impressions per person – less repetition</a:t>
            </a:r>
            <a:endParaRPr lang="en-US" sz="1150" dirty="0"/>
          </a:p>
        </p:txBody>
      </p:sp>
      <p:sp>
        <p:nvSpPr>
          <p:cNvPr id="16" name="text-344"/>
          <p:cNvSpPr txBox="1"/>
          <p:nvPr/>
        </p:nvSpPr>
        <p:spPr>
          <a:xfrm>
            <a:off x="777240" y="4489704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4"/>
                </a:solidFill>
              </a:rPr>
              <a:t>$0.78</a:t>
            </a:r>
            <a:endParaRPr lang="en-US" sz="2200" dirty="0"/>
          </a:p>
        </p:txBody>
      </p:sp>
      <p:sp>
        <p:nvSpPr>
          <p:cNvPr id="17" name="text-345"/>
          <p:cNvSpPr txBox="1"/>
          <p:nvPr/>
        </p:nvSpPr>
        <p:spPr>
          <a:xfrm>
            <a:off x="777240" y="487375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accent5"/>
                </a:solidFill>
              </a:rPr>
              <a:t>per 1,000 views</a:t>
            </a:r>
            <a:endParaRPr lang="en-US" sz="950" dirty="0"/>
          </a:p>
        </p:txBody>
      </p:sp>
      <p:sp>
        <p:nvSpPr>
          <p:cNvPr id="18" name="text-346"/>
          <p:cNvSpPr txBox="1"/>
          <p:nvPr/>
        </p:nvSpPr>
        <p:spPr>
          <a:xfrm>
            <a:off x="2468880" y="4535424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New Video views campaigns: 41% view rate, 2.7M views</a:t>
            </a:r>
            <a:endParaRPr lang="en-US" sz="1150" dirty="0"/>
          </a:p>
        </p:txBody>
      </p:sp>
      <p:sp>
        <p:nvSpPr>
          <p:cNvPr id="19" name="text-347"/>
          <p:cNvSpPr txBox="1"/>
          <p:nvPr/>
        </p:nvSpPr>
        <p:spPr>
          <a:xfrm>
            <a:off x="777240" y="5248656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4"/>
                </a:solidFill>
              </a:rPr>
              <a:t>−27%</a:t>
            </a:r>
            <a:endParaRPr lang="en-US" sz="2200" dirty="0"/>
          </a:p>
        </p:txBody>
      </p:sp>
      <p:sp>
        <p:nvSpPr>
          <p:cNvPr id="20" name="text-348"/>
          <p:cNvSpPr txBox="1"/>
          <p:nvPr/>
        </p:nvSpPr>
        <p:spPr>
          <a:xfrm>
            <a:off x="777240" y="5632704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accent5"/>
                </a:solidFill>
              </a:rPr>
              <a:t>Grimace reach cost</a:t>
            </a:r>
            <a:endParaRPr lang="en-US" sz="950" dirty="0"/>
          </a:p>
        </p:txBody>
      </p:sp>
      <p:sp>
        <p:nvSpPr>
          <p:cNvPr id="21" name="text-349"/>
          <p:cNvSpPr txBox="1"/>
          <p:nvPr/>
        </p:nvSpPr>
        <p:spPr>
          <a:xfrm>
            <a:off x="2468880" y="5294376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Mixology −28%; product-led structure, 24 audience ad groups</a:t>
            </a:r>
            <a:endParaRPr lang="en-US" sz="1150" dirty="0"/>
          </a:p>
        </p:txBody>
      </p:sp>
      <p:sp>
        <p:nvSpPr>
          <p:cNvPr id="22" name="card-350"/>
          <p:cNvSpPr/>
          <p:nvPr/>
        </p:nvSpPr>
        <p:spPr>
          <a:xfrm>
            <a:off x="6236208" y="1737360"/>
            <a:ext cx="5404104" cy="4315968"/>
          </a:xfrm>
          <a:prstGeom prst="roundRect">
            <a:avLst>
              <a:gd name="adj" fmla="val 2542"/>
            </a:avLst>
          </a:prstGeom>
          <a:solidFill>
            <a:schemeClr val="accent6"/>
          </a:solidFill>
          <a:ln/>
        </p:spPr>
      </p:sp>
      <p:sp>
        <p:nvSpPr>
          <p:cNvPr id="23" name="text-351"/>
          <p:cNvSpPr txBox="1"/>
          <p:nvPr/>
        </p:nvSpPr>
        <p:spPr>
          <a:xfrm>
            <a:off x="6464808" y="1856232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OPPORTUNITIES &amp; LEARNINGS</a:t>
            </a:r>
            <a:endParaRPr lang="en-US" sz="1100" dirty="0"/>
          </a:p>
        </p:txBody>
      </p:sp>
      <p:sp>
        <p:nvSpPr>
          <p:cNvPr id="24" name="text-352"/>
          <p:cNvSpPr txBox="1"/>
          <p:nvPr/>
        </p:nvSpPr>
        <p:spPr>
          <a:xfrm>
            <a:off x="6464808" y="2212848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+29%</a:t>
            </a:r>
            <a:endParaRPr lang="en-US" sz="2200" dirty="0"/>
          </a:p>
        </p:txBody>
      </p:sp>
      <p:sp>
        <p:nvSpPr>
          <p:cNvPr id="25" name="text-353"/>
          <p:cNvSpPr txBox="1"/>
          <p:nvPr/>
        </p:nvSpPr>
        <p:spPr>
          <a:xfrm>
            <a:off x="6464808" y="2596896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accent5"/>
                </a:solidFill>
              </a:rPr>
              <a:t>cost / 1K views</a:t>
            </a:r>
            <a:endParaRPr lang="en-US" sz="950" dirty="0"/>
          </a:p>
        </p:txBody>
      </p:sp>
      <p:sp>
        <p:nvSpPr>
          <p:cNvPr id="26" name="text-354"/>
          <p:cNvSpPr txBox="1"/>
          <p:nvPr/>
        </p:nvSpPr>
        <p:spPr>
          <a:xfrm>
            <a:off x="8156448" y="2258568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View rate 22.9% → 18.1%; 2-sec views −30%</a:t>
            </a:r>
            <a:endParaRPr lang="en-US" sz="1150" dirty="0"/>
          </a:p>
        </p:txBody>
      </p:sp>
      <p:sp>
        <p:nvSpPr>
          <p:cNvPr id="27" name="text-355"/>
          <p:cNvSpPr txBox="1"/>
          <p:nvPr/>
        </p:nvSpPr>
        <p:spPr>
          <a:xfrm>
            <a:off x="6464808" y="297180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$6.3K</a:t>
            </a:r>
            <a:endParaRPr lang="en-US" sz="2200" dirty="0"/>
          </a:p>
        </p:txBody>
      </p:sp>
      <p:sp>
        <p:nvSpPr>
          <p:cNvPr id="28" name="text-356"/>
          <p:cNvSpPr txBox="1"/>
          <p:nvPr/>
        </p:nvSpPr>
        <p:spPr>
          <a:xfrm>
            <a:off x="6464808" y="3355848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accent5"/>
                </a:solidFill>
              </a:rPr>
              <a:t>in 3 low-view ads</a:t>
            </a:r>
            <a:endParaRPr lang="en-US" sz="950" dirty="0"/>
          </a:p>
        </p:txBody>
      </p:sp>
      <p:sp>
        <p:nvSpPr>
          <p:cNvPr id="29" name="text-357"/>
          <p:cNvSpPr txBox="1"/>
          <p:nvPr/>
        </p:nvSpPr>
        <p:spPr>
          <a:xfrm>
            <a:off x="8156448" y="3017520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McChicken value + 2 McCafé ads: 7.0% view rate, frequency 2.7–3.3</a:t>
            </a:r>
            <a:endParaRPr lang="en-US" sz="1150" dirty="0"/>
          </a:p>
        </p:txBody>
      </p:sp>
      <p:sp>
        <p:nvSpPr>
          <p:cNvPr id="30" name="text-358"/>
          <p:cNvSpPr txBox="1"/>
          <p:nvPr/>
        </p:nvSpPr>
        <p:spPr>
          <a:xfrm>
            <a:off x="6464808" y="3730752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+9%</a:t>
            </a:r>
            <a:endParaRPr lang="en-US" sz="2200" dirty="0"/>
          </a:p>
        </p:txBody>
      </p:sp>
      <p:sp>
        <p:nvSpPr>
          <p:cNvPr id="31" name="text-359"/>
          <p:cNvSpPr txBox="1"/>
          <p:nvPr/>
        </p:nvSpPr>
        <p:spPr>
          <a:xfrm>
            <a:off x="6464808" y="411480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accent5"/>
                </a:solidFill>
              </a:rPr>
              <a:t>CPC</a:t>
            </a:r>
            <a:endParaRPr lang="en-US" sz="950" dirty="0"/>
          </a:p>
        </p:txBody>
      </p:sp>
      <p:sp>
        <p:nvSpPr>
          <p:cNvPr id="32" name="text-360"/>
          <p:cNvSpPr txBox="1"/>
          <p:nvPr/>
        </p:nvSpPr>
        <p:spPr>
          <a:xfrm>
            <a:off x="8156448" y="3776472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CTR 0.234% → 0.219%; clicks −17%</a:t>
            </a:r>
            <a:endParaRPr lang="en-US" sz="1150" dirty="0"/>
          </a:p>
        </p:txBody>
      </p:sp>
      <p:sp>
        <p:nvSpPr>
          <p:cNvPr id="33" name="text-361"/>
          <p:cNvSpPr txBox="1"/>
          <p:nvPr/>
        </p:nvSpPr>
        <p:spPr>
          <a:xfrm>
            <a:off x="6464808" y="4489704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$1.9K</a:t>
            </a:r>
            <a:endParaRPr lang="en-US" sz="2200" dirty="0"/>
          </a:p>
        </p:txBody>
      </p:sp>
      <p:sp>
        <p:nvSpPr>
          <p:cNvPr id="34" name="text-362"/>
          <p:cNvSpPr txBox="1"/>
          <p:nvPr/>
        </p:nvSpPr>
        <p:spPr>
          <a:xfrm>
            <a:off x="6464808" y="487375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accent5"/>
                </a:solidFill>
              </a:rPr>
              <a:t>with 0–1 clicks</a:t>
            </a:r>
            <a:endParaRPr lang="en-US" sz="950" dirty="0"/>
          </a:p>
        </p:txBody>
      </p:sp>
      <p:sp>
        <p:nvSpPr>
          <p:cNvPr id="35" name="text-363"/>
          <p:cNvSpPr txBox="1"/>
          <p:nvPr/>
        </p:nvSpPr>
        <p:spPr>
          <a:xfrm>
            <a:off x="8156448" y="4535424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6 ads incl. Spiderman launch, Generic video, Nizami Mall opening</a:t>
            </a:r>
            <a:endParaRPr lang="en-US" sz="1150" dirty="0"/>
          </a:p>
        </p:txBody>
      </p:sp>
      <p:sp>
        <p:nvSpPr>
          <p:cNvPr id="36" name="text-364"/>
          <p:cNvSpPr txBox="1"/>
          <p:nvPr/>
        </p:nvSpPr>
        <p:spPr>
          <a:xfrm>
            <a:off x="6464808" y="5248656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2.5×</a:t>
            </a:r>
            <a:endParaRPr lang="en-US" sz="2200" dirty="0"/>
          </a:p>
        </p:txBody>
      </p:sp>
      <p:sp>
        <p:nvSpPr>
          <p:cNvPr id="37" name="text-365"/>
          <p:cNvSpPr txBox="1"/>
          <p:nvPr/>
        </p:nvSpPr>
        <p:spPr>
          <a:xfrm>
            <a:off x="6464808" y="5632704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accent5"/>
                </a:solidFill>
              </a:rPr>
              <a:t>iOS vs Android</a:t>
            </a:r>
            <a:endParaRPr lang="en-US" sz="950" dirty="0"/>
          </a:p>
        </p:txBody>
      </p:sp>
      <p:sp>
        <p:nvSpPr>
          <p:cNvPr id="38" name="text-366"/>
          <p:cNvSpPr txBox="1"/>
          <p:nvPr/>
        </p:nvSpPr>
        <p:spPr>
          <a:xfrm>
            <a:off x="8156448" y="5294376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Cost per person reached for the same chicken creative</a:t>
            </a:r>
            <a:endParaRPr lang="en-US" sz="1150" dirty="0"/>
          </a:p>
        </p:txBody>
      </p:sp>
      <p:sp>
        <p:nvSpPr>
          <p:cNvPr id="39" name="text-367"/>
          <p:cNvSpPr txBox="1"/>
          <p:nvPr/>
        </p:nvSpPr>
        <p:spPr>
          <a:xfrm>
            <a:off x="548640" y="6108192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00" dirty="0">
                <a:solidFill>
                  <a:schemeClr val="accent5"/>
                </a:solidFill>
              </a:rPr>
              <a:t>Source: TikTok Ads Manager ad-level exports – BEFORE 1 Apr–30 Jun 2026 (47 active ads), AFTER 1 Jul–30 Sep 2026 (51 active ads). Rates recalculated from totals (weighted), not averaged.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chemeClr val="accent1"/>
                </a:solidFill>
              </a:rPr>
              <a:t>Q4 RECOMMENDATIONS · NEXT STEPS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94944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Q4 priorities: keep the reach efficiency, win back video views and clicks</a:t>
            </a:r>
            <a:endParaRPr lang="en-US" sz="2600" dirty="0"/>
          </a:p>
        </p:txBody>
      </p:sp>
      <p:sp>
        <p:nvSpPr>
          <p:cNvPr id="4" name="arch-motif-368"/>
          <p:cNvSpPr/>
          <p:nvPr/>
        </p:nvSpPr>
        <p:spPr>
          <a:xfrm>
            <a:off x="11137392" y="384048"/>
            <a:ext cx="512064" cy="512064"/>
          </a:xfrm>
          <a:prstGeom prst="blockArc">
            <a:avLst>
              <a:gd name="adj1" fmla="val 10800000"/>
              <a:gd name="adj2" fmla="val 0"/>
              <a:gd name="adj3" fmla="val 16000"/>
            </a:avLst>
          </a:prstGeom>
          <a:solidFill>
            <a:schemeClr val="accent2"/>
          </a:solidFill>
          <a:ln/>
        </p:spPr>
      </p:sp>
      <p:sp>
        <p:nvSpPr>
          <p:cNvPr id="5" name="card-369"/>
          <p:cNvSpPr/>
          <p:nvPr/>
        </p:nvSpPr>
        <p:spPr>
          <a:xfrm>
            <a:off x="548640" y="1783080"/>
            <a:ext cx="3593592" cy="2029968"/>
          </a:xfrm>
          <a:prstGeom prst="roundRect">
            <a:avLst>
              <a:gd name="adj" fmla="val 5405"/>
            </a:avLst>
          </a:prstGeom>
          <a:solidFill>
            <a:schemeClr val="accent6"/>
          </a:solidFill>
          <a:ln/>
        </p:spPr>
      </p:sp>
      <p:sp>
        <p:nvSpPr>
          <p:cNvPr id="6" name="num-370"/>
          <p:cNvSpPr txBox="1"/>
          <p:nvPr/>
        </p:nvSpPr>
        <p:spPr>
          <a:xfrm>
            <a:off x="749808" y="1984248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-371"/>
          <p:cNvSpPr txBox="1"/>
          <p:nvPr/>
        </p:nvSpPr>
        <p:spPr>
          <a:xfrm>
            <a:off x="1325880" y="1965960"/>
            <a:ext cx="26334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Fix the low-view, high-budget Reach ads</a:t>
            </a:r>
            <a:endParaRPr lang="en-US" sz="1400" dirty="0"/>
          </a:p>
        </p:txBody>
      </p:sp>
      <p:sp>
        <p:nvSpPr>
          <p:cNvPr id="8" name="text-372"/>
          <p:cNvSpPr txBox="1"/>
          <p:nvPr/>
        </p:nvSpPr>
        <p:spPr>
          <a:xfrm>
            <a:off x="749808" y="2606040"/>
            <a:ext cx="319125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Three ads took 26% of Q3 spend at a 7.0% view rate (rest of account 21.7%). Rotate in stronger creatives and cap single-ad budgets.</a:t>
            </a:r>
            <a:endParaRPr lang="en-US" sz="1100" dirty="0"/>
          </a:p>
        </p:txBody>
      </p:sp>
      <p:sp>
        <p:nvSpPr>
          <p:cNvPr id="9" name="card-373"/>
          <p:cNvSpPr/>
          <p:nvPr/>
        </p:nvSpPr>
        <p:spPr>
          <a:xfrm>
            <a:off x="4297680" y="1783080"/>
            <a:ext cx="3593592" cy="2029968"/>
          </a:xfrm>
          <a:prstGeom prst="roundRect">
            <a:avLst>
              <a:gd name="adj" fmla="val 5405"/>
            </a:avLst>
          </a:prstGeom>
          <a:solidFill>
            <a:schemeClr val="accent6"/>
          </a:solidFill>
          <a:ln/>
        </p:spPr>
      </p:sp>
      <p:sp>
        <p:nvSpPr>
          <p:cNvPr id="10" name="num-374"/>
          <p:cNvSpPr txBox="1"/>
          <p:nvPr/>
        </p:nvSpPr>
        <p:spPr>
          <a:xfrm>
            <a:off x="4498848" y="1984248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text-375"/>
          <p:cNvSpPr txBox="1"/>
          <p:nvPr/>
        </p:nvSpPr>
        <p:spPr>
          <a:xfrm>
            <a:off x="5074920" y="1965960"/>
            <a:ext cx="26334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Cap frequency on Reach flights</a:t>
            </a:r>
            <a:endParaRPr lang="en-US" sz="1400" dirty="0"/>
          </a:p>
        </p:txBody>
      </p:sp>
      <p:sp>
        <p:nvSpPr>
          <p:cNvPr id="12" name="text-376"/>
          <p:cNvSpPr txBox="1"/>
          <p:nvPr/>
        </p:nvSpPr>
        <p:spPr>
          <a:xfrm>
            <a:off x="4498848" y="2606040"/>
            <a:ext cx="319125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Across Q3 Reach ads, higher frequency went with higher cost per person reached. McChicken value (3.3) and McCafé (2.7) cost $1.07 and $0.63 per 1,000 vs $0.39 average.</a:t>
            </a:r>
            <a:endParaRPr lang="en-US" sz="1100" dirty="0"/>
          </a:p>
        </p:txBody>
      </p:sp>
      <p:sp>
        <p:nvSpPr>
          <p:cNvPr id="13" name="card-377"/>
          <p:cNvSpPr/>
          <p:nvPr/>
        </p:nvSpPr>
        <p:spPr>
          <a:xfrm>
            <a:off x="8046720" y="1783080"/>
            <a:ext cx="3593592" cy="2029968"/>
          </a:xfrm>
          <a:prstGeom prst="roundRect">
            <a:avLst>
              <a:gd name="adj" fmla="val 5405"/>
            </a:avLst>
          </a:prstGeom>
          <a:solidFill>
            <a:schemeClr val="accent6"/>
          </a:solidFill>
          <a:ln/>
        </p:spPr>
      </p:sp>
      <p:sp>
        <p:nvSpPr>
          <p:cNvPr id="14" name="num-378"/>
          <p:cNvSpPr txBox="1"/>
          <p:nvPr/>
        </p:nvSpPr>
        <p:spPr>
          <a:xfrm>
            <a:off x="8247888" y="1984248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text-379"/>
          <p:cNvSpPr txBox="1"/>
          <p:nvPr/>
        </p:nvSpPr>
        <p:spPr>
          <a:xfrm>
            <a:off x="8823960" y="1965960"/>
            <a:ext cx="26334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Audit click destinations</a:t>
            </a:r>
            <a:endParaRPr lang="en-US" sz="1400" dirty="0"/>
          </a:p>
        </p:txBody>
      </p:sp>
      <p:sp>
        <p:nvSpPr>
          <p:cNvPr id="16" name="text-380"/>
          <p:cNvSpPr txBox="1"/>
          <p:nvPr/>
        </p:nvSpPr>
        <p:spPr>
          <a:xfrm>
            <a:off x="8247888" y="2606040"/>
            <a:ext cx="319125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$1.9K went to ads that recorded 0–1 clicks. Confirm each Reach and Video views ad carries a CTA and landing page before launch.</a:t>
            </a:r>
            <a:endParaRPr lang="en-US" sz="1100" dirty="0"/>
          </a:p>
        </p:txBody>
      </p:sp>
      <p:sp>
        <p:nvSpPr>
          <p:cNvPr id="17" name="card-381"/>
          <p:cNvSpPr/>
          <p:nvPr/>
        </p:nvSpPr>
        <p:spPr>
          <a:xfrm>
            <a:off x="548640" y="3959352"/>
            <a:ext cx="3593592" cy="2029968"/>
          </a:xfrm>
          <a:prstGeom prst="roundRect">
            <a:avLst>
              <a:gd name="adj" fmla="val 5405"/>
            </a:avLst>
          </a:prstGeom>
          <a:solidFill>
            <a:schemeClr val="bg2"/>
          </a:solidFill>
          <a:ln/>
        </p:spPr>
      </p:sp>
      <p:sp>
        <p:nvSpPr>
          <p:cNvPr id="18" name="num-382"/>
          <p:cNvSpPr txBox="1"/>
          <p:nvPr/>
        </p:nvSpPr>
        <p:spPr>
          <a:xfrm>
            <a:off x="749808" y="416052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4</a:t>
            </a:r>
            <a:endParaRPr lang="en-US" sz="1400" dirty="0"/>
          </a:p>
        </p:txBody>
      </p:sp>
      <p:sp>
        <p:nvSpPr>
          <p:cNvPr id="19" name="text-383"/>
          <p:cNvSpPr txBox="1"/>
          <p:nvPr/>
        </p:nvSpPr>
        <p:spPr>
          <a:xfrm>
            <a:off x="1325880" y="4142232"/>
            <a:ext cx="26334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Scale dedicated Video views</a:t>
            </a:r>
            <a:endParaRPr lang="en-US" sz="1400" dirty="0"/>
          </a:p>
        </p:txBody>
      </p:sp>
      <p:sp>
        <p:nvSpPr>
          <p:cNvPr id="20" name="text-384"/>
          <p:cNvSpPr txBox="1"/>
          <p:nvPr/>
        </p:nvSpPr>
        <p:spPr>
          <a:xfrm>
            <a:off x="749808" y="4782312"/>
            <a:ext cx="319125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At $0.78 per 1,000 2-sec views and a 41% view rate, this objective beat Reach ($1.62) for video delivery. Use it for launch videos.</a:t>
            </a:r>
            <a:endParaRPr lang="en-US" sz="1100" dirty="0"/>
          </a:p>
        </p:txBody>
      </p:sp>
      <p:sp>
        <p:nvSpPr>
          <p:cNvPr id="21" name="card-385"/>
          <p:cNvSpPr/>
          <p:nvPr/>
        </p:nvSpPr>
        <p:spPr>
          <a:xfrm>
            <a:off x="4297680" y="3959352"/>
            <a:ext cx="3593592" cy="2029968"/>
          </a:xfrm>
          <a:prstGeom prst="roundRect">
            <a:avLst>
              <a:gd name="adj" fmla="val 5405"/>
            </a:avLst>
          </a:prstGeom>
          <a:solidFill>
            <a:schemeClr val="bg2"/>
          </a:solidFill>
          <a:ln/>
        </p:spPr>
      </p:sp>
      <p:sp>
        <p:nvSpPr>
          <p:cNvPr id="22" name="num-386"/>
          <p:cNvSpPr txBox="1"/>
          <p:nvPr/>
        </p:nvSpPr>
        <p:spPr>
          <a:xfrm>
            <a:off x="4498848" y="416052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5</a:t>
            </a:r>
            <a:endParaRPr lang="en-US" sz="1400" dirty="0"/>
          </a:p>
        </p:txBody>
      </p:sp>
      <p:sp>
        <p:nvSpPr>
          <p:cNvPr id="23" name="text-387"/>
          <p:cNvSpPr txBox="1"/>
          <p:nvPr/>
        </p:nvSpPr>
        <p:spPr>
          <a:xfrm>
            <a:off x="5074920" y="4142232"/>
            <a:ext cx="26334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Rebalance iOS and Android</a:t>
            </a:r>
            <a:endParaRPr lang="en-US" sz="1400" dirty="0"/>
          </a:p>
        </p:txBody>
      </p:sp>
      <p:sp>
        <p:nvSpPr>
          <p:cNvPr id="24" name="text-388"/>
          <p:cNvSpPr txBox="1"/>
          <p:nvPr/>
        </p:nvSpPr>
        <p:spPr>
          <a:xfrm>
            <a:off x="4498848" y="4782312"/>
            <a:ext cx="319125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The same chicken creative cost $0.78 per 1,000 reached on iOS vs $0.31 on Android. Weight reach budgets toward the cheaper OS unless iOS users are a priority.</a:t>
            </a:r>
            <a:endParaRPr lang="en-US" sz="1100" dirty="0"/>
          </a:p>
        </p:txBody>
      </p:sp>
      <p:sp>
        <p:nvSpPr>
          <p:cNvPr id="25" name="card-389"/>
          <p:cNvSpPr/>
          <p:nvPr/>
        </p:nvSpPr>
        <p:spPr>
          <a:xfrm>
            <a:off x="8046720" y="3959352"/>
            <a:ext cx="3593592" cy="2029968"/>
          </a:xfrm>
          <a:prstGeom prst="roundRect">
            <a:avLst>
              <a:gd name="adj" fmla="val 5405"/>
            </a:avLst>
          </a:prstGeom>
          <a:solidFill>
            <a:schemeClr val="bg2"/>
          </a:solidFill>
          <a:ln/>
        </p:spPr>
      </p:sp>
      <p:sp>
        <p:nvSpPr>
          <p:cNvPr id="26" name="num-390"/>
          <p:cNvSpPr txBox="1"/>
          <p:nvPr/>
        </p:nvSpPr>
        <p:spPr>
          <a:xfrm>
            <a:off x="8247888" y="416052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6</a:t>
            </a:r>
            <a:endParaRPr lang="en-US" sz="1400" dirty="0"/>
          </a:p>
        </p:txBody>
      </p:sp>
      <p:sp>
        <p:nvSpPr>
          <p:cNvPr id="27" name="text-391"/>
          <p:cNvSpPr txBox="1"/>
          <p:nvPr/>
        </p:nvSpPr>
        <p:spPr>
          <a:xfrm>
            <a:off x="8823960" y="4142232"/>
            <a:ext cx="26334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Repeat what worked</a:t>
            </a:r>
            <a:endParaRPr lang="en-US" sz="1400" dirty="0"/>
          </a:p>
        </p:txBody>
      </p:sp>
      <p:sp>
        <p:nvSpPr>
          <p:cNvPr id="28" name="text-392"/>
          <p:cNvSpPr txBox="1"/>
          <p:nvPr/>
        </p:nvSpPr>
        <p:spPr>
          <a:xfrm>
            <a:off x="8247888" y="4782312"/>
            <a:ext cx="319125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Cheddar, Grimace and Mixology formats ($0.20–$0.31 per 1,000) and influencer-led offers (McChicken Sep: 31% view rate). Add 6-sec views and engagement to exports.</a:t>
            </a:r>
            <a:endParaRPr lang="en-US" sz="1100" dirty="0"/>
          </a:p>
        </p:txBody>
      </p:sp>
      <p:sp>
        <p:nvSpPr>
          <p:cNvPr id="29" name="text-393"/>
          <p:cNvSpPr txBox="1"/>
          <p:nvPr/>
        </p:nvSpPr>
        <p:spPr>
          <a:xfrm>
            <a:off x="548640" y="6108192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00" dirty="0">
                <a:solidFill>
                  <a:schemeClr val="accent5"/>
                </a:solidFill>
              </a:rPr>
              <a:t>Red = fix first (largest efficiency loss); gold = build on what works. Frequency and budget caps are proposed starting points, to be validated in Q4.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chemeClr val="accent1"/>
                </a:solidFill>
              </a:rPr>
              <a:t>APPENDIX · DATA &amp; METHODOLOGY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94944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How the numbers were built – and what the exports cannot show</a:t>
            </a:r>
            <a:endParaRPr lang="en-US" sz="2600" dirty="0"/>
          </a:p>
        </p:txBody>
      </p:sp>
      <p:sp>
        <p:nvSpPr>
          <p:cNvPr id="4" name="arch-motif-394"/>
          <p:cNvSpPr/>
          <p:nvPr/>
        </p:nvSpPr>
        <p:spPr>
          <a:xfrm>
            <a:off x="11137392" y="384048"/>
            <a:ext cx="512064" cy="512064"/>
          </a:xfrm>
          <a:prstGeom prst="blockArc">
            <a:avLst>
              <a:gd name="adj1" fmla="val 10800000"/>
              <a:gd name="adj2" fmla="val 0"/>
              <a:gd name="adj3" fmla="val 16000"/>
            </a:avLst>
          </a:prstGeom>
          <a:solidFill>
            <a:schemeClr val="accent2"/>
          </a:solidFill>
          <a:ln/>
        </p:spPr>
      </p:sp>
      <p:sp>
        <p:nvSpPr>
          <p:cNvPr id="5" name="card-395"/>
          <p:cNvSpPr/>
          <p:nvPr/>
        </p:nvSpPr>
        <p:spPr>
          <a:xfrm>
            <a:off x="548640" y="1755648"/>
            <a:ext cx="5404104" cy="969264"/>
          </a:xfrm>
          <a:prstGeom prst="roundRect">
            <a:avLst>
              <a:gd name="adj" fmla="val 11321"/>
            </a:avLst>
          </a:prstGeom>
          <a:solidFill>
            <a:schemeClr val="bg2"/>
          </a:solidFill>
          <a:ln/>
        </p:spPr>
      </p:sp>
      <p:sp>
        <p:nvSpPr>
          <p:cNvPr id="6" name="text-396"/>
          <p:cNvSpPr txBox="1"/>
          <p:nvPr/>
        </p:nvSpPr>
        <p:spPr>
          <a:xfrm>
            <a:off x="749808" y="1847088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Sources</a:t>
            </a:r>
            <a:endParaRPr lang="en-US" sz="1200" dirty="0"/>
          </a:p>
        </p:txBody>
      </p:sp>
      <p:sp>
        <p:nvSpPr>
          <p:cNvPr id="7" name="text-397"/>
          <p:cNvSpPr txBox="1"/>
          <p:nvPr/>
        </p:nvSpPr>
        <p:spPr>
          <a:xfrm>
            <a:off x="749808" y="2103120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Two TikTok Ads Manager exports, one row per ad: BEFORE 101 rows (1 Apr–30 Jun 2026), AFTER 134 rows (1 Jul–30 Sep 2026), same 15 columns, all in USD.</a:t>
            </a:r>
            <a:endParaRPr lang="en-US" sz="1050" dirty="0"/>
          </a:p>
        </p:txBody>
      </p:sp>
      <p:sp>
        <p:nvSpPr>
          <p:cNvPr id="8" name="card-398"/>
          <p:cNvSpPr/>
          <p:nvPr/>
        </p:nvSpPr>
        <p:spPr>
          <a:xfrm>
            <a:off x="548640" y="2834640"/>
            <a:ext cx="5404104" cy="969264"/>
          </a:xfrm>
          <a:prstGeom prst="roundRect">
            <a:avLst>
              <a:gd name="adj" fmla="val 11321"/>
            </a:avLst>
          </a:prstGeom>
          <a:solidFill>
            <a:srgbClr val="FFFFFF"/>
          </a:solidFill>
          <a:ln/>
        </p:spPr>
      </p:sp>
      <p:sp>
        <p:nvSpPr>
          <p:cNvPr id="9" name="text-399"/>
          <p:cNvSpPr txBox="1"/>
          <p:nvPr/>
        </p:nvSpPr>
        <p:spPr>
          <a:xfrm>
            <a:off x="749808" y="2926080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Active ads only</a:t>
            </a:r>
            <a:endParaRPr lang="en-US" sz="1200" dirty="0"/>
          </a:p>
        </p:txBody>
      </p:sp>
      <p:sp>
        <p:nvSpPr>
          <p:cNvPr id="10" name="text-400"/>
          <p:cNvSpPr txBox="1"/>
          <p:nvPr/>
        </p:nvSpPr>
        <p:spPr>
          <a:xfrm>
            <a:off x="749808" y="3182112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54 BEFORE and 83 AFTER rows have zero spend and zero delivery (legacy ads). They are excluded, leaving 47 and 51 active ads.</a:t>
            </a:r>
            <a:endParaRPr lang="en-US" sz="1050" dirty="0"/>
          </a:p>
        </p:txBody>
      </p:sp>
      <p:sp>
        <p:nvSpPr>
          <p:cNvPr id="11" name="card-401"/>
          <p:cNvSpPr/>
          <p:nvPr/>
        </p:nvSpPr>
        <p:spPr>
          <a:xfrm>
            <a:off x="548640" y="3913632"/>
            <a:ext cx="5404104" cy="969264"/>
          </a:xfrm>
          <a:prstGeom prst="roundRect">
            <a:avLst>
              <a:gd name="adj" fmla="val 11321"/>
            </a:avLst>
          </a:prstGeom>
          <a:solidFill>
            <a:schemeClr val="bg2"/>
          </a:solidFill>
          <a:ln/>
        </p:spPr>
      </p:sp>
      <p:sp>
        <p:nvSpPr>
          <p:cNvPr id="12" name="text-402"/>
          <p:cNvSpPr txBox="1"/>
          <p:nvPr/>
        </p:nvSpPr>
        <p:spPr>
          <a:xfrm>
            <a:off x="749808" y="4005072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Validation</a:t>
            </a:r>
            <a:endParaRPr lang="en-US" sz="1200" dirty="0"/>
          </a:p>
        </p:txBody>
      </p:sp>
      <p:sp>
        <p:nvSpPr>
          <p:cNvPr id="13" name="text-403"/>
          <p:cNvSpPr txBox="1"/>
          <p:nvPr/>
        </p:nvSpPr>
        <p:spPr>
          <a:xfrm>
            <a:off x="749808" y="4261104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Active-row sums match each export's Total row exactly for spend, impressions, clicks and 2-sec views. No duplicate or missing values among active ads.</a:t>
            </a:r>
            <a:endParaRPr lang="en-US" sz="1050" dirty="0"/>
          </a:p>
        </p:txBody>
      </p:sp>
      <p:sp>
        <p:nvSpPr>
          <p:cNvPr id="14" name="card-404"/>
          <p:cNvSpPr/>
          <p:nvPr/>
        </p:nvSpPr>
        <p:spPr>
          <a:xfrm>
            <a:off x="548640" y="4992624"/>
            <a:ext cx="5404104" cy="969264"/>
          </a:xfrm>
          <a:prstGeom prst="roundRect">
            <a:avLst>
              <a:gd name="adj" fmla="val 11321"/>
            </a:avLst>
          </a:prstGeom>
          <a:solidFill>
            <a:srgbClr val="FFFFFF"/>
          </a:solidFill>
          <a:ln/>
        </p:spPr>
      </p:sp>
      <p:sp>
        <p:nvSpPr>
          <p:cNvPr id="15" name="text-405"/>
          <p:cNvSpPr txBox="1"/>
          <p:nvPr/>
        </p:nvSpPr>
        <p:spPr>
          <a:xfrm>
            <a:off x="749808" y="5084064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Weighted rates</a:t>
            </a:r>
            <a:endParaRPr lang="en-US" sz="1200" dirty="0"/>
          </a:p>
        </p:txBody>
      </p:sp>
      <p:sp>
        <p:nvSpPr>
          <p:cNvPr id="16" name="text-406"/>
          <p:cNvSpPr txBox="1"/>
          <p:nvPr/>
        </p:nvSpPr>
        <p:spPr>
          <a:xfrm>
            <a:off x="749808" y="5340096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CPM, CTR, CPC, view rate and cost per view are recalculated from summed spend, impressions, clicks and views – never averaged across rows.</a:t>
            </a:r>
            <a:endParaRPr lang="en-US" sz="1050" dirty="0"/>
          </a:p>
        </p:txBody>
      </p:sp>
      <p:sp>
        <p:nvSpPr>
          <p:cNvPr id="17" name="card-407"/>
          <p:cNvSpPr/>
          <p:nvPr/>
        </p:nvSpPr>
        <p:spPr>
          <a:xfrm>
            <a:off x="6236208" y="1755648"/>
            <a:ext cx="5404104" cy="969264"/>
          </a:xfrm>
          <a:prstGeom prst="roundRect">
            <a:avLst>
              <a:gd name="adj" fmla="val 11321"/>
            </a:avLst>
          </a:prstGeom>
          <a:solidFill>
            <a:schemeClr val="bg2"/>
          </a:solidFill>
          <a:ln/>
        </p:spPr>
      </p:sp>
      <p:sp>
        <p:nvSpPr>
          <p:cNvPr id="18" name="text-408"/>
          <p:cNvSpPr txBox="1"/>
          <p:nvPr/>
        </p:nvSpPr>
        <p:spPr>
          <a:xfrm>
            <a:off x="6437376" y="1847088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Reach &amp; frequency</a:t>
            </a:r>
            <a:endParaRPr lang="en-US" sz="1200" dirty="0"/>
          </a:p>
        </p:txBody>
      </p:sp>
      <p:sp>
        <p:nvSpPr>
          <p:cNvPr id="19" name="text-409"/>
          <p:cNvSpPr txBox="1"/>
          <p:nvPr/>
        </p:nvSpPr>
        <p:spPr>
          <a:xfrm>
            <a:off x="6437376" y="2103120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Account reach and frequency use TikTok's de-duplicated Total row. Campaign, ad group and ad comparisons use ad-level reach, which counts a person once per ad.</a:t>
            </a:r>
            <a:endParaRPr lang="en-US" sz="1050" dirty="0"/>
          </a:p>
        </p:txBody>
      </p:sp>
      <p:sp>
        <p:nvSpPr>
          <p:cNvPr id="20" name="card-410"/>
          <p:cNvSpPr/>
          <p:nvPr/>
        </p:nvSpPr>
        <p:spPr>
          <a:xfrm>
            <a:off x="6236208" y="2834640"/>
            <a:ext cx="5404104" cy="969264"/>
          </a:xfrm>
          <a:prstGeom prst="roundRect">
            <a:avLst>
              <a:gd name="adj" fmla="val 11321"/>
            </a:avLst>
          </a:prstGeom>
          <a:solidFill>
            <a:srgbClr val="FFFFFF"/>
          </a:solidFill>
          <a:ln/>
        </p:spPr>
      </p:sp>
      <p:sp>
        <p:nvSpPr>
          <p:cNvPr id="21" name="text-411"/>
          <p:cNvSpPr txBox="1"/>
          <p:nvPr/>
        </p:nvSpPr>
        <p:spPr>
          <a:xfrm>
            <a:off x="6437376" y="2926080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Results</a:t>
            </a:r>
            <a:endParaRPr lang="en-US" sz="1200" dirty="0"/>
          </a:p>
        </p:txBody>
      </p:sp>
      <p:sp>
        <p:nvSpPr>
          <p:cNvPr id="22" name="text-412"/>
          <p:cNvSpPr txBox="1"/>
          <p:nvPr/>
        </p:nvSpPr>
        <p:spPr>
          <a:xfrm>
            <a:off x="6437376" y="3182112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The 'Results' column mixes types (reach, community interactions, video-view results, one app result) without naming them, so results are not summed or compared across objectives.</a:t>
            </a:r>
            <a:endParaRPr lang="en-US" sz="1050" dirty="0"/>
          </a:p>
        </p:txBody>
      </p:sp>
      <p:sp>
        <p:nvSpPr>
          <p:cNvPr id="23" name="card-413"/>
          <p:cNvSpPr/>
          <p:nvPr/>
        </p:nvSpPr>
        <p:spPr>
          <a:xfrm>
            <a:off x="6236208" y="3913632"/>
            <a:ext cx="5404104" cy="969264"/>
          </a:xfrm>
          <a:prstGeom prst="roundRect">
            <a:avLst>
              <a:gd name="adj" fmla="val 11321"/>
            </a:avLst>
          </a:prstGeom>
          <a:solidFill>
            <a:schemeClr val="bg2"/>
          </a:solidFill>
          <a:ln/>
        </p:spPr>
      </p:sp>
      <p:sp>
        <p:nvSpPr>
          <p:cNvPr id="24" name="text-414"/>
          <p:cNvSpPr txBox="1"/>
          <p:nvPr/>
        </p:nvSpPr>
        <p:spPr>
          <a:xfrm>
            <a:off x="6437376" y="4005072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Objectives</a:t>
            </a:r>
            <a:endParaRPr lang="en-US" sz="1200" dirty="0"/>
          </a:p>
        </p:txBody>
      </p:sp>
      <p:sp>
        <p:nvSpPr>
          <p:cNvPr id="25" name="text-415"/>
          <p:cNvSpPr txBox="1"/>
          <p:nvPr/>
        </p:nvSpPr>
        <p:spPr>
          <a:xfrm>
            <a:off x="6437376" y="4261104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Inferred from campaign names and results. Opening_Nizami Mall reports results that differ from reach and is shown as 'objective not labelled'.</a:t>
            </a:r>
            <a:endParaRPr lang="en-US" sz="1050" dirty="0"/>
          </a:p>
        </p:txBody>
      </p:sp>
      <p:sp>
        <p:nvSpPr>
          <p:cNvPr id="26" name="card-416"/>
          <p:cNvSpPr/>
          <p:nvPr/>
        </p:nvSpPr>
        <p:spPr>
          <a:xfrm>
            <a:off x="6236208" y="4992624"/>
            <a:ext cx="5404104" cy="969264"/>
          </a:xfrm>
          <a:prstGeom prst="roundRect">
            <a:avLst>
              <a:gd name="adj" fmla="val 11321"/>
            </a:avLst>
          </a:prstGeom>
          <a:solidFill>
            <a:srgbClr val="FFFFFF"/>
          </a:solidFill>
          <a:ln/>
        </p:spPr>
      </p:sp>
      <p:sp>
        <p:nvSpPr>
          <p:cNvPr id="27" name="text-417"/>
          <p:cNvSpPr txBox="1"/>
          <p:nvPr/>
        </p:nvSpPr>
        <p:spPr>
          <a:xfrm>
            <a:off x="6437376" y="5084064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Not available</a:t>
            </a:r>
            <a:endParaRPr lang="en-US" sz="1200" dirty="0"/>
          </a:p>
        </p:txBody>
      </p:sp>
      <p:sp>
        <p:nvSpPr>
          <p:cNvPr id="28" name="text-418"/>
          <p:cNvSpPr txBox="1"/>
          <p:nvPr/>
        </p:nvSpPr>
        <p:spPr>
          <a:xfrm>
            <a:off x="6437376" y="5340096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No 6-sec views, likes, comments, shares, engagement rate, conversions, time breakdown or placement split. Creative content is not inferred from ad names.</a:t>
            </a:r>
            <a:endParaRPr lang="en-US" sz="1050" dirty="0"/>
          </a:p>
        </p:txBody>
      </p:sp>
      <p:sp>
        <p:nvSpPr>
          <p:cNvPr id="29" name="text-419"/>
          <p:cNvSpPr txBox="1"/>
          <p:nvPr/>
        </p:nvSpPr>
        <p:spPr>
          <a:xfrm>
            <a:off x="548640" y="6108192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00" dirty="0">
                <a:solidFill>
                  <a:schemeClr val="accent5"/>
                </a:solidFill>
              </a:rPr>
              <a:t>Full calculation tables with live formulas: McDonalds_AZ_TikTok_Analysis_Q2_vs_Q3_2026.xlsx.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McDonalds AZ QBR">
      <a:dk1>
        <a:srgbClr val="27251F"/>
      </a:dk1>
      <a:lt1>
        <a:srgbClr val="FFFFFF"/>
      </a:lt1>
      <a:dk2>
        <a:srgbClr val="4A4A4A"/>
      </a:dk2>
      <a:lt2>
        <a:srgbClr val="F6F5F2"/>
      </a:lt2>
      <a:accent1>
        <a:srgbClr val="DA291C"/>
      </a:accent1>
      <a:accent2>
        <a:srgbClr val="FFBC0D"/>
      </a:accent2>
      <a:accent3>
        <a:srgbClr val="C9C9C9"/>
      </a:accent3>
      <a:accent4>
        <a:srgbClr val="2E8540"/>
      </a:accent4>
      <a:accent5>
        <a:srgbClr val="6E6E6E"/>
      </a:accent5>
      <a:accent6>
        <a:srgbClr val="FFF1C7"/>
      </a:accent6>
      <a:hlink>
        <a:srgbClr val="DA291C"/>
      </a:hlink>
      <a:folHlink>
        <a:srgbClr val="9E1B10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McDonald's Azerbaijan – TikTok Performance Review</dc:title>
  <dc:subject>TikTok Ads: April–June vs July–September 2026</dc:subject>
  <dc:creator>Meta media agency</dc:creator>
  <cp:lastModifiedBy>Meta media agency</cp:lastModifiedBy>
  <cp:revision>1</cp:revision>
  <dcterms:created xsi:type="dcterms:W3CDTF">2026-10-08T10:33:37Z</dcterms:created>
  <dcterms:modified xsi:type="dcterms:W3CDTF">2026-10-08T10:33:37Z</dcterms:modified>
</cp:coreProperties>
</file>