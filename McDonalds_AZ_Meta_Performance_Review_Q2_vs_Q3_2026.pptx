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0.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bb6d0ae8-9aa0-c66a-a782-0e343e7c07e6}">
          <p14:sldIdLst>
            <p14:sldId id="256"/>
          </p14:sldIdLst>
        </p14:section>
        <p14:section name="Executive summary" id="{648da074-44ba-0c5b-76ee-da2c98d4a8e5}">
          <p14:sldIdLst>
            <p14:sldId id="257"/>
          </p14:sldIdLst>
        </p14:section>
        <p14:section name="Before vs after" id="{f2492569-5b5d-170b-062a-aed928ef5249}">
          <p14:sldIdLst>
            <p14:sldId id="258"/>
            <p14:sldId id="259"/>
            <p14:sldId id="260"/>
            <p14:sldId id="261"/>
          </p14:sldIdLst>
        </p14:section>
        <p14:section name="Performance deep-dive" id="{60f70bb2-c9e8-f0e1-f9c4-479e55091445}">
          <p14:sldIdLst>
            <p14:sldId id="262"/>
            <p14:sldId id="263"/>
            <p14:sldId id="264"/>
          </p14:sldIdLst>
        </p14:section>
        <p14:section name="Campaign, ad set and creative" id="{56f45855-415c-0465-cb3c-cbfbce70c060}">
          <p14:sldIdLst>
            <p14:sldId id="265"/>
            <p14:sldId id="266"/>
            <p14:sldId id="267"/>
            <p14:sldId id="268"/>
          </p14:sldIdLst>
        </p14:section>
        <p14:section name="Impact and next steps" id="{3bc81eae-9a62-7cc4-fce2-dbcfbc6c008d}">
          <p14:sldIdLst>
            <p14:sldId id="269"/>
            <p14:sldId id="270"/>
          </p14:sldIdLst>
        </p14:section>
        <p14:section name="Appendix" id="{56d3bde6-7326-2a30-80c1-30a760266902}">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Reach</c:v>
                </c:pt>
              </c:strCache>
            </c:strRef>
          </c:tx>
          <c:spPr>
            <a:solidFill>
              <a:srgbClr val="FFBC0D"/>
            </a:solidFill>
            <a:effectLst/>
          </c:spPr>
          <c:invertIfNegative val="0"/>
          <c:dLbls>
            <c:numFmt formatCode="[&gt;=5]0&quot;%&quot;;;;"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Sheet1!$B$2:$B$3</c:f>
              <c:numCache>
                <c:formatCode>General</c:formatCode>
                <c:ptCount val="2"/>
                <c:pt idx="0">
                  <c:v>84.22102167181026</c:v>
                </c:pt>
                <c:pt idx="1">
                  <c:v>75.64147088683437</c:v>
                </c:pt>
              </c:numCache>
            </c:numRef>
          </c:val>
        </c:ser>
        <c:ser>
          <c:idx val="1"/>
          <c:order val="1"/>
          <c:tx>
            <c:strRef>
              <c:f>Sheet1!$C$1</c:f>
              <c:strCache>
                <c:ptCount val="1"/>
                <c:pt idx="0">
                  <c:v>Engagement</c:v>
                </c:pt>
              </c:strCache>
            </c:strRef>
          </c:tx>
          <c:spPr>
            <a:solidFill>
              <a:srgbClr val="DA291C"/>
            </a:solidFill>
            <a:effectLst/>
          </c:spPr>
          <c:invertIfNegative val="0"/>
          <c:dLbls>
            <c:numFmt formatCode="[&gt;=5]0&quot;%&quot;;;;"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Sheet1!$C$2:$C$3</c:f>
              <c:numCache>
                <c:formatCode>General</c:formatCode>
                <c:ptCount val="2"/>
                <c:pt idx="0">
                  <c:v>6.653548910377931</c:v>
                </c:pt>
                <c:pt idx="1">
                  <c:v>14.293788129779362</c:v>
                </c:pt>
              </c:numCache>
            </c:numRef>
          </c:val>
        </c:ser>
        <c:ser>
          <c:idx val="2"/>
          <c:order val="2"/>
          <c:tx>
            <c:strRef>
              <c:f>Sheet1!$D$1</c:f>
              <c:strCache>
                <c:ptCount val="1"/>
                <c:pt idx="0">
                  <c:v>Traffic</c:v>
                </c:pt>
              </c:strCache>
            </c:strRef>
          </c:tx>
          <c:spPr>
            <a:solidFill>
              <a:srgbClr val="27251F"/>
            </a:solidFill>
            <a:effectLst/>
          </c:spPr>
          <c:invertIfNegative val="0"/>
          <c:dLbls>
            <c:numFmt formatCode="[&gt;=5]0&quot;%&quot;;;;"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Sheet1!$D$2:$D$3</c:f>
              <c:numCache>
                <c:formatCode>General</c:formatCode>
                <c:ptCount val="2"/>
                <c:pt idx="0">
                  <c:v>8.477883494642231</c:v>
                </c:pt>
                <c:pt idx="1">
                  <c:v>5.715582981949775</c:v>
                </c:pt>
              </c:numCache>
            </c:numRef>
          </c:val>
        </c:ser>
        <c:ser>
          <c:idx val="3"/>
          <c:order val="3"/>
          <c:tx>
            <c:strRef>
              <c:f>Sheet1!$E$1</c:f>
              <c:strCache>
                <c:ptCount val="1"/>
                <c:pt idx="0">
                  <c:v>Video views</c:v>
                </c:pt>
              </c:strCache>
            </c:strRef>
          </c:tx>
          <c:spPr>
            <a:solidFill>
              <a:srgbClr val="9A9A9A"/>
            </a:solidFill>
            <a:effectLst/>
          </c:spPr>
          <c:invertIfNegative val="0"/>
          <c:dLbls>
            <c:numFmt formatCode="[&gt;=5]0&quot;%&quot;;;;"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Sheet1!$E$2:$E$3</c:f>
              <c:numCache>
                <c:formatCode>General</c:formatCode>
                <c:ptCount val="2"/>
                <c:pt idx="0">
                  <c:v>0.6475459231695941</c:v>
                </c:pt>
                <c:pt idx="1">
                  <c:v>4.159608679549924</c:v>
                </c:pt>
              </c:numCache>
            </c:numRef>
          </c:val>
        </c:ser>
        <c:ser>
          <c:idx val="4"/>
          <c:order val="4"/>
          <c:tx>
            <c:strRef>
              <c:f>Sheet1!$F$1</c:f>
              <c:strCache>
                <c:ptCount val="1"/>
                <c:pt idx="0">
                  <c:v>App installs</c:v>
                </c:pt>
              </c:strCache>
            </c:strRef>
          </c:tx>
          <c:spPr>
            <a:solidFill>
              <a:srgbClr val="D9D9D9"/>
            </a:solidFill>
            <a:effectLst/>
          </c:spPr>
          <c:invertIfNegative val="0"/>
          <c:dLbls>
            <c:numFmt formatCode="[&gt;=5]0&quot;%&quot;;;;"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Sheet1!$F$2:$F$3</c:f>
              <c:numCache>
                <c:formatCode>General</c:formatCode>
                <c:ptCount val="2"/>
                <c:pt idx="0">
                  <c:v>0</c:v>
                </c:pt>
                <c:pt idx="1">
                  <c:v>0.18954932188655546</c:v>
                </c:pt>
              </c:numCache>
            </c:numRef>
          </c:val>
        </c:ser>
        <c:dLbls>
          <c:numFmt formatCode="[&gt;=5]0&quot;%&quot;;;;" sourceLinked="0"/>
          <c:txPr>
            <a:bodyPr/>
            <a:lstStyle/>
            <a:p>
              <a:pPr>
                <a:defRPr b="1" i="0" strike="noStrike" sz="10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1"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E6E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4A4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Improved</c:v>
                </c:pt>
              </c:strCache>
            </c:strRef>
          </c:tx>
          <c:spPr>
            <a:solidFill>
              <a:srgbClr val="2E8540"/>
            </a:solidFill>
            <a:effectLst/>
          </c:spPr>
          <c:invertIfNegative val="0"/>
          <c:dLbls>
            <c:numFmt formatCode="+0&quot;%&quot;;-0&quot;%&quot;;;" sourceLinked="0"/>
            <c:txPr>
              <a:bodyPr/>
              <a:lstStyle/>
              <a:p>
                <a:pPr>
                  <a:defRPr b="1" i="0" strike="noStrike" sz="1100" u="none">
                    <a:solidFill>
                      <a:srgbClr val="27251F"/>
                    </a:solidFill>
                    <a:latin typeface="+mn-lt"/>
                  </a:defRPr>
                </a:pPr>
              </a:p>
            </c:txPr>
            <c:showLegendKey val="0"/>
            <c:showVal val="1"/>
            <c:showCatName val="0"/>
            <c:showSerName val="0"/>
            <c:showPercent val="0"/>
            <c:showBubbleSize val="0"/>
            <c:showLeaderLines val="0"/>
          </c:dLbls>
          <c:cat>
            <c:multiLvlStrRef>
              <c:f>Sheet1!$A$2:$A$11</c:f>
              <c:multiLvlStrCache>
                <c:ptCount val="10"/>
                <c:lvl>
                  <c:pt idx="0">
                    <c:v>Cost per 1,000 3s plays</c:v>
                  </c:pt>
                  <c:pt idx="1">
                    <c:v>Cost per engagement</c:v>
                  </c:pt>
                  <c:pt idx="2">
                    <c:v>CPM</c:v>
                  </c:pt>
                  <c:pt idx="3">
                    <c:v>3s plays per impression</c:v>
                  </c:pt>
                  <c:pt idx="4">
                    <c:v>Engagement rate</c:v>
                  </c:pt>
                  <c:pt idx="5">
                    <c:v>Cost per 1,000 reached</c:v>
                  </c:pt>
                  <c:pt idx="6">
                    <c:v>Frequency</c:v>
                  </c:pt>
                  <c:pt idx="7">
                    <c:v>CPC (link)</c:v>
                  </c:pt>
                  <c:pt idx="8">
                    <c:v>CTR (all)</c:v>
                  </c:pt>
                  <c:pt idx="9">
                    <c:v>Link CTR</c:v>
                  </c:pt>
                </c:lvl>
              </c:multiLvlStrCache>
            </c:multiLvlStrRef>
          </c:cat>
          <c:val>
            <c:numRef>
              <c:f>Sheet1!$B$2:$B$11</c:f>
              <c:numCache>
                <c:formatCode>General</c:formatCode>
                <c:ptCount val="10"/>
                <c:pt idx="0">
                  <c:v>0</c:v>
                </c:pt>
                <c:pt idx="1">
                  <c:v>0</c:v>
                </c:pt>
                <c:pt idx="2">
                  <c:v>0</c:v>
                </c:pt>
                <c:pt idx="3">
                  <c:v>0</c:v>
                </c:pt>
                <c:pt idx="4">
                  <c:v>0</c:v>
                </c:pt>
                <c:pt idx="5">
                  <c:v>0</c:v>
                </c:pt>
                <c:pt idx="6">
                  <c:v>0</c:v>
                </c:pt>
                <c:pt idx="7">
                  <c:v>-13.439921373306671</c:v>
                </c:pt>
                <c:pt idx="8">
                  <c:v>2.5129560086189784</c:v>
                </c:pt>
                <c:pt idx="9">
                  <c:v>47.84489408837234</c:v>
                </c:pt>
              </c:numCache>
            </c:numRef>
          </c:val>
        </c:ser>
        <c:ser>
          <c:idx val="1"/>
          <c:order val="1"/>
          <c:tx>
            <c:strRef>
              <c:f>Sheet1!$C$1</c:f>
              <c:strCache>
                <c:ptCount val="1"/>
                <c:pt idx="0">
                  <c:v>Declined</c:v>
                </c:pt>
              </c:strCache>
            </c:strRef>
          </c:tx>
          <c:spPr>
            <a:solidFill>
              <a:srgbClr val="DA291C"/>
            </a:solidFill>
            <a:effectLst/>
          </c:spPr>
          <c:invertIfNegative val="0"/>
          <c:dLbls>
            <c:numFmt formatCode="+0&quot;%&quot;;-0&quot;%&quot;;;" sourceLinked="0"/>
            <c:txPr>
              <a:bodyPr/>
              <a:lstStyle/>
              <a:p>
                <a:pPr>
                  <a:defRPr b="1" i="0" strike="noStrike" sz="1100" u="none">
                    <a:solidFill>
                      <a:srgbClr val="27251F"/>
                    </a:solidFill>
                    <a:latin typeface="+mn-lt"/>
                  </a:defRPr>
                </a:pPr>
              </a:p>
            </c:txPr>
            <c:showLegendKey val="0"/>
            <c:showVal val="1"/>
            <c:showCatName val="0"/>
            <c:showSerName val="0"/>
            <c:showPercent val="0"/>
            <c:showBubbleSize val="0"/>
            <c:showLeaderLines val="0"/>
          </c:dLbls>
          <c:cat>
            <c:multiLvlStrRef>
              <c:f>Sheet1!$A$2:$A$11</c:f>
              <c:multiLvlStrCache>
                <c:ptCount val="10"/>
                <c:lvl>
                  <c:pt idx="0">
                    <c:v>Cost per 1,000 3s plays</c:v>
                  </c:pt>
                  <c:pt idx="1">
                    <c:v>Cost per engagement</c:v>
                  </c:pt>
                  <c:pt idx="2">
                    <c:v>CPM</c:v>
                  </c:pt>
                  <c:pt idx="3">
                    <c:v>3s plays per impression</c:v>
                  </c:pt>
                  <c:pt idx="4">
                    <c:v>Engagement rate</c:v>
                  </c:pt>
                  <c:pt idx="5">
                    <c:v>Cost per 1,000 reached</c:v>
                  </c:pt>
                  <c:pt idx="6">
                    <c:v>Frequency</c:v>
                  </c:pt>
                  <c:pt idx="7">
                    <c:v>CPC (link)</c:v>
                  </c:pt>
                  <c:pt idx="8">
                    <c:v>CTR (all)</c:v>
                  </c:pt>
                  <c:pt idx="9">
                    <c:v>Link CTR</c:v>
                  </c:pt>
                </c:lvl>
              </c:multiLvlStrCache>
            </c:multiLvlStrRef>
          </c:cat>
          <c:val>
            <c:numRef>
              <c:f>Sheet1!$C$2:$C$11</c:f>
              <c:numCache>
                <c:formatCode>General</c:formatCode>
                <c:ptCount val="10"/>
                <c:pt idx="0">
                  <c:v>36.192066757888966</c:v>
                </c:pt>
                <c:pt idx="1">
                  <c:v>35.218662844518285</c:v>
                </c:pt>
                <c:pt idx="2">
                  <c:v>27.97465656844657</c:v>
                </c:pt>
                <c:pt idx="3">
                  <c:v>-6.033692259073103</c:v>
                </c:pt>
                <c:pt idx="4">
                  <c:v>-5.3572532989778665</c:v>
                </c:pt>
                <c:pt idx="5">
                  <c:v>2.4920897975072096</c:v>
                </c:pt>
                <c:pt idx="6">
                  <c:v>0</c:v>
                </c:pt>
                <c:pt idx="7">
                  <c:v>0</c:v>
                </c:pt>
                <c:pt idx="8">
                  <c:v>0</c:v>
                </c:pt>
                <c:pt idx="9">
                  <c:v>0</c:v>
                </c:pt>
              </c:numCache>
            </c:numRef>
          </c:val>
        </c:ser>
        <c:ser>
          <c:idx val="2"/>
          <c:order val="2"/>
          <c:tx>
            <c:strRef>
              <c:f>Sheet1!$D$1</c:f>
              <c:strCache>
                <c:ptCount val="1"/>
                <c:pt idx="0">
                  <c:v>Context</c:v>
                </c:pt>
              </c:strCache>
            </c:strRef>
          </c:tx>
          <c:spPr>
            <a:solidFill>
              <a:srgbClr val="9A9A9A"/>
            </a:solidFill>
            <a:effectLst/>
          </c:spPr>
          <c:invertIfNegative val="0"/>
          <c:dLbls>
            <c:numFmt formatCode="+0&quot;%&quot;;-0&quot;%&quot;;;" sourceLinked="0"/>
            <c:txPr>
              <a:bodyPr/>
              <a:lstStyle/>
              <a:p>
                <a:pPr>
                  <a:defRPr b="1" i="0" strike="noStrike" sz="1100" u="none">
                    <a:solidFill>
                      <a:srgbClr val="27251F"/>
                    </a:solidFill>
                    <a:latin typeface="+mn-lt"/>
                  </a:defRPr>
                </a:pPr>
              </a:p>
            </c:txPr>
            <c:showLegendKey val="0"/>
            <c:showVal val="1"/>
            <c:showCatName val="0"/>
            <c:showSerName val="0"/>
            <c:showPercent val="0"/>
            <c:showBubbleSize val="0"/>
            <c:showLeaderLines val="0"/>
          </c:dLbls>
          <c:cat>
            <c:multiLvlStrRef>
              <c:f>Sheet1!$A$2:$A$11</c:f>
              <c:multiLvlStrCache>
                <c:ptCount val="10"/>
                <c:lvl>
                  <c:pt idx="0">
                    <c:v>Cost per 1,000 3s plays</c:v>
                  </c:pt>
                  <c:pt idx="1">
                    <c:v>Cost per engagement</c:v>
                  </c:pt>
                  <c:pt idx="2">
                    <c:v>CPM</c:v>
                  </c:pt>
                  <c:pt idx="3">
                    <c:v>3s plays per impression</c:v>
                  </c:pt>
                  <c:pt idx="4">
                    <c:v>Engagement rate</c:v>
                  </c:pt>
                  <c:pt idx="5">
                    <c:v>Cost per 1,000 reached</c:v>
                  </c:pt>
                  <c:pt idx="6">
                    <c:v>Frequency</c:v>
                  </c:pt>
                  <c:pt idx="7">
                    <c:v>CPC (link)</c:v>
                  </c:pt>
                  <c:pt idx="8">
                    <c:v>CTR (all)</c:v>
                  </c:pt>
                  <c:pt idx="9">
                    <c:v>Link CTR</c:v>
                  </c:pt>
                </c:lvl>
              </c:multiLvlStrCache>
            </c:multiLvlStrRef>
          </c:cat>
          <c:val>
            <c:numRef>
              <c:f>Sheet1!$D$2:$D$11</c:f>
              <c:numCache>
                <c:formatCode>General</c:formatCode>
                <c:ptCount val="10"/>
                <c:pt idx="0">
                  <c:v>0</c:v>
                </c:pt>
                <c:pt idx="1">
                  <c:v>0</c:v>
                </c:pt>
                <c:pt idx="2">
                  <c:v>0</c:v>
                </c:pt>
                <c:pt idx="3">
                  <c:v>0</c:v>
                </c:pt>
                <c:pt idx="4">
                  <c:v>0</c:v>
                </c:pt>
                <c:pt idx="5">
                  <c:v>0</c:v>
                </c:pt>
                <c:pt idx="6">
                  <c:v>-19.912197816534196</c:v>
                </c:pt>
                <c:pt idx="7">
                  <c:v>0</c:v>
                </c:pt>
                <c:pt idx="8">
                  <c:v>0</c:v>
                </c:pt>
                <c:pt idx="9">
                  <c:v>0</c:v>
                </c:pt>
              </c:numCache>
            </c:numRef>
          </c:val>
        </c:ser>
        <c:dLbls>
          <c:numFmt formatCode="+0&quot;%&quot;;-0&quot;%&quot;;;" sourceLinked="0"/>
          <c:txPr>
            <a:bodyPr/>
            <a:lstStyle/>
            <a:p>
              <a:pPr>
                <a:defRPr b="1" i="0" strike="noStrike" sz="1100" u="none">
                  <a:solidFill>
                    <a:srgbClr val="27251F"/>
                  </a:solidFill>
                  <a:latin typeface="+mn-lt"/>
                </a:defRPr>
              </a:pPr>
            </a:p>
          </c:txP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100" b="0"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max val="60"/>
          <c:min val="-4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E6E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4A4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Budget</c:v>
                </c:pt>
              </c:strCache>
            </c:strRef>
          </c:tx>
          <c:spPr>
            <a:solidFill>
              <a:srgbClr val="27251F"/>
            </a:solidFill>
            <a:effectLst/>
          </c:spPr>
          <c:invertIfNegative val="0"/>
          <c:dLbls>
            <c:numFmt formatCode="+0&quot;%&quot;;-0&quot;%&quot;;;" sourceLinked="0"/>
            <c:txPr>
              <a:bodyPr/>
              <a:lstStyle/>
              <a:p>
                <a:pPr>
                  <a:defRPr b="1" i="0" strike="noStrike" sz="1200" u="none">
                    <a:solidFill>
                      <a:srgbClr val="27251F"/>
                    </a:solidFill>
                    <a:latin typeface="+mn-lt"/>
                  </a:defRPr>
                </a:pPr>
              </a:p>
            </c:txPr>
            <c:showLegendKey val="0"/>
            <c:showVal val="1"/>
            <c:showCatName val="0"/>
            <c:showSerName val="0"/>
            <c:showPercent val="0"/>
            <c:showBubbleSize val="0"/>
            <c:showLeaderLines val="0"/>
          </c:dLbls>
          <c:cat>
            <c:multiLvlStrRef>
              <c:f>Sheet1!$A$2:$A$7</c:f>
              <c:multiLvlStrCache>
                <c:ptCount val="6"/>
                <c:lvl>
                  <c:pt idx="0">
                    <c:v>Amount spent</c:v>
                  </c:pt>
                  <c:pt idx="1">
                    <c:v>Link clicks</c:v>
                  </c:pt>
                  <c:pt idx="2">
                    <c:v>Reach*</c:v>
                  </c:pt>
                  <c:pt idx="3">
                    <c:v>Impressions</c:v>
                  </c:pt>
                  <c:pt idx="4">
                    <c:v>Post engagements</c:v>
                  </c:pt>
                  <c:pt idx="5">
                    <c:v>3-sec video plays</c:v>
                  </c:pt>
                </c:lvl>
              </c:multiLvlStrCache>
            </c:multiLvlStrRef>
          </c:cat>
          <c:val>
            <c:numRef>
              <c:f>Sheet1!$B$2:$B$7</c:f>
              <c:numCache>
                <c:formatCode>General</c:formatCode>
                <c:ptCount val="6"/>
                <c:pt idx="0">
                  <c:v>33.07396753223047</c:v>
                </c:pt>
                <c:pt idx="1">
                  <c:v>0</c:v>
                </c:pt>
                <c:pt idx="2">
                  <c:v>0</c:v>
                </c:pt>
                <c:pt idx="3">
                  <c:v>0</c:v>
                </c:pt>
                <c:pt idx="4">
                  <c:v>0</c:v>
                </c:pt>
                <c:pt idx="5">
                  <c:v>0</c:v>
                </c:pt>
              </c:numCache>
            </c:numRef>
          </c:val>
        </c:ser>
        <c:ser>
          <c:idx val="1"/>
          <c:order val="1"/>
          <c:tx>
            <c:strRef>
              <c:f>Sheet1!$C$1</c:f>
              <c:strCache>
                <c:ptCount val="1"/>
                <c:pt idx="0">
                  <c:v>Outpaced budget</c:v>
                </c:pt>
              </c:strCache>
            </c:strRef>
          </c:tx>
          <c:spPr>
            <a:solidFill>
              <a:srgbClr val="2E8540"/>
            </a:solidFill>
            <a:effectLst/>
          </c:spPr>
          <c:invertIfNegative val="0"/>
          <c:dLbls>
            <c:numFmt formatCode="+0&quot;%&quot;;-0&quot;%&quot;;;" sourceLinked="0"/>
            <c:txPr>
              <a:bodyPr/>
              <a:lstStyle/>
              <a:p>
                <a:pPr>
                  <a:defRPr b="1" i="0" strike="noStrike" sz="1200" u="none">
                    <a:solidFill>
                      <a:srgbClr val="27251F"/>
                    </a:solidFill>
                    <a:latin typeface="+mn-lt"/>
                  </a:defRPr>
                </a:pPr>
              </a:p>
            </c:txPr>
            <c:showLegendKey val="0"/>
            <c:showVal val="1"/>
            <c:showCatName val="0"/>
            <c:showSerName val="0"/>
            <c:showPercent val="0"/>
            <c:showBubbleSize val="0"/>
            <c:showLeaderLines val="0"/>
          </c:dLbls>
          <c:cat>
            <c:multiLvlStrRef>
              <c:f>Sheet1!$A$2:$A$7</c:f>
              <c:multiLvlStrCache>
                <c:ptCount val="6"/>
                <c:lvl>
                  <c:pt idx="0">
                    <c:v>Amount spent</c:v>
                  </c:pt>
                  <c:pt idx="1">
                    <c:v>Link clicks</c:v>
                  </c:pt>
                  <c:pt idx="2">
                    <c:v>Reach*</c:v>
                  </c:pt>
                  <c:pt idx="3">
                    <c:v>Impressions</c:v>
                  </c:pt>
                  <c:pt idx="4">
                    <c:v>Post engagements</c:v>
                  </c:pt>
                  <c:pt idx="5">
                    <c:v>3-sec video plays</c:v>
                  </c:pt>
                </c:lvl>
              </c:multiLvlStrCache>
            </c:multiLvlStrRef>
          </c:cat>
          <c:val>
            <c:numRef>
              <c:f>Sheet1!$C$2:$C$7</c:f>
              <c:numCache>
                <c:formatCode>General</c:formatCode>
                <c:ptCount val="6"/>
                <c:pt idx="0">
                  <c:v>0</c:v>
                </c:pt>
                <c:pt idx="1">
                  <c:v>53.73595962884584</c:v>
                </c:pt>
                <c:pt idx="2">
                  <c:v>0</c:v>
                </c:pt>
                <c:pt idx="3">
                  <c:v>0</c:v>
                </c:pt>
                <c:pt idx="4">
                  <c:v>0</c:v>
                </c:pt>
                <c:pt idx="5">
                  <c:v>0</c:v>
                </c:pt>
              </c:numCache>
            </c:numRef>
          </c:val>
        </c:ser>
        <c:ser>
          <c:idx val="2"/>
          <c:order val="2"/>
          <c:tx>
            <c:strRef>
              <c:f>Sheet1!$D$1</c:f>
              <c:strCache>
                <c:ptCount val="1"/>
                <c:pt idx="0">
                  <c:v>Roughly in line</c:v>
                </c:pt>
              </c:strCache>
            </c:strRef>
          </c:tx>
          <c:spPr>
            <a:solidFill>
              <a:srgbClr val="FFBC0D"/>
            </a:solidFill>
            <a:effectLst/>
          </c:spPr>
          <c:invertIfNegative val="0"/>
          <c:dLbls>
            <c:numFmt formatCode="+0&quot;%&quot;;-0&quot;%&quot;;;" sourceLinked="0"/>
            <c:txPr>
              <a:bodyPr/>
              <a:lstStyle/>
              <a:p>
                <a:pPr>
                  <a:defRPr b="1" i="0" strike="noStrike" sz="1200" u="none">
                    <a:solidFill>
                      <a:srgbClr val="27251F"/>
                    </a:solidFill>
                    <a:latin typeface="+mn-lt"/>
                  </a:defRPr>
                </a:pPr>
              </a:p>
            </c:txPr>
            <c:showLegendKey val="0"/>
            <c:showVal val="1"/>
            <c:showCatName val="0"/>
            <c:showSerName val="0"/>
            <c:showPercent val="0"/>
            <c:showBubbleSize val="0"/>
            <c:showLeaderLines val="0"/>
          </c:dLbls>
          <c:cat>
            <c:multiLvlStrRef>
              <c:f>Sheet1!$A$2:$A$7</c:f>
              <c:multiLvlStrCache>
                <c:ptCount val="6"/>
                <c:lvl>
                  <c:pt idx="0">
                    <c:v>Amount spent</c:v>
                  </c:pt>
                  <c:pt idx="1">
                    <c:v>Link clicks</c:v>
                  </c:pt>
                  <c:pt idx="2">
                    <c:v>Reach*</c:v>
                  </c:pt>
                  <c:pt idx="3">
                    <c:v>Impressions</c:v>
                  </c:pt>
                  <c:pt idx="4">
                    <c:v>Post engagements</c:v>
                  </c:pt>
                  <c:pt idx="5">
                    <c:v>3-sec video plays</c:v>
                  </c:pt>
                </c:lvl>
              </c:multiLvlStrCache>
            </c:multiLvlStrRef>
          </c:cat>
          <c:val>
            <c:numRef>
              <c:f>Sheet1!$D$2:$D$7</c:f>
              <c:numCache>
                <c:formatCode>General</c:formatCode>
                <c:ptCount val="6"/>
                <c:pt idx="0">
                  <c:v>0</c:v>
                </c:pt>
                <c:pt idx="1">
                  <c:v>0</c:v>
                </c:pt>
                <c:pt idx="2">
                  <c:v>29.83828097870151</c:v>
                </c:pt>
                <c:pt idx="3">
                  <c:v>0</c:v>
                </c:pt>
                <c:pt idx="4">
                  <c:v>0</c:v>
                </c:pt>
                <c:pt idx="5">
                  <c:v>0</c:v>
                </c:pt>
              </c:numCache>
            </c:numRef>
          </c:val>
        </c:ser>
        <c:ser>
          <c:idx val="3"/>
          <c:order val="3"/>
          <c:tx>
            <c:strRef>
              <c:f>Sheet1!$E$1</c:f>
              <c:strCache>
                <c:ptCount val="1"/>
                <c:pt idx="0">
                  <c:v>Lagged budget</c:v>
                </c:pt>
              </c:strCache>
            </c:strRef>
          </c:tx>
          <c:spPr>
            <a:solidFill>
              <a:srgbClr val="DA291C"/>
            </a:solidFill>
            <a:effectLst/>
          </c:spPr>
          <c:invertIfNegative val="0"/>
          <c:dLbls>
            <c:numFmt formatCode="+0&quot;%&quot;;-0&quot;%&quot;;;" sourceLinked="0"/>
            <c:txPr>
              <a:bodyPr/>
              <a:lstStyle/>
              <a:p>
                <a:pPr>
                  <a:defRPr b="1" i="0" strike="noStrike" sz="1200" u="none">
                    <a:solidFill>
                      <a:srgbClr val="27251F"/>
                    </a:solidFill>
                    <a:latin typeface="+mn-lt"/>
                  </a:defRPr>
                </a:pPr>
              </a:p>
            </c:txPr>
            <c:showLegendKey val="0"/>
            <c:showVal val="1"/>
            <c:showCatName val="0"/>
            <c:showSerName val="0"/>
            <c:showPercent val="0"/>
            <c:showBubbleSize val="0"/>
            <c:showLeaderLines val="0"/>
          </c:dLbls>
          <c:cat>
            <c:multiLvlStrRef>
              <c:f>Sheet1!$A$2:$A$7</c:f>
              <c:multiLvlStrCache>
                <c:ptCount val="6"/>
                <c:lvl>
                  <c:pt idx="0">
                    <c:v>Amount spent</c:v>
                  </c:pt>
                  <c:pt idx="1">
                    <c:v>Link clicks</c:v>
                  </c:pt>
                  <c:pt idx="2">
                    <c:v>Reach*</c:v>
                  </c:pt>
                  <c:pt idx="3">
                    <c:v>Impressions</c:v>
                  </c:pt>
                  <c:pt idx="4">
                    <c:v>Post engagements</c:v>
                  </c:pt>
                  <c:pt idx="5">
                    <c:v>3-sec video plays</c:v>
                  </c:pt>
                </c:lvl>
              </c:multiLvlStrCache>
            </c:multiLvlStrRef>
          </c:cat>
          <c:val>
            <c:numRef>
              <c:f>Sheet1!$E$2:$E$7</c:f>
              <c:numCache>
                <c:formatCode>General</c:formatCode>
                <c:ptCount val="6"/>
                <c:pt idx="0">
                  <c:v>0</c:v>
                </c:pt>
                <c:pt idx="1">
                  <c:v>0</c:v>
                </c:pt>
                <c:pt idx="2">
                  <c:v>0</c:v>
                </c:pt>
                <c:pt idx="3">
                  <c:v>3.9846256286349773</c:v>
                </c:pt>
                <c:pt idx="4">
                  <c:v>-1.5860941582848533</c:v>
                </c:pt>
                <c:pt idx="5">
                  <c:v>-2.2894866785461256</c:v>
                </c:pt>
              </c:numCache>
            </c:numRef>
          </c:val>
        </c:ser>
        <c:dLbls>
          <c:numFmt formatCode="+0&quot;%&quot;;-0&quot;%&quot;;;" sourceLinked="0"/>
          <c:txPr>
            <a:bodyPr/>
            <a:lstStyle/>
            <a:p>
              <a:pPr>
                <a:defRPr b="1" i="0" strike="noStrike" sz="1200" u="none">
                  <a:solidFill>
                    <a:srgbClr val="27251F"/>
                  </a:solidFill>
                  <a:latin typeface="+mn-lt"/>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max val="65"/>
          <c:min val="-1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E6E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4A4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 (Apr–Jun)</c:v>
                </c:pt>
              </c:strCache>
            </c:strRef>
          </c:tx>
          <c:spPr>
            <a:solidFill>
              <a:srgbClr val="BDBDBD"/>
            </a:solidFill>
            <a:effectLst/>
          </c:spPr>
          <c:invertIfNegative val="0"/>
          <c:dLbls>
            <c:numFmt formatCode="&quot;$&quot;0.00" sourceLinked="0"/>
            <c:txPr>
              <a:bodyPr/>
              <a:lstStyle/>
              <a:p>
                <a:pPr>
                  <a:defRPr b="0" i="0" strike="noStrike" sz="1100" u="none">
                    <a:solidFill>
                      <a:srgbClr val="27251F"/>
                    </a:solidFill>
                    <a:latin typeface="+mn-lt"/>
                  </a:defRPr>
                </a:pPr>
              </a:p>
            </c:txPr>
            <c:showLegendKey val="0"/>
            <c:showVal val="1"/>
            <c:showCatName val="0"/>
            <c:showSerName val="0"/>
            <c:showPercent val="0"/>
            <c:showBubbleSize val="0"/>
            <c:showLeaderLines val="0"/>
          </c:dLbls>
          <c:cat>
            <c:multiLvlStrRef>
              <c:f>Sheet1!$A$2:$A$5</c:f>
              <c:multiLvlStrCache>
                <c:ptCount val="4"/>
                <c:lvl>
                  <c:pt idx="0">
                    <c:v>CPM
all campaigns</c:v>
                  </c:pt>
                  <c:pt idx="1">
                    <c:v>CPM
Reach campaigns</c:v>
                  </c:pt>
                  <c:pt idx="2">
                    <c:v>Cost / 1,000 reached
all campaigns</c:v>
                  </c:pt>
                  <c:pt idx="3">
                    <c:v>Cost / 1,000 reached
Reach campaigns</c:v>
                  </c:pt>
                </c:lvl>
              </c:multiLvlStrCache>
            </c:multiLvlStrRef>
          </c:cat>
          <c:val>
            <c:numRef>
              <c:f>Sheet1!$B$2:$B$5</c:f>
              <c:numCache>
                <c:formatCode>General</c:formatCode>
                <c:ptCount val="4"/>
                <c:pt idx="0">
                  <c:v>0.4485092989211671</c:v>
                </c:pt>
                <c:pt idx="1">
                  <c:v>0.4025315868964612</c:v>
                </c:pt>
                <c:pt idx="2">
                  <c:v>0.7864195982628076</c:v>
                </c:pt>
                <c:pt idx="3">
                  <c:v>0.7064692006754794</c:v>
                </c:pt>
              </c:numCache>
            </c:numRef>
          </c:val>
        </c:ser>
        <c:ser>
          <c:idx val="1"/>
          <c:order val="1"/>
          <c:tx>
            <c:strRef>
              <c:f>Sheet1!$C$1</c:f>
              <c:strCache>
                <c:ptCount val="1"/>
                <c:pt idx="0">
                  <c:v>AFTER (Jul–Sep)</c:v>
                </c:pt>
              </c:strCache>
            </c:strRef>
          </c:tx>
          <c:spPr>
            <a:solidFill>
              <a:srgbClr val="FFBC0D"/>
            </a:solidFill>
            <a:effectLst/>
          </c:spPr>
          <c:invertIfNegative val="0"/>
          <c:dLbls>
            <c:numFmt formatCode="&quot;$&quot;0.00" sourceLinked="0"/>
            <c:txPr>
              <a:bodyPr/>
              <a:lstStyle/>
              <a:p>
                <a:pPr>
                  <a:defRPr b="0" i="0" strike="noStrike" sz="1100" u="none">
                    <a:solidFill>
                      <a:srgbClr val="27251F"/>
                    </a:solidFill>
                    <a:latin typeface="+mn-lt"/>
                  </a:defRPr>
                </a:pPr>
              </a:p>
            </c:txPr>
            <c:showLegendKey val="0"/>
            <c:showVal val="1"/>
            <c:showCatName val="0"/>
            <c:showSerName val="0"/>
            <c:showPercent val="0"/>
            <c:showBubbleSize val="0"/>
            <c:showLeaderLines val="0"/>
          </c:dLbls>
          <c:cat>
            <c:multiLvlStrRef>
              <c:f>Sheet1!$A$2:$A$5</c:f>
              <c:multiLvlStrCache>
                <c:ptCount val="4"/>
                <c:lvl>
                  <c:pt idx="0">
                    <c:v>CPM
all campaigns</c:v>
                  </c:pt>
                  <c:pt idx="1">
                    <c:v>CPM
Reach campaigns</c:v>
                  </c:pt>
                  <c:pt idx="2">
                    <c:v>Cost / 1,000 reached
all campaigns</c:v>
                  </c:pt>
                  <c:pt idx="3">
                    <c:v>Cost / 1,000 reached
Reach campaigns</c:v>
                  </c:pt>
                </c:lvl>
              </c:multiLvlStrCache>
            </c:multiLvlStrRef>
          </c:cat>
          <c:val>
            <c:numRef>
              <c:f>Sheet1!$C$2:$C$5</c:f>
              <c:numCache>
                <c:formatCode>General</c:formatCode>
                <c:ptCount val="4"/>
                <c:pt idx="0">
                  <c:v>0.573978234971911</c:v>
                </c:pt>
                <c:pt idx="1">
                  <c:v>0.49543628365750725</c:v>
                </c:pt>
                <c:pt idx="2">
                  <c:v>0.8060178808367122</c:v>
                </c:pt>
                <c:pt idx="3">
                  <c:v>0.6693406991483544</c:v>
                </c:pt>
              </c:numCache>
            </c:numRef>
          </c:val>
        </c:ser>
        <c:dLbls>
          <c:numFmt formatCode="&quot;$&quot;0.00" sourceLinked="0"/>
          <c:txPr>
            <a:bodyPr/>
            <a:lstStyle/>
            <a:p>
              <a:pPr>
                <a:defRPr b="0" i="0" strike="noStrike" sz="1100" u="none">
                  <a:solidFill>
                    <a:srgbClr val="2725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E6E6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4A4A4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Reach campaigns</c:v>
                </c:pt>
              </c:strCache>
            </c:strRef>
          </c:tx>
          <c:spPr>
            <a:solidFill>
              <a:srgbClr val="FFBC0D"/>
            </a:solidFill>
            <a:effectLst/>
          </c:spPr>
          <c:invertIfNegative val="0"/>
          <c:dLbls>
            <c:numFmt formatCode="[&gt;=2000]#,##0;;;" sourceLinked="0"/>
            <c:txPr>
              <a:bodyPr/>
              <a:lstStyle/>
              <a:p>
                <a:pPr>
                  <a:defRPr b="1"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BEFORE (Apr–Jun)</c:v>
                  </c:pt>
                  <c:pt idx="1">
                    <c:v>AFTER (Jul–Sep)</c:v>
                  </c:pt>
                </c:lvl>
              </c:multiLvlStrCache>
            </c:multiLvlStrRef>
          </c:cat>
          <c:val>
            <c:numRef>
              <c:f>Sheet1!$B$2:$B$3</c:f>
              <c:numCache>
                <c:formatCode>General</c:formatCode>
                <c:ptCount val="2"/>
                <c:pt idx="0">
                  <c:v>15389</c:v>
                </c:pt>
                <c:pt idx="1">
                  <c:v>75187</c:v>
                </c:pt>
              </c:numCache>
            </c:numRef>
          </c:val>
        </c:ser>
        <c:ser>
          <c:idx val="1"/>
          <c:order val="1"/>
          <c:tx>
            <c:strRef>
              <c:f>Sheet1!$C$1</c:f>
              <c:strCache>
                <c:ptCount val="1"/>
                <c:pt idx="0">
                  <c:v>Traffic campaigns</c:v>
                </c:pt>
              </c:strCache>
            </c:strRef>
          </c:tx>
          <c:spPr>
            <a:solidFill>
              <a:srgbClr val="DA291C"/>
            </a:solidFill>
            <a:effectLst/>
          </c:spPr>
          <c:invertIfNegative val="0"/>
          <c:dLbls>
            <c:numFmt formatCode="[&gt;=2000]#,##0;;;" sourceLinked="0"/>
            <c:txPr>
              <a:bodyPr/>
              <a:lstStyle/>
              <a:p>
                <a:pPr>
                  <a:defRPr b="1"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BEFORE (Apr–Jun)</c:v>
                  </c:pt>
                  <c:pt idx="1">
                    <c:v>AFTER (Jul–Sep)</c:v>
                  </c:pt>
                </c:lvl>
              </c:multiLvlStrCache>
            </c:multiLvlStrRef>
          </c:cat>
          <c:val>
            <c:numRef>
              <c:f>Sheet1!$C$2:$C$3</c:f>
              <c:numCache>
                <c:formatCode>General</c:formatCode>
                <c:ptCount val="2"/>
                <c:pt idx="0">
                  <c:v>45604</c:v>
                </c:pt>
                <c:pt idx="1">
                  <c:v>11314</c:v>
                </c:pt>
              </c:numCache>
            </c:numRef>
          </c:val>
        </c:ser>
        <c:ser>
          <c:idx val="2"/>
          <c:order val="2"/>
          <c:tx>
            <c:strRef>
              <c:f>Sheet1!$D$1</c:f>
              <c:strCache>
                <c:ptCount val="1"/>
                <c:pt idx="0">
                  <c:v>Engagement, video &amp; app</c:v>
                </c:pt>
              </c:strCache>
            </c:strRef>
          </c:tx>
          <c:spPr>
            <a:solidFill>
              <a:srgbClr val="4A4A4A"/>
            </a:solidFill>
            <a:effectLst/>
          </c:spPr>
          <c:invertIfNegative val="0"/>
          <c:dLbls>
            <c:numFmt formatCode="[&gt;=2000]#,##0;;;" sourceLinked="0"/>
            <c:txPr>
              <a:bodyPr/>
              <a:lstStyle/>
              <a:p>
                <a:pPr>
                  <a:defRPr b="1"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BEFORE (Apr–Jun)</c:v>
                  </c:pt>
                  <c:pt idx="1">
                    <c:v>AFTER (Jul–Sep)</c:v>
                  </c:pt>
                </c:lvl>
              </c:multiLvlStrCache>
            </c:multiLvlStrRef>
          </c:cat>
          <c:val>
            <c:numRef>
              <c:f>Sheet1!$D$2:$D$3</c:f>
              <c:numCache>
                <c:formatCode>General</c:formatCode>
                <c:ptCount val="2"/>
                <c:pt idx="0">
                  <c:v>437</c:v>
                </c:pt>
                <c:pt idx="1">
                  <c:v>7939</c:v>
                </c:pt>
              </c:numCache>
            </c:numRef>
          </c:val>
        </c:ser>
        <c:dLbls>
          <c:numFmt formatCode="[&gt;=2000]#,##0;;;" sourceLinked="0"/>
          <c:txPr>
            <a:bodyPr/>
            <a:lstStyle/>
            <a:p>
              <a:pPr>
                <a:defRPr b="1"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1"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E6E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4A4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BDBDBD"/>
            </a:solidFill>
            <a:effectLst/>
          </c:spPr>
          <c:invertIfNegative val="0"/>
          <c:dLbls>
            <c:numFmt formatCode="0.00&quot;M&quot;" sourceLinked="0"/>
            <c:txPr>
              <a:bodyPr/>
              <a:lstStyle/>
              <a:p>
                <a:pPr>
                  <a:defRPr b="0" i="0" strike="noStrike" sz="1100" u="none">
                    <a:solidFill>
                      <a:srgbClr val="27251F"/>
                    </a:solidFill>
                    <a:latin typeface="+mn-lt"/>
                  </a:defRPr>
                </a:pPr>
              </a:p>
            </c:txPr>
            <c:showLegendKey val="0"/>
            <c:showVal val="1"/>
            <c:showCatName val="0"/>
            <c:showSerName val="0"/>
            <c:showPercent val="0"/>
            <c:showBubbleSize val="0"/>
            <c:showLeaderLines val="0"/>
          </c:dLbls>
          <c:cat>
            <c:multiLvlStrRef>
              <c:f>Sheet1!$A$2:$A$3</c:f>
              <c:multiLvlStrCache>
                <c:ptCount val="2"/>
                <c:lvl>
                  <c:pt idx="0">
                    <c:v>Post engagements</c:v>
                  </c:pt>
                  <c:pt idx="1">
                    <c:v>3-sec video plays</c:v>
                  </c:pt>
                </c:lvl>
              </c:multiLvlStrCache>
            </c:multiLvlStrRef>
          </c:cat>
          <c:val>
            <c:numRef>
              <c:f>Sheet1!$B$2:$B$3</c:f>
              <c:numCache>
                <c:formatCode>General</c:formatCode>
                <c:ptCount val="2"/>
                <c:pt idx="0">
                  <c:v>9.502021</c:v>
                </c:pt>
                <c:pt idx="1">
                  <c:v>9.3158</c:v>
                </c:pt>
              </c:numCache>
            </c:numRef>
          </c:val>
        </c:ser>
        <c:ser>
          <c:idx val="1"/>
          <c:order val="1"/>
          <c:tx>
            <c:strRef>
              <c:f>Sheet1!$C$1</c:f>
              <c:strCache>
                <c:ptCount val="1"/>
                <c:pt idx="0">
                  <c:v>AFTER</c:v>
                </c:pt>
              </c:strCache>
            </c:strRef>
          </c:tx>
          <c:spPr>
            <a:solidFill>
              <a:srgbClr val="FFBC0D"/>
            </a:solidFill>
            <a:effectLst/>
          </c:spPr>
          <c:invertIfNegative val="0"/>
          <c:dLbls>
            <c:numFmt formatCode="0.00&quot;M&quot;" sourceLinked="0"/>
            <c:txPr>
              <a:bodyPr/>
              <a:lstStyle/>
              <a:p>
                <a:pPr>
                  <a:defRPr b="0" i="0" strike="noStrike" sz="1100" u="none">
                    <a:solidFill>
                      <a:srgbClr val="27251F"/>
                    </a:solidFill>
                    <a:latin typeface="+mn-lt"/>
                  </a:defRPr>
                </a:pPr>
              </a:p>
            </c:txPr>
            <c:showLegendKey val="0"/>
            <c:showVal val="1"/>
            <c:showCatName val="0"/>
            <c:showSerName val="0"/>
            <c:showPercent val="0"/>
            <c:showBubbleSize val="0"/>
            <c:showLeaderLines val="0"/>
          </c:dLbls>
          <c:cat>
            <c:multiLvlStrRef>
              <c:f>Sheet1!$A$2:$A$3</c:f>
              <c:multiLvlStrCache>
                <c:ptCount val="2"/>
                <c:lvl>
                  <c:pt idx="0">
                    <c:v>Post engagements</c:v>
                  </c:pt>
                  <c:pt idx="1">
                    <c:v>3-sec video plays</c:v>
                  </c:pt>
                </c:lvl>
              </c:multiLvlStrCache>
            </c:multiLvlStrRef>
          </c:cat>
          <c:val>
            <c:numRef>
              <c:f>Sheet1!$C$2:$C$3</c:f>
              <c:numCache>
                <c:formatCode>General</c:formatCode>
                <c:ptCount val="2"/>
                <c:pt idx="0">
                  <c:v>9.35131</c:v>
                </c:pt>
                <c:pt idx="1">
                  <c:v>9.102516</c:v>
                </c:pt>
              </c:numCache>
            </c:numRef>
          </c:val>
        </c:ser>
        <c:dLbls>
          <c:numFmt formatCode="0.00&quot;M&quot;" sourceLinked="0"/>
          <c:txPr>
            <a:bodyPr/>
            <a:lstStyle/>
            <a:p>
              <a:pPr>
                <a:defRPr b="0" i="0" strike="noStrike" sz="1100" u="none">
                  <a:solidFill>
                    <a:srgbClr val="27251F"/>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E6E6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4A4A4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BDBDBD"/>
            </a:solidFill>
            <a:effectLst/>
          </c:spPr>
          <c:invertIfNegative val="0"/>
          <c:dLbls>
            <c:numFmt formatCode="&quot;$&quot;0.00;;;" sourceLinked="0"/>
            <c:txPr>
              <a:bodyPr/>
              <a:lstStyle/>
              <a:p>
                <a:pPr>
                  <a:defRPr b="0" i="0" strike="noStrike" sz="1100" u="none">
                    <a:solidFill>
                      <a:srgbClr val="27251F"/>
                    </a:solidFill>
                    <a:latin typeface="+mn-lt"/>
                  </a:defRPr>
                </a:pPr>
              </a:p>
            </c:txPr>
            <c:showLegendKey val="0"/>
            <c:showVal val="1"/>
            <c:showCatName val="0"/>
            <c:showSerName val="0"/>
            <c:showPercent val="0"/>
            <c:showBubbleSize val="0"/>
            <c:showLeaderLines val="0"/>
          </c:dLbls>
          <c:cat>
            <c:multiLvlStrRef>
              <c:f>Sheet1!$A$2:$A$4</c:f>
              <c:multiLvlStrCache>
                <c:ptCount val="3"/>
                <c:lvl>
                  <c:pt idx="0">
                    <c:v>All campaigns</c:v>
                  </c:pt>
                  <c:pt idx="1">
                    <c:v>Post-engagement goal</c:v>
                  </c:pt>
                  <c:pt idx="2">
                    <c:v>Interactions goal (new in Q3)</c:v>
                  </c:pt>
                </c:lvl>
              </c:multiLvlStrCache>
            </c:multiLvlStrRef>
          </c:cat>
          <c:val>
            <c:numRef>
              <c:f>Sheet1!$B$2:$B$4</c:f>
              <c:numCache>
                <c:formatCode>General</c:formatCode>
                <c:ptCount val="3"/>
                <c:pt idx="0">
                  <c:v>3.9782252638675497</c:v>
                </c:pt>
                <c:pt idx="1">
                  <c:v>2.2923327633915065</c:v>
                </c:pt>
                <c:pt idx="2">
                  <c:v>0</c:v>
                </c:pt>
              </c:numCache>
            </c:numRef>
          </c:val>
        </c:ser>
        <c:ser>
          <c:idx val="1"/>
          <c:order val="1"/>
          <c:tx>
            <c:strRef>
              <c:f>Sheet1!$C$1</c:f>
              <c:strCache>
                <c:ptCount val="1"/>
                <c:pt idx="0">
                  <c:v>AFTER</c:v>
                </c:pt>
              </c:strCache>
            </c:strRef>
          </c:tx>
          <c:spPr>
            <a:solidFill>
              <a:srgbClr val="FFBC0D"/>
            </a:solidFill>
            <a:effectLst/>
          </c:spPr>
          <c:invertIfNegative val="0"/>
          <c:dLbls>
            <c:numFmt formatCode="&quot;$&quot;0.00;;;" sourceLinked="0"/>
            <c:txPr>
              <a:bodyPr/>
              <a:lstStyle/>
              <a:p>
                <a:pPr>
                  <a:defRPr b="0" i="0" strike="noStrike" sz="1100" u="none">
                    <a:solidFill>
                      <a:srgbClr val="27251F"/>
                    </a:solidFill>
                    <a:latin typeface="+mn-lt"/>
                  </a:defRPr>
                </a:pPr>
              </a:p>
            </c:txPr>
            <c:showLegendKey val="0"/>
            <c:showVal val="1"/>
            <c:showCatName val="0"/>
            <c:showSerName val="0"/>
            <c:showPercent val="0"/>
            <c:showBubbleSize val="0"/>
            <c:showLeaderLines val="0"/>
          </c:dLbls>
          <c:cat>
            <c:multiLvlStrRef>
              <c:f>Sheet1!$A$2:$A$4</c:f>
              <c:multiLvlStrCache>
                <c:ptCount val="3"/>
                <c:lvl>
                  <c:pt idx="0">
                    <c:v>All campaigns</c:v>
                  </c:pt>
                  <c:pt idx="1">
                    <c:v>Post-engagement goal</c:v>
                  </c:pt>
                  <c:pt idx="2">
                    <c:v>Interactions goal (new in Q3)</c:v>
                  </c:pt>
                </c:lvl>
              </c:multiLvlStrCache>
            </c:multiLvlStrRef>
          </c:cat>
          <c:val>
            <c:numRef>
              <c:f>Sheet1!$C$2:$C$4</c:f>
              <c:numCache>
                <c:formatCode>General</c:formatCode>
                <c:ptCount val="3"/>
                <c:pt idx="0">
                  <c:v>5.37930300674451</c:v>
                </c:pt>
                <c:pt idx="1">
                  <c:v>2.638894365962197</c:v>
                </c:pt>
                <c:pt idx="2">
                  <c:v>16.38551932604768</c:v>
                </c:pt>
              </c:numCache>
            </c:numRef>
          </c:val>
        </c:ser>
        <c:dLbls>
          <c:numFmt formatCode="&quot;$&quot;0.00;;;" sourceLinked="0"/>
          <c:txPr>
            <a:bodyPr/>
            <a:lstStyle/>
            <a:p>
              <a:pPr>
                <a:defRPr b="0" i="0" strike="noStrike" sz="1100" u="none">
                  <a:solidFill>
                    <a:srgbClr val="27251F"/>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max val="19"/>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E6E6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4A4A4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Cheaper than Q2 average ($0.71)</c:v>
                </c:pt>
              </c:strCache>
            </c:strRef>
          </c:tx>
          <c:spPr>
            <a:solidFill>
              <a:srgbClr val="FFBC0D"/>
            </a:solidFill>
            <a:effectLst/>
          </c:spPr>
          <c:invertIfNegative val="0"/>
          <c:dLbls>
            <c:numFmt formatCode="&quot;$&quot;0.00;;;" sourceLinked="0"/>
            <c:txPr>
              <a:bodyPr/>
              <a:lstStyle/>
              <a:p>
                <a:pPr>
                  <a:defRPr b="0" i="0" strike="noStrike" sz="1000" u="none">
                    <a:solidFill>
                      <a:srgbClr val="27251F"/>
                    </a:solidFill>
                    <a:latin typeface="+mn-lt"/>
                  </a:defRPr>
                </a:pPr>
              </a:p>
            </c:txPr>
            <c:showLegendKey val="0"/>
            <c:showVal val="1"/>
            <c:showCatName val="0"/>
            <c:showSerName val="0"/>
            <c:showPercent val="0"/>
            <c:showBubbleSize val="0"/>
            <c:showLeaderLines val="0"/>
          </c:dLbls>
          <c:cat>
            <c:multiLvlStrRef>
              <c:f>Sheet1!$A$2:$A$20</c:f>
              <c:multiLvlStrCache>
                <c:ptCount val="19"/>
                <c:lvl>
                  <c:pt idx="0">
                    <c:v>Happy Meal (Sep)</c:v>
                  </c:pt>
                  <c:pt idx="1">
                    <c:v>McChicken iOS (Aug)</c:v>
                  </c:pt>
                  <c:pt idx="2">
                    <c:v>Entry Level (Sep)</c:v>
                  </c:pt>
                  <c:pt idx="3">
                    <c:v>McChicken Android (Aug)</c:v>
                  </c:pt>
                  <c:pt idx="4">
                    <c:v>McChicken (Jul)</c:v>
                  </c:pt>
                  <c:pt idx="5">
                    <c:v>McCafé (Sep)</c:v>
                  </c:pt>
                  <c:pt idx="6">
                    <c:v>Spiderman GenZ (Aug)</c:v>
                  </c:pt>
                  <c:pt idx="7">
                    <c:v>Nizami Mall opening</c:v>
                  </c:pt>
                  <c:pt idx="8">
                    <c:v>Grimace (Aug)</c:v>
                  </c:pt>
                  <c:pt idx="9">
                    <c:v>Spiderman Happy Meal (Aug)</c:v>
                  </c:pt>
                  <c:pt idx="10">
                    <c:v>Generic (Aug)</c:v>
                  </c:pt>
                  <c:pt idx="11">
                    <c:v>FIFA (Jul)</c:v>
                  </c:pt>
                  <c:pt idx="12">
                    <c:v>Chicken influencer (Sep)</c:v>
                  </c:pt>
                  <c:pt idx="13">
                    <c:v>Generic (Sep)</c:v>
                  </c:pt>
                  <c:pt idx="14">
                    <c:v>Generic (Jul)</c:v>
                  </c:pt>
                  <c:pt idx="15">
                    <c:v>Cheddar Sauce (Jul)</c:v>
                  </c:pt>
                  <c:pt idx="16">
                    <c:v>Happy Meal FIFA (Jul)</c:v>
                  </c:pt>
                  <c:pt idx="17">
                    <c:v>Mixology (Jul)</c:v>
                  </c:pt>
                  <c:pt idx="18">
                    <c:v>Mixology (Aug)</c:v>
                  </c:pt>
                </c:lvl>
              </c:multiLvlStrCache>
            </c:multiLvlStrRef>
          </c:cat>
          <c:val>
            <c:numRef>
              <c:f>Sheet1!$B$2:$B$20</c:f>
              <c:numCache>
                <c:formatCode>General</c:formatCode>
                <c:ptCount val="19"/>
                <c:pt idx="0">
                  <c:v>0</c:v>
                </c:pt>
                <c:pt idx="1">
                  <c:v>0</c:v>
                </c:pt>
                <c:pt idx="2">
                  <c:v>0</c:v>
                </c:pt>
                <c:pt idx="3">
                  <c:v>0</c:v>
                </c:pt>
                <c:pt idx="4">
                  <c:v>0</c:v>
                </c:pt>
                <c:pt idx="5">
                  <c:v>0</c:v>
                </c:pt>
                <c:pt idx="6">
                  <c:v>0.7037753039647323</c:v>
                </c:pt>
                <c:pt idx="7">
                  <c:v>0.6696443142502775</c:v>
                </c:pt>
                <c:pt idx="8">
                  <c:v>0.6612039980659562</c:v>
                </c:pt>
                <c:pt idx="9">
                  <c:v>0.6097438246226926</c:v>
                </c:pt>
                <c:pt idx="10">
                  <c:v>0.5353382520394953</c:v>
                </c:pt>
                <c:pt idx="11">
                  <c:v>0.5247660680588212</c:v>
                </c:pt>
                <c:pt idx="12">
                  <c:v>0.5207253437554696</c:v>
                </c:pt>
                <c:pt idx="13">
                  <c:v>0.47605180549248777</c:v>
                </c:pt>
                <c:pt idx="14">
                  <c:v>0.47048642071143093</c:v>
                </c:pt>
                <c:pt idx="15">
                  <c:v>0.4698448054620729</c:v>
                </c:pt>
                <c:pt idx="16">
                  <c:v>0.4374559721187649</c:v>
                </c:pt>
                <c:pt idx="17">
                  <c:v>0.4355971791187343</c:v>
                </c:pt>
                <c:pt idx="18">
                  <c:v>0.4126144316649143</c:v>
                </c:pt>
              </c:numCache>
            </c:numRef>
          </c:val>
        </c:ser>
        <c:ser>
          <c:idx val="1"/>
          <c:order val="1"/>
          <c:tx>
            <c:strRef>
              <c:f>Sheet1!$C$1</c:f>
              <c:strCache>
                <c:ptCount val="1"/>
                <c:pt idx="0">
                  <c:v>Costlier than Q2 average</c:v>
                </c:pt>
              </c:strCache>
            </c:strRef>
          </c:tx>
          <c:spPr>
            <a:solidFill>
              <a:srgbClr val="DA291C"/>
            </a:solidFill>
            <a:effectLst/>
          </c:spPr>
          <c:invertIfNegative val="0"/>
          <c:dLbls>
            <c:numFmt formatCode="&quot;$&quot;0.00;;;" sourceLinked="0"/>
            <c:txPr>
              <a:bodyPr/>
              <a:lstStyle/>
              <a:p>
                <a:pPr>
                  <a:defRPr b="0" i="0" strike="noStrike" sz="1000" u="none">
                    <a:solidFill>
                      <a:srgbClr val="27251F"/>
                    </a:solidFill>
                    <a:latin typeface="+mn-lt"/>
                  </a:defRPr>
                </a:pPr>
              </a:p>
            </c:txPr>
            <c:showLegendKey val="0"/>
            <c:showVal val="1"/>
            <c:showCatName val="0"/>
            <c:showSerName val="0"/>
            <c:showPercent val="0"/>
            <c:showBubbleSize val="0"/>
            <c:showLeaderLines val="0"/>
          </c:dLbls>
          <c:cat>
            <c:multiLvlStrRef>
              <c:f>Sheet1!$A$2:$A$20</c:f>
              <c:multiLvlStrCache>
                <c:ptCount val="19"/>
                <c:lvl>
                  <c:pt idx="0">
                    <c:v>Happy Meal (Sep)</c:v>
                  </c:pt>
                  <c:pt idx="1">
                    <c:v>McChicken iOS (Aug)</c:v>
                  </c:pt>
                  <c:pt idx="2">
                    <c:v>Entry Level (Sep)</c:v>
                  </c:pt>
                  <c:pt idx="3">
                    <c:v>McChicken Android (Aug)</c:v>
                  </c:pt>
                  <c:pt idx="4">
                    <c:v>McChicken (Jul)</c:v>
                  </c:pt>
                  <c:pt idx="5">
                    <c:v>McCafé (Sep)</c:v>
                  </c:pt>
                  <c:pt idx="6">
                    <c:v>Spiderman GenZ (Aug)</c:v>
                  </c:pt>
                  <c:pt idx="7">
                    <c:v>Nizami Mall opening</c:v>
                  </c:pt>
                  <c:pt idx="8">
                    <c:v>Grimace (Aug)</c:v>
                  </c:pt>
                  <c:pt idx="9">
                    <c:v>Spiderman Happy Meal (Aug)</c:v>
                  </c:pt>
                  <c:pt idx="10">
                    <c:v>Generic (Aug)</c:v>
                  </c:pt>
                  <c:pt idx="11">
                    <c:v>FIFA (Jul)</c:v>
                  </c:pt>
                  <c:pt idx="12">
                    <c:v>Chicken influencer (Sep)</c:v>
                  </c:pt>
                  <c:pt idx="13">
                    <c:v>Generic (Sep)</c:v>
                  </c:pt>
                  <c:pt idx="14">
                    <c:v>Generic (Jul)</c:v>
                  </c:pt>
                  <c:pt idx="15">
                    <c:v>Cheddar Sauce (Jul)</c:v>
                  </c:pt>
                  <c:pt idx="16">
                    <c:v>Happy Meal FIFA (Jul)</c:v>
                  </c:pt>
                  <c:pt idx="17">
                    <c:v>Mixology (Jul)</c:v>
                  </c:pt>
                  <c:pt idx="18">
                    <c:v>Mixology (Aug)</c:v>
                  </c:pt>
                </c:lvl>
              </c:multiLvlStrCache>
            </c:multiLvlStrRef>
          </c:cat>
          <c:val>
            <c:numRef>
              <c:f>Sheet1!$C$2:$C$20</c:f>
              <c:numCache>
                <c:formatCode>General</c:formatCode>
                <c:ptCount val="19"/>
                <c:pt idx="0">
                  <c:v>1.8807635215803258</c:v>
                </c:pt>
                <c:pt idx="1">
                  <c:v>1.3424850032054216</c:v>
                </c:pt>
                <c:pt idx="2">
                  <c:v>1.2087495394324903</c:v>
                </c:pt>
                <c:pt idx="3">
                  <c:v>1.036012015147873</c:v>
                </c:pt>
                <c:pt idx="4">
                  <c:v>0.7723510879033043</c:v>
                </c:pt>
                <c:pt idx="5">
                  <c:v>0.7424073979343827</c:v>
                </c:pt>
                <c:pt idx="6">
                  <c:v>0</c:v>
                </c:pt>
                <c:pt idx="7">
                  <c:v>0</c:v>
                </c:pt>
                <c:pt idx="8">
                  <c:v>0</c:v>
                </c:pt>
                <c:pt idx="9">
                  <c:v>0</c:v>
                </c:pt>
                <c:pt idx="10">
                  <c:v>0</c:v>
                </c:pt>
                <c:pt idx="11">
                  <c:v>0</c:v>
                </c:pt>
                <c:pt idx="12">
                  <c:v>0</c:v>
                </c:pt>
                <c:pt idx="13">
                  <c:v>0</c:v>
                </c:pt>
                <c:pt idx="14">
                  <c:v>0</c:v>
                </c:pt>
                <c:pt idx="15">
                  <c:v>0</c:v>
                </c:pt>
                <c:pt idx="16">
                  <c:v>0</c:v>
                </c:pt>
                <c:pt idx="17">
                  <c:v>0</c:v>
                </c:pt>
                <c:pt idx="18">
                  <c:v>0</c:v>
                </c:pt>
              </c:numCache>
            </c:numRef>
          </c:val>
        </c:ser>
        <c:dLbls>
          <c:numFmt formatCode="&quot;$&quot;0.00;;;" sourceLinked="0"/>
          <c:txPr>
            <a:bodyPr/>
            <a:lstStyle/>
            <a:p>
              <a:pPr>
                <a:defRPr b="0" i="0" strike="noStrike" sz="1000" u="none">
                  <a:solidFill>
                    <a:srgbClr val="27251F"/>
                  </a:solidFill>
                  <a:latin typeface="+mn-lt"/>
                </a:defRPr>
              </a:pPr>
            </a:p>
          </c:txPr>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max val="2.2"/>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E6E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4A4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BEFORE (Apr–Jun)</c:v>
                </c:pt>
              </c:strCache>
            </c:strRef>
          </c:tx>
          <c:spPr>
            <a:solidFill>
              <a:srgbClr val="BDBDBD"/>
            </a:solidFill>
            <a:effectLst/>
          </c:spPr>
          <c:invertIfNegative val="0"/>
          <c:dLbls>
            <c:numFmt formatCode="&quot;$&quot;0.00" sourceLinked="0"/>
            <c:txPr>
              <a:bodyPr/>
              <a:lstStyle/>
              <a:p>
                <a:pPr>
                  <a:defRPr b="0" i="0" strike="noStrike" sz="1000" u="none">
                    <a:solidFill>
                      <a:srgbClr val="27251F"/>
                    </a:solidFill>
                    <a:latin typeface="+mn-lt"/>
                  </a:defRPr>
                </a:pPr>
              </a:p>
            </c:txPr>
            <c:showLegendKey val="0"/>
            <c:showVal val="1"/>
            <c:showCatName val="0"/>
            <c:showSerName val="0"/>
            <c:showPercent val="0"/>
            <c:showBubbleSize val="0"/>
            <c:showLeaderLines val="0"/>
          </c:dLbls>
          <c:cat>
            <c:multiLvlStrRef>
              <c:f>Sheet1!$A$2:$A$7</c:f>
              <c:multiLvlStrCache>
                <c:ptCount val="6"/>
                <c:lvl>
                  <c:pt idx="0">
                    <c:v>McCafé</c:v>
                  </c:pt>
                  <c:pt idx="1">
                    <c:v>Chicken</c:v>
                  </c:pt>
                  <c:pt idx="2">
                    <c:v>FIFA / World Cup</c:v>
                  </c:pt>
                  <c:pt idx="3">
                    <c:v>Mixology</c:v>
                  </c:pt>
                  <c:pt idx="4">
                    <c:v>Restaurant openings</c:v>
                  </c:pt>
                  <c:pt idx="5">
                    <c:v>Grimace</c:v>
                  </c:pt>
                </c:lvl>
              </c:multiLvlStrCache>
            </c:multiLvlStrRef>
          </c:cat>
          <c:val>
            <c:numRef>
              <c:f>Sheet1!$B$2:$B$7</c:f>
              <c:numCache>
                <c:formatCode>General</c:formatCode>
                <c:ptCount val="6"/>
                <c:pt idx="0">
                  <c:v>0.5176539069738004</c:v>
                </c:pt>
                <c:pt idx="1">
                  <c:v>0.6395123317944686</c:v>
                </c:pt>
                <c:pt idx="2">
                  <c:v>0.5707018836354101</c:v>
                </c:pt>
                <c:pt idx="3">
                  <c:v>0.5118935566696761</c:v>
                </c:pt>
                <c:pt idx="4">
                  <c:v>0.799651123647084</c:v>
                </c:pt>
                <c:pt idx="5">
                  <c:v>0.9402813724615223</c:v>
                </c:pt>
              </c:numCache>
            </c:numRef>
          </c:val>
        </c:ser>
        <c:ser>
          <c:idx val="1"/>
          <c:order val="1"/>
          <c:tx>
            <c:strRef>
              <c:f>Sheet1!$C$1</c:f>
              <c:strCache>
                <c:ptCount val="1"/>
                <c:pt idx="0">
                  <c:v>AFTER (Jul–Sep)</c:v>
                </c:pt>
              </c:strCache>
            </c:strRef>
          </c:tx>
          <c:spPr>
            <a:solidFill>
              <a:srgbClr val="FFBC0D"/>
            </a:solidFill>
            <a:effectLst/>
          </c:spPr>
          <c:invertIfNegative val="0"/>
          <c:dLbls>
            <c:numFmt formatCode="&quot;$&quot;0.00" sourceLinked="0"/>
            <c:txPr>
              <a:bodyPr/>
              <a:lstStyle/>
              <a:p>
                <a:pPr>
                  <a:defRPr b="0" i="0" strike="noStrike" sz="1000" u="none">
                    <a:solidFill>
                      <a:srgbClr val="27251F"/>
                    </a:solidFill>
                    <a:latin typeface="+mn-lt"/>
                  </a:defRPr>
                </a:pPr>
              </a:p>
            </c:txPr>
            <c:showLegendKey val="0"/>
            <c:showVal val="1"/>
            <c:showCatName val="0"/>
            <c:showSerName val="0"/>
            <c:showPercent val="0"/>
            <c:showBubbleSize val="0"/>
            <c:showLeaderLines val="0"/>
          </c:dLbls>
          <c:cat>
            <c:multiLvlStrRef>
              <c:f>Sheet1!$A$2:$A$7</c:f>
              <c:multiLvlStrCache>
                <c:ptCount val="6"/>
                <c:lvl>
                  <c:pt idx="0">
                    <c:v>McCafé</c:v>
                  </c:pt>
                  <c:pt idx="1">
                    <c:v>Chicken</c:v>
                  </c:pt>
                  <c:pt idx="2">
                    <c:v>FIFA / World Cup</c:v>
                  </c:pt>
                  <c:pt idx="3">
                    <c:v>Mixology</c:v>
                  </c:pt>
                  <c:pt idx="4">
                    <c:v>Restaurant openings</c:v>
                  </c:pt>
                  <c:pt idx="5">
                    <c:v>Grimace</c:v>
                  </c:pt>
                </c:lvl>
              </c:multiLvlStrCache>
            </c:multiLvlStrRef>
          </c:cat>
          <c:val>
            <c:numRef>
              <c:f>Sheet1!$C$2:$C$7</c:f>
              <c:numCache>
                <c:formatCode>General</c:formatCode>
                <c:ptCount val="6"/>
                <c:pt idx="0">
                  <c:v>0.7424073979343827</c:v>
                </c:pt>
                <c:pt idx="1">
                  <c:v>0.8413108598725787</c:v>
                </c:pt>
                <c:pt idx="2">
                  <c:v>0.49746540338531514</c:v>
                </c:pt>
                <c:pt idx="3">
                  <c:v>0.4272810329862154</c:v>
                </c:pt>
                <c:pt idx="4">
                  <c:v>0.6542348947200434</c:v>
                </c:pt>
                <c:pt idx="5">
                  <c:v>0.5867987577402095</c:v>
                </c:pt>
              </c:numCache>
            </c:numRef>
          </c:val>
        </c:ser>
        <c:dLbls>
          <c:numFmt formatCode="&quot;$&quot;0.00" sourceLinked="0"/>
          <c:txPr>
            <a:bodyPr/>
            <a:lstStyle/>
            <a:p>
              <a:pPr>
                <a:defRPr b="0" i="0" strike="noStrike" sz="1000" u="none">
                  <a:solidFill>
                    <a:srgbClr val="27251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E6E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4A4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August (Spiderman HM)</c:v>
                </c:pt>
              </c:strCache>
            </c:strRef>
          </c:tx>
          <c:spPr>
            <a:solidFill>
              <a:srgbClr val="FFBC0D"/>
            </a:solidFill>
            <a:effectLst/>
          </c:spPr>
          <c:invertIfNegative val="0"/>
          <c:dLbls>
            <c:numFmt formatCode="&quot;$&quot;0.00" sourceLinked="0"/>
            <c:txPr>
              <a:bodyPr/>
              <a:lstStyle/>
              <a:p>
                <a:pPr>
                  <a:defRPr b="0" i="0" strike="noStrike" sz="1100" u="none">
                    <a:solidFill>
                      <a:srgbClr val="27251F"/>
                    </a:solidFill>
                    <a:latin typeface="+mn-lt"/>
                  </a:defRPr>
                </a:pPr>
              </a:p>
            </c:txPr>
            <c:showLegendKey val="0"/>
            <c:showVal val="1"/>
            <c:showCatName val="0"/>
            <c:showSerName val="0"/>
            <c:showPercent val="0"/>
            <c:showBubbleSize val="0"/>
            <c:showLeaderLines val="0"/>
          </c:dLbls>
          <c:cat>
            <c:multiLvlStrRef>
              <c:f>Sheet1!$A$2:$A$3</c:f>
              <c:multiLvlStrCache>
                <c:ptCount val="2"/>
                <c:lvl>
                  <c:pt idx="0">
                    <c:v>Gen A interest-based</c:v>
                  </c:pt>
                  <c:pt idx="1">
                    <c:v>Parents of Gen A</c:v>
                  </c:pt>
                </c:lvl>
              </c:multiLvlStrCache>
            </c:multiLvlStrRef>
          </c:cat>
          <c:val>
            <c:numRef>
              <c:f>Sheet1!$B$2:$B$3</c:f>
              <c:numCache>
                <c:formatCode>General</c:formatCode>
                <c:ptCount val="2"/>
                <c:pt idx="0">
                  <c:v>0.5886545899035718</c:v>
                </c:pt>
                <c:pt idx="1">
                  <c:v>0.6938175217208036</c:v>
                </c:pt>
              </c:numCache>
            </c:numRef>
          </c:val>
        </c:ser>
        <c:ser>
          <c:idx val="1"/>
          <c:order val="1"/>
          <c:tx>
            <c:strRef>
              <c:f>Sheet1!$C$1</c:f>
              <c:strCache>
                <c:ptCount val="1"/>
                <c:pt idx="0">
                  <c:v>September (One Piece × SpongeBob HM)</c:v>
                </c:pt>
              </c:strCache>
            </c:strRef>
          </c:tx>
          <c:spPr>
            <a:solidFill>
              <a:srgbClr val="DA291C"/>
            </a:solidFill>
            <a:effectLst/>
          </c:spPr>
          <c:invertIfNegative val="0"/>
          <c:dLbls>
            <c:numFmt formatCode="&quot;$&quot;0.00" sourceLinked="0"/>
            <c:txPr>
              <a:bodyPr/>
              <a:lstStyle/>
              <a:p>
                <a:pPr>
                  <a:defRPr b="0" i="0" strike="noStrike" sz="1100" u="none">
                    <a:solidFill>
                      <a:srgbClr val="27251F"/>
                    </a:solidFill>
                    <a:latin typeface="+mn-lt"/>
                  </a:defRPr>
                </a:pPr>
              </a:p>
            </c:txPr>
            <c:showLegendKey val="0"/>
            <c:showVal val="1"/>
            <c:showCatName val="0"/>
            <c:showSerName val="0"/>
            <c:showPercent val="0"/>
            <c:showBubbleSize val="0"/>
            <c:showLeaderLines val="0"/>
          </c:dLbls>
          <c:cat>
            <c:multiLvlStrRef>
              <c:f>Sheet1!$A$2:$A$3</c:f>
              <c:multiLvlStrCache>
                <c:ptCount val="2"/>
                <c:lvl>
                  <c:pt idx="0">
                    <c:v>Gen A interest-based</c:v>
                  </c:pt>
                  <c:pt idx="1">
                    <c:v>Parents of Gen A</c:v>
                  </c:pt>
                </c:lvl>
              </c:multiLvlStrCache>
            </c:multiLvlStrRef>
          </c:cat>
          <c:val>
            <c:numRef>
              <c:f>Sheet1!$C$2:$C$3</c:f>
              <c:numCache>
                <c:formatCode>General</c:formatCode>
                <c:ptCount val="2"/>
                <c:pt idx="0">
                  <c:v>2.247237530040613</c:v>
                </c:pt>
                <c:pt idx="1">
                  <c:v>1.5753210554049435</c:v>
                </c:pt>
              </c:numCache>
            </c:numRef>
          </c:val>
        </c:ser>
        <c:dLbls>
          <c:numFmt formatCode="&quot;$&quot;0.00" sourceLinked="0"/>
          <c:txPr>
            <a:bodyPr/>
            <a:lstStyle/>
            <a:p>
              <a:pPr>
                <a:defRPr b="0" i="0" strike="noStrike" sz="1100" u="none">
                  <a:solidFill>
                    <a:srgbClr val="2725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4A4A4A"/>
                </a:solidFill>
                <a:latin typeface="+mn-lt"/>
              </a:defRPr>
            </a:pPr>
            <a:endParaRPr lang="en-US"/>
          </a:p>
        </c:txPr>
        <c:crossAx val="2094734552"/>
        <c:crosses val="autoZero"/>
        <c:auto val="1"/>
        <c:lblAlgn val="ctr"/>
        <c:noMultiLvlLbl val="1"/>
      </c:catAx>
      <c:valAx>
        <c:axId val="2094734552"/>
        <c:scaling>
          <c:orientation val="minMax"/>
          <c:max val="2.6"/>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E6E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4A4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BEFORE = 1 Apr–30 Jun 2026 (previous agency). AFTER = 1 Jul–30 Sep 2026 (current agency, took over 1 July). Logo and imagery: official assets only – placeholders are marked where files were not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Pocket = EntryLevel_Reach_Sep_26 + HM_Reach_Sep'26 + all Interactions-optimised ads = $13,105.47 (26.1% of AFTER spend). Entry Level cost per 1,000 reached $1.21 vs Q3 Reach average $0.67 (1.81×); Interactions-goal cost per post engagement $0.0164 vs Post-engagement goal $0.0026 (6.2×).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values are period totals across every ad in each export. CPM = spend ÷ impressions × 1,000; Link CTR = link clicks ÷ impressions; CPC = spend ÷ link clicks; frequency = impressions ÷ summed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counted from the exports: unique campaign names, unique (campaign, ad set) pairs and ad rows. AFTER contains one ad name that appears twice in the same ad set (Spiderman_HM_20.08) with different delivery – treated as two 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CTR: +47.8%; CTR (all): +2.5%; CPC (link): −13.4%; Frequency: −19.9%; Cost per 1,000 reached: +2.5%; Engagement rate: −5.4%; 3s plays per impression: −6.0%; CPM: +28.0%; Cost per engagement: +35.2%; Cost per 1,000 3s plays: +36.2%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Amount spent: +33.1%; Link clicks: +53.7%; Reach*: +29.8%; Impressions: +4.0%; Post engagements: −1.6%; 3-sec video plays: −2.3%. "Roughly in line" = within 5 points of budget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Reach-objective campaigns: spend $31,837 → $38,050; reach results 45.06M → 56.85M; CPM $0.403 → $0.495; cost per 1,000 reached $0.706 → $0.669; excluding EntryLevel_Reach_Sep_26 and HM_Reach_Sep'26: $0.578.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clicks by objective – BEFORE: {"Engagement":434,"Reach":15389,"Traffic":45604,"Video views":3}; AFTER: {"App installs":1928,"Engagement":5564,"Reach":75187,"Traffic":11314,"Video views":447}. Reach-objective link CTR 0.0195% → 0.0979%. CTR (all) is rebuilt as Σ(CTR(all) × impressions) ÷ Σ impressions because the export has no 'clicks (all)'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Post-engagement goal: BEFORE $0.00229 / AFTER $0.00264 per engagement. Interactions goal (AFTER, 20 ads, $4,580): 64,611 interactions at $0.071; 279,545 post engagements at $0.0164. ThruPlay: $0.0049 (1 ad) → $0.0112 (3 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Mixology_Reach_Aug_26: spend $1,243, cost/1k reached $0.413, freq 1.19
Mixology_Reach_Jul_26: spend $2,315, cost/1k reached $0.436, freq 1.05
Happy Meal_July'26: spend $519, cost/1k reached $0.437, freq 1.05
MCD_Cheddar_sauce_Reach_July'26: spend $582, cost/1k reached $0.470, freq 1.04
Generic_Reach_July'2026: spend $897, cost/1k reached $0.470, freq 1.02
Generic_Reach_Sep'2026: spend $1,350, cost/1k reached $0.476, freq 1.05
MCD Chicken-reach-september: spend $541, cost/1k reached $0.521, freq 1.39
FIFA_Reach_July'26: spend $3,578, cost/1k reached $0.525, freq 1.16
Generic_Reach_Aug'2026: spend $892, cost/1k reached $0.535, freq 1.03
MCD&amp;Spiderman_HM_Reach_Aug_26: spend $3,023, cost/1k reached $0.610, freq 1.17
MCD_Grimace_Aug_26: spend $1,184, cost/1k reached $0.661, freq 1.05
Opening_Nizami Mall: spend $657, cost/1k reached $0.670, freq 1.61
MCD&amp;SpidermanGenZ_Reach_Aug_26: spend $2,929, cost/1k reached $0.704, freq 1.10
McCafe_Reach_Sep_26: spend $2,772, cost/1k reached $0.742, freq 1.13
McChicken_Reach_July'2026: spend $2,929, cost/1k reached $0.772, freq 1.63
AOS_McChicken_Reach_AUG'2026_13043682564: spend $1,302, cost/1k reached $1.036, freq 2.44
EntryLevel_Reach_Sep_26: spend $4,278, cost/1k reached $1.209, freq 2.31
iOS_McChicken_Reach_AUG'2026_13043686683: spend $938, cost/1k reached $1.342, freq 2.76
HM_Reach_Sep'26: spend $4,247, cost/1k reached $1.881, freq 2.62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Grimace: ads 4→3; spend $3,245→$1,840; CPM $0.436→$0.477; freq 2.16→1.23; cost/1k reached $0.940→$0.587; link CTR 0.000%→0.091%
Restaurant openings: ads 1→2; spend $784→$676; CPM $0.331→$0.415; freq 2.41→1.58; cost/1k reached $0.800→$0.654; link CTR 0.000%→0.000%
Mixology: ads 1→8; spend $400→$3,558; CPM $0.332→$0.388; freq 1.54→1.10; cost/1k reached $0.512→$0.427; link CTR 0.000%→0.090%
FIFA / World Cup: ads 18→12; spend $6,581→$4,448; CPM $0.394→$0.431; freq 1.45→1.15; cost/1k reached $0.571→$0.497; link CTR 0.022%→0.082%
Chicken: ads 4→5; spend $2,114→$5,710; CPM $0.336→$0.453; freq 1.90→1.86; cost/1k reached $0.640→$0.841; link CTR 0.000%→0.094%
McCafé: ads 3→2; spend $1,039→$2,772; CPM $0.327→$0.658; freq 1.58→1.13; cost/1k reached $0.518→$0.742; link CTR 0.000%→0.097%
Unmatched work (e.g. Stranger Things, Bizim Burger, McAvto 5.95 in Q2; Spiderman, Entry Level, Generic in Q3) is excluded from this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 A interest-based: Aug $840 spend, $0.589/1k reached, freq 1.32; Sep $2,307, $2.247, freq 3.14. Parents: Aug $1,740, $0.694, freq 1.06; Sep $1,940, $1.575, freq 2.19. Best CTR set campaign: MCD&amp;SpidermanGenZ_Reach_Aug_26; cheapest: Mixology_Reach_Aug_26.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CTR leaders: OnePieceXSpongeBob_16.09 [Happy Meal Traffic Aug'26 13043682564] 0.769%; Spiderman_alixan_07.08 [MCD&amp;SpidermanGenZ_Reach_Aug_26] 0.547%; Spiderman_Menu_06.08 [MCD&amp;SpidermanGenZ_Reach_Aug_26] 0.394%; Spiderman_Menu_16.08 [MCD&amp;SpidermanGenZ_Reach_Aug_26] 0.383%
Engagement leaders: MCxCola content 5 9x16 AZ [Engagement_July'26] 43.84%; Futbol, əyləncə və dadlı anlar [Engagement_July'26] 43.10%; mcdonalds.az x seabreezeresortbaku [Engagement_July'26] 41.55%; FIFA_Grimace_cup [Engagement_July'26] 37.11%
Underperformers: Entry_Level_#1 [EntryLevel_Reach_Sep_26] spend $2,772.00; OnePieceXSpongebob_launch [HM_Reach_Sep'26] spend $2,128.34; McDonald's Sea Breeze [FIFA_Reach_July'26] spend $330.00; visa_17.07 [MCD_Visa_July'26] spend $325.73
Creator ads Q2: Nigar_collab post_reach, Frimazi_collab post_ig_reach; Q3: Chicken_offer_inf_16.08.26, Chicken_offer_inf_16.08.26, chicken influencer.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CD_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74520"/>
            <a:ext cx="6309360" cy="73152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CD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4" name="Text 0"/>
          <p:cNvSpPr/>
          <p:nvPr/>
        </p:nvSpPr>
        <p:spPr>
          <a:xfrm>
            <a:off x="548640" y="6419088"/>
            <a:ext cx="8229600" cy="228600"/>
          </a:xfrm>
          <a:prstGeom prst="rect">
            <a:avLst/>
          </a:prstGeom>
          <a:noFill/>
          <a:ln/>
        </p:spPr>
        <p:txBody>
          <a:bodyPr wrap="square" lIns="0" tIns="0" rIns="0" bIns="0" rtlCol="0" anchor="ctr"/>
          <a:lstStyle/>
          <a:p>
            <a:pPr indent="0" marL="0">
              <a:buNone/>
            </a:pPr>
            <a:r>
              <a:rPr lang="en-US" sz="900" dirty="0">
                <a:solidFill>
                  <a:schemeClr val="accent5"/>
                </a:solidFill>
              </a:rPr>
              <a:t>McDonald's Azerbaijan  ·  Meta performance review  ·  Apr–Jun vs Jul–Sep 2026</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640080" y="1417320"/>
            <a:ext cx="60350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QUARTERLY BUSINESS REVIEW  ·  META ADVERTISING</a:t>
            </a:r>
            <a:endParaRPr lang="en-US" sz="1200" dirty="0"/>
          </a:p>
        </p:txBody>
      </p:sp>
      <p:sp>
        <p:nvSpPr>
          <p:cNvPr id="3" name="Text 0"/>
          <p:cNvSpPr/>
          <p:nvPr>
            <p:ph idx="100" type="title" hasCustomPrompt="1"/>
          </p:nvPr>
        </p:nvSpPr>
        <p:spPr>
          <a:xfrm>
            <a:off x="640080" y="1874520"/>
            <a:ext cx="6309360" cy="731520"/>
          </a:xfrm>
          <a:prstGeom prst="rect">
            <a:avLst/>
          </a:prstGeom>
          <a:noFill/>
          <a:ln/>
        </p:spPr>
        <p:txBody>
          <a:bodyPr wrap="square" lIns="0" tIns="0" rIns="0" bIns="0" rtlCol="0" anchor="t"/>
          <a:lstStyle/>
          <a:p>
            <a:pPr algn="l" indent="0" marL="0">
              <a:buNone/>
            </a:pPr>
            <a:r>
              <a:rPr lang="en-US" sz="3800" b="1" dirty="0">
                <a:solidFill>
                  <a:schemeClr val="tx1"/>
                </a:solidFill>
              </a:rPr>
              <a:t>McDonald's Azerbaijan</a:t>
            </a:r>
            <a:endParaRPr lang="en-US" sz="3800" dirty="0"/>
          </a:p>
        </p:txBody>
      </p:sp>
      <p:sp>
        <p:nvSpPr>
          <p:cNvPr id="4" name="text-2"/>
          <p:cNvSpPr txBox="1"/>
          <p:nvPr/>
        </p:nvSpPr>
        <p:spPr>
          <a:xfrm>
            <a:off x="640080" y="2651760"/>
            <a:ext cx="6035040" cy="548640"/>
          </a:xfrm>
          <a:prstGeom prst="rect">
            <a:avLst/>
          </a:prstGeom>
          <a:noFill/>
          <a:ln/>
        </p:spPr>
        <p:txBody>
          <a:bodyPr wrap="square" lIns="0" tIns="0" rIns="0" bIns="0" rtlCol="0" anchor="t"/>
          <a:lstStyle/>
          <a:p>
            <a:pPr indent="0" marL="0">
              <a:buNone/>
            </a:pPr>
            <a:r>
              <a:rPr lang="en-US" sz="3000" b="1" dirty="0">
                <a:solidFill>
                  <a:schemeClr val="accent1"/>
                </a:solidFill>
              </a:rPr>
              <a:t>Meta Performance Review</a:t>
            </a:r>
            <a:endParaRPr lang="en-US" sz="3000" dirty="0"/>
          </a:p>
        </p:txBody>
      </p:sp>
      <p:sp>
        <p:nvSpPr>
          <p:cNvPr id="5" name="text-3"/>
          <p:cNvSpPr txBox="1"/>
          <p:nvPr/>
        </p:nvSpPr>
        <p:spPr>
          <a:xfrm>
            <a:off x="640080" y="3291840"/>
            <a:ext cx="6035040" cy="411480"/>
          </a:xfrm>
          <a:prstGeom prst="rect">
            <a:avLst/>
          </a:prstGeom>
          <a:noFill/>
          <a:ln/>
        </p:spPr>
        <p:txBody>
          <a:bodyPr wrap="square" lIns="0" tIns="0" rIns="0" bIns="0" rtlCol="0" anchor="t"/>
          <a:lstStyle/>
          <a:p>
            <a:pPr indent="0" marL="0">
              <a:buNone/>
            </a:pPr>
            <a:r>
              <a:rPr lang="en-US" sz="2000" dirty="0">
                <a:solidFill>
                  <a:schemeClr val="tx2"/>
                </a:solidFill>
              </a:rPr>
              <a:t>April–June vs July–September 2026</a:t>
            </a:r>
            <a:endParaRPr lang="en-US" sz="2000" dirty="0"/>
          </a:p>
        </p:txBody>
      </p:sp>
      <p:sp>
        <p:nvSpPr>
          <p:cNvPr id="6" name="chip-4"/>
          <p:cNvSpPr txBox="1"/>
          <p:nvPr/>
        </p:nvSpPr>
        <p:spPr>
          <a:xfrm>
            <a:off x="640080" y="4069080"/>
            <a:ext cx="3246120" cy="384048"/>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tx1"/>
                </a:solidFill>
              </a:rPr>
              <a:t>BEFORE  </a:t>
            </a:r>
            <a:pPr algn="ctr" indent="0" marL="0">
              <a:buNone/>
            </a:pPr>
            <a:r>
              <a:rPr lang="en-US" sz="1200" dirty="0">
                <a:solidFill>
                  <a:schemeClr val="tx1"/>
                </a:solidFill>
              </a:rPr>
              <a:t>1 Apr – 30 Jun · previous agency</a:t>
            </a:r>
            <a:endParaRPr lang="en-US" sz="1200" dirty="0"/>
          </a:p>
        </p:txBody>
      </p:sp>
      <p:sp>
        <p:nvSpPr>
          <p:cNvPr id="7" name="chip-5"/>
          <p:cNvSpPr txBox="1"/>
          <p:nvPr/>
        </p:nvSpPr>
        <p:spPr>
          <a:xfrm>
            <a:off x="4023360" y="4069080"/>
            <a:ext cx="3108960" cy="384048"/>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tx1"/>
                </a:solidFill>
              </a:rPr>
              <a:t>AFTER  </a:t>
            </a:r>
            <a:pPr algn="ctr" indent="0" marL="0">
              <a:buNone/>
            </a:pPr>
            <a:r>
              <a:rPr lang="en-US" sz="1200" dirty="0">
                <a:solidFill>
                  <a:schemeClr val="tx1"/>
                </a:solidFill>
              </a:rPr>
              <a:t>1 Jul – 30 Sep · current agency</a:t>
            </a:r>
            <a:endParaRPr lang="en-US" sz="1200" dirty="0"/>
          </a:p>
        </p:txBody>
      </p:sp>
      <p:sp>
        <p:nvSpPr>
          <p:cNvPr id="8" name="logo-placeholder-6"/>
          <p:cNvSpPr txBox="1"/>
          <p:nvPr/>
        </p:nvSpPr>
        <p:spPr>
          <a:xfrm>
            <a:off x="640080" y="457200"/>
            <a:ext cx="2377440" cy="685800"/>
          </a:xfrm>
          <a:prstGeom prst="roundRect">
            <a:avLst>
              <a:gd name="adj" fmla="val 13333"/>
            </a:avLst>
          </a:prstGeom>
          <a:noFill/>
          <a:ln w="12700">
            <a:solidFill>
              <a:schemeClr val="accent3"/>
            </a:solidFill>
            <a:prstDash val="dash"/>
          </a:ln>
        </p:spPr>
        <p:txBody>
          <a:bodyPr wrap="square" lIns="635" tIns="635" rIns="635" bIns="635" rtlCol="0" anchor="ctr"/>
          <a:lstStyle/>
          <a:p>
            <a:pPr algn="ctr" indent="0" marL="0">
              <a:buNone/>
            </a:pPr>
            <a:r>
              <a:rPr lang="en-US" sz="1000" dirty="0">
                <a:solidFill>
                  <a:schemeClr val="accent5"/>
                </a:solidFill>
              </a:rPr>
              <a:t>Official McDonald's logo</a:t>
            </a:r>
            <a:endParaRPr lang="en-US" sz="1000" dirty="0"/>
          </a:p>
          <a:p>
            <a:pPr algn="ctr" indent="0" marL="0">
              <a:buNone/>
            </a:pPr>
            <a:r>
              <a:rPr lang="en-US" sz="1000" dirty="0">
                <a:solidFill>
                  <a:schemeClr val="accent5"/>
                </a:solidFill>
              </a:rPr>
              <a:t>(placeholder – add assets/mcd_logo.png)</a:t>
            </a:r>
            <a:endParaRPr lang="en-US" sz="1000" dirty="0"/>
          </a:p>
        </p:txBody>
      </p:sp>
      <p:sp>
        <p:nvSpPr>
          <p:cNvPr id="9" name="agency-placeholder-7"/>
          <p:cNvSpPr txBox="1"/>
          <p:nvPr/>
        </p:nvSpPr>
        <p:spPr>
          <a:xfrm>
            <a:off x="640080" y="5623560"/>
            <a:ext cx="1645920" cy="548640"/>
          </a:xfrm>
          <a:prstGeom prst="roundRect">
            <a:avLst>
              <a:gd name="adj" fmla="val 16667"/>
            </a:avLst>
          </a:prstGeom>
          <a:noFill/>
          <a:ln w="12700">
            <a:solidFill>
              <a:schemeClr val="accent3"/>
            </a:solidFill>
            <a:prstDash val="dash"/>
          </a:ln>
        </p:spPr>
        <p:txBody>
          <a:bodyPr wrap="square" lIns="635" tIns="635" rIns="635" bIns="635" rtlCol="0" anchor="ctr"/>
          <a:lstStyle/>
          <a:p>
            <a:pPr algn="ctr" indent="0" marL="0">
              <a:buNone/>
            </a:pPr>
            <a:r>
              <a:rPr lang="en-US" sz="1000" dirty="0">
                <a:solidFill>
                  <a:schemeClr val="accent5"/>
                </a:solidFill>
              </a:rPr>
              <a:t>Agency logo</a:t>
            </a:r>
            <a:endParaRPr lang="en-US" sz="1000" dirty="0"/>
          </a:p>
          <a:p>
            <a:pPr algn="ctr" indent="0" marL="0">
              <a:buNone/>
            </a:pPr>
            <a:r>
              <a:rPr lang="en-US" sz="1000" dirty="0">
                <a:solidFill>
                  <a:schemeClr val="accent5"/>
                </a:solidFill>
              </a:rPr>
              <a:t>(placeholder)</a:t>
            </a:r>
            <a:endParaRPr lang="en-US" sz="1000" dirty="0"/>
          </a:p>
        </p:txBody>
      </p:sp>
      <p:sp>
        <p:nvSpPr>
          <p:cNvPr id="10" name="text-8"/>
          <p:cNvSpPr txBox="1"/>
          <p:nvPr/>
        </p:nvSpPr>
        <p:spPr>
          <a:xfrm>
            <a:off x="2514600" y="5760720"/>
            <a:ext cx="2743200" cy="274320"/>
          </a:xfrm>
          <a:prstGeom prst="rect">
            <a:avLst/>
          </a:prstGeom>
          <a:noFill/>
          <a:ln/>
        </p:spPr>
        <p:txBody>
          <a:bodyPr wrap="square" lIns="0" tIns="0" rIns="0" bIns="0" rtlCol="0" anchor="ctr"/>
          <a:lstStyle/>
          <a:p>
            <a:pPr indent="0" marL="0">
              <a:buNone/>
            </a:pPr>
            <a:r>
              <a:rPr lang="en-US" sz="1100" dirty="0">
                <a:solidFill>
                  <a:schemeClr val="accent5"/>
                </a:solidFill>
              </a:rPr>
              <a:t>Prepared October 2026</a:t>
            </a:r>
            <a:endParaRPr lang="en-US" sz="1100" dirty="0"/>
          </a:p>
        </p:txBody>
      </p:sp>
      <p:sp>
        <p:nvSpPr>
          <p:cNvPr id="11" name="card-9"/>
          <p:cNvSpPr/>
          <p:nvPr/>
        </p:nvSpPr>
        <p:spPr>
          <a:xfrm>
            <a:off x="7406640" y="548640"/>
            <a:ext cx="4251960" cy="5760720"/>
          </a:xfrm>
          <a:prstGeom prst="roundRect">
            <a:avLst>
              <a:gd name="adj" fmla="val 2581"/>
            </a:avLst>
          </a:prstGeom>
          <a:solidFill>
            <a:schemeClr val="accent6"/>
          </a:solidFill>
          <a:ln/>
        </p:spPr>
      </p:sp>
      <p:sp>
        <p:nvSpPr>
          <p:cNvPr id="12" name="cover-arch-10"/>
          <p:cNvSpPr/>
          <p:nvPr/>
        </p:nvSpPr>
        <p:spPr>
          <a:xfrm>
            <a:off x="7658100" y="4434840"/>
            <a:ext cx="3749040" cy="3749040"/>
          </a:xfrm>
          <a:prstGeom prst="blockArc">
            <a:avLst>
              <a:gd name="adj1" fmla="val 10800000"/>
              <a:gd name="adj2" fmla="val 0"/>
              <a:gd name="adj3" fmla="val 10000"/>
            </a:avLst>
          </a:prstGeom>
          <a:solidFill>
            <a:schemeClr val="accent2"/>
          </a:solidFill>
          <a:ln/>
        </p:spPr>
      </p:sp>
      <p:sp>
        <p:nvSpPr>
          <p:cNvPr id="13" name="cover-arch-11"/>
          <p:cNvSpPr/>
          <p:nvPr/>
        </p:nvSpPr>
        <p:spPr>
          <a:xfrm>
            <a:off x="8183880" y="4960620"/>
            <a:ext cx="2697480" cy="2697480"/>
          </a:xfrm>
          <a:prstGeom prst="blockArc">
            <a:avLst>
              <a:gd name="adj1" fmla="val 10800000"/>
              <a:gd name="adj2" fmla="val 0"/>
              <a:gd name="adj3" fmla="val 12000"/>
            </a:avLst>
          </a:prstGeom>
          <a:solidFill>
            <a:schemeClr val="accent1"/>
          </a:solidFill>
          <a:ln/>
        </p:spPr>
      </p:sp>
      <p:sp>
        <p:nvSpPr>
          <p:cNvPr id="14" name="cover-arch-12"/>
          <p:cNvSpPr/>
          <p:nvPr/>
        </p:nvSpPr>
        <p:spPr>
          <a:xfrm>
            <a:off x="8709660" y="5486400"/>
            <a:ext cx="1645920" cy="1645920"/>
          </a:xfrm>
          <a:prstGeom prst="blockArc">
            <a:avLst>
              <a:gd name="adj1" fmla="val 10800000"/>
              <a:gd name="adj2" fmla="val 0"/>
              <a:gd name="adj3" fmla="val 17000"/>
            </a:avLst>
          </a:prstGeom>
          <a:solidFill>
            <a:schemeClr val="accent2"/>
          </a:solidFill>
          <a:ln/>
        </p:spPr>
      </p:sp>
      <p:sp>
        <p:nvSpPr>
          <p:cNvPr id="15" name="dot-13"/>
          <p:cNvSpPr/>
          <p:nvPr/>
        </p:nvSpPr>
        <p:spPr>
          <a:xfrm>
            <a:off x="10561320" y="1005840"/>
            <a:ext cx="502920" cy="502920"/>
          </a:xfrm>
          <a:prstGeom prst="ellipse">
            <a:avLst/>
          </a:prstGeom>
          <a:solidFill>
            <a:schemeClr val="accent1"/>
          </a:solidFill>
          <a:ln/>
        </p:spPr>
      </p:sp>
      <p:sp>
        <p:nvSpPr>
          <p:cNvPr id="16" name="dot-14"/>
          <p:cNvSpPr/>
          <p:nvPr/>
        </p:nvSpPr>
        <p:spPr>
          <a:xfrm>
            <a:off x="7863840" y="1463040"/>
            <a:ext cx="274320" cy="274320"/>
          </a:xfrm>
          <a:prstGeom prst="ellipse">
            <a:avLst/>
          </a:prstGeom>
          <a:solidFill>
            <a:schemeClr val="accent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EXECUTIVE SUMMARY</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Q3 bought broader reach and much stronger clicks; media cost and engagement efficiency are the next battleground</a:t>
            </a:r>
            <a:endParaRPr lang="en-US" sz="2600" dirty="0"/>
          </a:p>
        </p:txBody>
      </p:sp>
      <p:sp>
        <p:nvSpPr>
          <p:cNvPr id="4" name="arch-motif-15"/>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card-16"/>
          <p:cNvSpPr/>
          <p:nvPr/>
        </p:nvSpPr>
        <p:spPr>
          <a:xfrm>
            <a:off x="548640" y="1755648"/>
            <a:ext cx="11091672" cy="749808"/>
          </a:xfrm>
          <a:prstGeom prst="roundRect">
            <a:avLst>
              <a:gd name="adj" fmla="val 14634"/>
            </a:avLst>
          </a:prstGeom>
          <a:solidFill>
            <a:schemeClr val="bg2"/>
          </a:solidFill>
          <a:ln/>
        </p:spPr>
      </p:sp>
      <p:sp>
        <p:nvSpPr>
          <p:cNvPr id="6" name="num-17"/>
          <p:cNvSpPr txBox="1"/>
          <p:nvPr/>
        </p:nvSpPr>
        <p:spPr>
          <a:xfrm>
            <a:off x="731520" y="1901952"/>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18"/>
          <p:cNvSpPr txBox="1"/>
          <p:nvPr/>
        </p:nvSpPr>
        <p:spPr>
          <a:xfrm>
            <a:off x="1371600" y="1847088"/>
            <a:ext cx="7863840" cy="274320"/>
          </a:xfrm>
          <a:prstGeom prst="rect">
            <a:avLst/>
          </a:prstGeom>
          <a:noFill/>
          <a:ln/>
        </p:spPr>
        <p:txBody>
          <a:bodyPr wrap="square" lIns="0" tIns="0" rIns="0" bIns="0" rtlCol="0" anchor="t"/>
          <a:lstStyle/>
          <a:p>
            <a:pPr indent="0" marL="0">
              <a:buNone/>
            </a:pPr>
            <a:r>
              <a:rPr lang="en-US" sz="1500" b="1" dirty="0">
                <a:solidFill>
                  <a:schemeClr val="tx1"/>
                </a:solidFill>
              </a:rPr>
              <a:t>Scale: budget +33%, reach +30%</a:t>
            </a:r>
            <a:endParaRPr lang="en-US" sz="1500" dirty="0"/>
          </a:p>
        </p:txBody>
      </p:sp>
      <p:sp>
        <p:nvSpPr>
          <p:cNvPr id="8" name="text-19"/>
          <p:cNvSpPr txBox="1"/>
          <p:nvPr/>
        </p:nvSpPr>
        <p:spPr>
          <a:xfrm>
            <a:off x="1371600" y="2121408"/>
            <a:ext cx="7955280" cy="365760"/>
          </a:xfrm>
          <a:prstGeom prst="rect">
            <a:avLst/>
          </a:prstGeom>
          <a:noFill/>
          <a:ln/>
        </p:spPr>
        <p:txBody>
          <a:bodyPr wrap="square" lIns="0" tIns="0" rIns="0" bIns="0" rtlCol="0" anchor="t"/>
          <a:lstStyle/>
          <a:p>
            <a:pPr indent="0" marL="0">
              <a:buNone/>
            </a:pPr>
            <a:r>
              <a:rPr lang="en-US" sz="1150" dirty="0">
                <a:solidFill>
                  <a:schemeClr val="tx2"/>
                </a:solidFill>
              </a:rPr>
              <a:t>Spend rose from $37.8K to $50.3K. Summed reach grew almost in line while frequency fell from 1.75 to 1.40 – more people, fewer repeats.</a:t>
            </a:r>
            <a:endParaRPr lang="en-US" sz="1150" dirty="0"/>
          </a:p>
        </p:txBody>
      </p:sp>
      <p:sp>
        <p:nvSpPr>
          <p:cNvPr id="9" name="text-20"/>
          <p:cNvSpPr txBox="1"/>
          <p:nvPr/>
        </p:nvSpPr>
        <p:spPr>
          <a:xfrm>
            <a:off x="9464040" y="1828800"/>
            <a:ext cx="2011680" cy="411480"/>
          </a:xfrm>
          <a:prstGeom prst="rect">
            <a:avLst/>
          </a:prstGeom>
          <a:noFill/>
          <a:ln/>
        </p:spPr>
        <p:txBody>
          <a:bodyPr wrap="square" lIns="0" tIns="0" rIns="0" bIns="0" rtlCol="0" anchor="t"/>
          <a:lstStyle/>
          <a:p>
            <a:pPr algn="r" indent="0" marL="0">
              <a:buNone/>
            </a:pPr>
            <a:r>
              <a:rPr lang="en-US" sz="2400" b="1" dirty="0">
                <a:solidFill>
                  <a:schemeClr val="tx1"/>
                </a:solidFill>
              </a:rPr>
              <a:t>+30%</a:t>
            </a:r>
            <a:endParaRPr lang="en-US" sz="2400" dirty="0"/>
          </a:p>
        </p:txBody>
      </p:sp>
      <p:sp>
        <p:nvSpPr>
          <p:cNvPr id="10" name="text-21"/>
          <p:cNvSpPr txBox="1"/>
          <p:nvPr/>
        </p:nvSpPr>
        <p:spPr>
          <a:xfrm>
            <a:off x="9464040" y="2231136"/>
            <a:ext cx="2011680" cy="228600"/>
          </a:xfrm>
          <a:prstGeom prst="rect">
            <a:avLst/>
          </a:prstGeom>
          <a:noFill/>
          <a:ln/>
        </p:spPr>
        <p:txBody>
          <a:bodyPr wrap="square" lIns="0" tIns="0" rIns="0" bIns="0" rtlCol="0" anchor="t"/>
          <a:lstStyle/>
          <a:p>
            <a:pPr algn="r" indent="0" marL="0">
              <a:buNone/>
            </a:pPr>
            <a:r>
              <a:rPr lang="en-US" sz="1000" dirty="0">
                <a:solidFill>
                  <a:schemeClr val="accent5"/>
                </a:solidFill>
              </a:rPr>
              <a:t>reach</a:t>
            </a:r>
            <a:endParaRPr lang="en-US" sz="1000" dirty="0"/>
          </a:p>
        </p:txBody>
      </p:sp>
      <p:sp>
        <p:nvSpPr>
          <p:cNvPr id="11" name="card-22"/>
          <p:cNvSpPr/>
          <p:nvPr/>
        </p:nvSpPr>
        <p:spPr>
          <a:xfrm>
            <a:off x="548640" y="2624328"/>
            <a:ext cx="11091672" cy="749808"/>
          </a:xfrm>
          <a:prstGeom prst="roundRect">
            <a:avLst>
              <a:gd name="adj" fmla="val 14634"/>
            </a:avLst>
          </a:prstGeom>
          <a:solidFill>
            <a:schemeClr val="bg2"/>
          </a:solidFill>
          <a:ln/>
        </p:spPr>
      </p:sp>
      <p:sp>
        <p:nvSpPr>
          <p:cNvPr id="12" name="num-23"/>
          <p:cNvSpPr txBox="1"/>
          <p:nvPr/>
        </p:nvSpPr>
        <p:spPr>
          <a:xfrm>
            <a:off x="731520" y="2770632"/>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3" name="text-24"/>
          <p:cNvSpPr txBox="1"/>
          <p:nvPr/>
        </p:nvSpPr>
        <p:spPr>
          <a:xfrm>
            <a:off x="1371600" y="2715768"/>
            <a:ext cx="7863840" cy="274320"/>
          </a:xfrm>
          <a:prstGeom prst="rect">
            <a:avLst/>
          </a:prstGeom>
          <a:noFill/>
          <a:ln/>
        </p:spPr>
        <p:txBody>
          <a:bodyPr wrap="square" lIns="0" tIns="0" rIns="0" bIns="0" rtlCol="0" anchor="t"/>
          <a:lstStyle/>
          <a:p>
            <a:pPr indent="0" marL="0">
              <a:buNone/>
            </a:pPr>
            <a:r>
              <a:rPr lang="en-US" sz="1500" b="1" dirty="0">
                <a:solidFill>
                  <a:schemeClr val="tx1"/>
                </a:solidFill>
              </a:rPr>
              <a:t>Traffic is the clearest efficiency win</a:t>
            </a:r>
            <a:endParaRPr lang="en-US" sz="1500" dirty="0"/>
          </a:p>
        </p:txBody>
      </p:sp>
      <p:sp>
        <p:nvSpPr>
          <p:cNvPr id="14" name="text-25"/>
          <p:cNvSpPr txBox="1"/>
          <p:nvPr/>
        </p:nvSpPr>
        <p:spPr>
          <a:xfrm>
            <a:off x="1371600" y="2990088"/>
            <a:ext cx="7955280" cy="365760"/>
          </a:xfrm>
          <a:prstGeom prst="rect">
            <a:avLst/>
          </a:prstGeom>
          <a:noFill/>
          <a:ln/>
        </p:spPr>
        <p:txBody>
          <a:bodyPr wrap="square" lIns="0" tIns="0" rIns="0" bIns="0" rtlCol="0" anchor="t"/>
          <a:lstStyle/>
          <a:p>
            <a:pPr indent="0" marL="0">
              <a:buNone/>
            </a:pPr>
            <a:r>
              <a:rPr lang="en-US" sz="1150" dirty="0">
                <a:solidFill>
                  <a:schemeClr val="tx2"/>
                </a:solidFill>
              </a:rPr>
              <a:t>Link clicks +54%, link CTR +48% and CPC down from $0.62 to $0.53. Reach campaigns alone produced 4.9× more link clicks.</a:t>
            </a:r>
            <a:endParaRPr lang="en-US" sz="1150" dirty="0"/>
          </a:p>
        </p:txBody>
      </p:sp>
      <p:sp>
        <p:nvSpPr>
          <p:cNvPr id="15" name="text-26"/>
          <p:cNvSpPr txBox="1"/>
          <p:nvPr/>
        </p:nvSpPr>
        <p:spPr>
          <a:xfrm>
            <a:off x="9464040" y="2697480"/>
            <a:ext cx="2011680" cy="411480"/>
          </a:xfrm>
          <a:prstGeom prst="rect">
            <a:avLst/>
          </a:prstGeom>
          <a:noFill/>
          <a:ln/>
        </p:spPr>
        <p:txBody>
          <a:bodyPr wrap="square" lIns="0" tIns="0" rIns="0" bIns="0" rtlCol="0" anchor="t"/>
          <a:lstStyle/>
          <a:p>
            <a:pPr algn="r" indent="0" marL="0">
              <a:buNone/>
            </a:pPr>
            <a:r>
              <a:rPr lang="en-US" sz="2400" b="1" dirty="0">
                <a:solidFill>
                  <a:schemeClr val="accent4"/>
                </a:solidFill>
              </a:rPr>
              <a:t>−13%</a:t>
            </a:r>
            <a:endParaRPr lang="en-US" sz="2400" dirty="0"/>
          </a:p>
        </p:txBody>
      </p:sp>
      <p:sp>
        <p:nvSpPr>
          <p:cNvPr id="16" name="text-27"/>
          <p:cNvSpPr txBox="1"/>
          <p:nvPr/>
        </p:nvSpPr>
        <p:spPr>
          <a:xfrm>
            <a:off x="9464040" y="3099816"/>
            <a:ext cx="2011680" cy="228600"/>
          </a:xfrm>
          <a:prstGeom prst="rect">
            <a:avLst/>
          </a:prstGeom>
          <a:noFill/>
          <a:ln/>
        </p:spPr>
        <p:txBody>
          <a:bodyPr wrap="square" lIns="0" tIns="0" rIns="0" bIns="0" rtlCol="0" anchor="t"/>
          <a:lstStyle/>
          <a:p>
            <a:pPr algn="r" indent="0" marL="0">
              <a:buNone/>
            </a:pPr>
            <a:r>
              <a:rPr lang="en-US" sz="1000" dirty="0">
                <a:solidFill>
                  <a:schemeClr val="accent5"/>
                </a:solidFill>
              </a:rPr>
              <a:t>CPC</a:t>
            </a:r>
            <a:endParaRPr lang="en-US" sz="1000" dirty="0"/>
          </a:p>
        </p:txBody>
      </p:sp>
      <p:sp>
        <p:nvSpPr>
          <p:cNvPr id="17" name="card-28"/>
          <p:cNvSpPr/>
          <p:nvPr/>
        </p:nvSpPr>
        <p:spPr>
          <a:xfrm>
            <a:off x="548640" y="3493008"/>
            <a:ext cx="11091672" cy="749808"/>
          </a:xfrm>
          <a:prstGeom prst="roundRect">
            <a:avLst>
              <a:gd name="adj" fmla="val 14634"/>
            </a:avLst>
          </a:prstGeom>
          <a:solidFill>
            <a:schemeClr val="bg2"/>
          </a:solidFill>
          <a:ln/>
        </p:spPr>
      </p:sp>
      <p:sp>
        <p:nvSpPr>
          <p:cNvPr id="18" name="num-29"/>
          <p:cNvSpPr txBox="1"/>
          <p:nvPr/>
        </p:nvSpPr>
        <p:spPr>
          <a:xfrm>
            <a:off x="731520" y="3639312"/>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9" name="text-30"/>
          <p:cNvSpPr txBox="1"/>
          <p:nvPr/>
        </p:nvSpPr>
        <p:spPr>
          <a:xfrm>
            <a:off x="1371600" y="3584448"/>
            <a:ext cx="7863840" cy="274320"/>
          </a:xfrm>
          <a:prstGeom prst="rect">
            <a:avLst/>
          </a:prstGeom>
          <a:noFill/>
          <a:ln/>
        </p:spPr>
        <p:txBody>
          <a:bodyPr wrap="square" lIns="0" tIns="0" rIns="0" bIns="0" rtlCol="0" anchor="t"/>
          <a:lstStyle/>
          <a:p>
            <a:pPr indent="0" marL="0">
              <a:buNone/>
            </a:pPr>
            <a:r>
              <a:rPr lang="en-US" sz="1500" b="1" dirty="0">
                <a:solidFill>
                  <a:schemeClr val="tx1"/>
                </a:solidFill>
              </a:rPr>
              <a:t>Reach campaigns reach people more cheaply</a:t>
            </a:r>
            <a:endParaRPr lang="en-US" sz="1500" dirty="0"/>
          </a:p>
        </p:txBody>
      </p:sp>
      <p:sp>
        <p:nvSpPr>
          <p:cNvPr id="20" name="text-31"/>
          <p:cNvSpPr txBox="1"/>
          <p:nvPr/>
        </p:nvSpPr>
        <p:spPr>
          <a:xfrm>
            <a:off x="1371600" y="3858768"/>
            <a:ext cx="7955280" cy="365760"/>
          </a:xfrm>
          <a:prstGeom prst="rect">
            <a:avLst/>
          </a:prstGeom>
          <a:noFill/>
          <a:ln/>
        </p:spPr>
        <p:txBody>
          <a:bodyPr wrap="square" lIns="0" tIns="0" rIns="0" bIns="0" rtlCol="0" anchor="t"/>
          <a:lstStyle/>
          <a:p>
            <a:pPr indent="0" marL="0">
              <a:buNone/>
            </a:pPr>
            <a:r>
              <a:rPr lang="en-US" sz="1150" dirty="0">
                <a:solidFill>
                  <a:schemeClr val="tx2"/>
                </a:solidFill>
              </a:rPr>
              <a:t>In Reach-objective campaigns, cost per 1,000 people reached fell from $0.71 to $0.67: lower frequency more than offset a +23% CPM increase.</a:t>
            </a:r>
            <a:endParaRPr lang="en-US" sz="1150" dirty="0"/>
          </a:p>
        </p:txBody>
      </p:sp>
      <p:sp>
        <p:nvSpPr>
          <p:cNvPr id="21" name="text-32"/>
          <p:cNvSpPr txBox="1"/>
          <p:nvPr/>
        </p:nvSpPr>
        <p:spPr>
          <a:xfrm>
            <a:off x="9464040" y="3566160"/>
            <a:ext cx="2011680" cy="411480"/>
          </a:xfrm>
          <a:prstGeom prst="rect">
            <a:avLst/>
          </a:prstGeom>
          <a:noFill/>
          <a:ln/>
        </p:spPr>
        <p:txBody>
          <a:bodyPr wrap="square" lIns="0" tIns="0" rIns="0" bIns="0" rtlCol="0" anchor="t"/>
          <a:lstStyle/>
          <a:p>
            <a:pPr algn="r" indent="0" marL="0">
              <a:buNone/>
            </a:pPr>
            <a:r>
              <a:rPr lang="en-US" sz="2400" b="1" dirty="0">
                <a:solidFill>
                  <a:schemeClr val="accent4"/>
                </a:solidFill>
              </a:rPr>
              <a:t>−5%</a:t>
            </a:r>
            <a:endParaRPr lang="en-US" sz="2400" dirty="0"/>
          </a:p>
        </p:txBody>
      </p:sp>
      <p:sp>
        <p:nvSpPr>
          <p:cNvPr id="22" name="text-33"/>
          <p:cNvSpPr txBox="1"/>
          <p:nvPr/>
        </p:nvSpPr>
        <p:spPr>
          <a:xfrm>
            <a:off x="9464040" y="3968496"/>
            <a:ext cx="2011680" cy="228600"/>
          </a:xfrm>
          <a:prstGeom prst="rect">
            <a:avLst/>
          </a:prstGeom>
          <a:noFill/>
          <a:ln/>
        </p:spPr>
        <p:txBody>
          <a:bodyPr wrap="square" lIns="0" tIns="0" rIns="0" bIns="0" rtlCol="0" anchor="t"/>
          <a:lstStyle/>
          <a:p>
            <a:pPr algn="r" indent="0" marL="0">
              <a:buNone/>
            </a:pPr>
            <a:r>
              <a:rPr lang="en-US" sz="1000" dirty="0">
                <a:solidFill>
                  <a:schemeClr val="accent5"/>
                </a:solidFill>
              </a:rPr>
              <a:t>cost / 1,000 reached</a:t>
            </a:r>
            <a:endParaRPr lang="en-US" sz="1000" dirty="0"/>
          </a:p>
        </p:txBody>
      </p:sp>
      <p:sp>
        <p:nvSpPr>
          <p:cNvPr id="23" name="card-34"/>
          <p:cNvSpPr/>
          <p:nvPr/>
        </p:nvSpPr>
        <p:spPr>
          <a:xfrm>
            <a:off x="548640" y="4361688"/>
            <a:ext cx="11091672" cy="749808"/>
          </a:xfrm>
          <a:prstGeom prst="roundRect">
            <a:avLst>
              <a:gd name="adj" fmla="val 14634"/>
            </a:avLst>
          </a:prstGeom>
          <a:solidFill>
            <a:schemeClr val="bg2"/>
          </a:solidFill>
          <a:ln/>
        </p:spPr>
      </p:sp>
      <p:sp>
        <p:nvSpPr>
          <p:cNvPr id="24" name="num-35"/>
          <p:cNvSpPr txBox="1"/>
          <p:nvPr/>
        </p:nvSpPr>
        <p:spPr>
          <a:xfrm>
            <a:off x="731520" y="4507992"/>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36"/>
          <p:cNvSpPr txBox="1"/>
          <p:nvPr/>
        </p:nvSpPr>
        <p:spPr>
          <a:xfrm>
            <a:off x="1371600" y="4453128"/>
            <a:ext cx="7863840" cy="274320"/>
          </a:xfrm>
          <a:prstGeom prst="rect">
            <a:avLst/>
          </a:prstGeom>
          <a:noFill/>
          <a:ln/>
        </p:spPr>
        <p:txBody>
          <a:bodyPr wrap="square" lIns="0" tIns="0" rIns="0" bIns="0" rtlCol="0" anchor="t"/>
          <a:lstStyle/>
          <a:p>
            <a:pPr indent="0" marL="0">
              <a:buNone/>
            </a:pPr>
            <a:r>
              <a:rPr lang="en-US" sz="1500" b="1" dirty="0">
                <a:solidFill>
                  <a:schemeClr val="tx1"/>
                </a:solidFill>
              </a:rPr>
              <a:t>Media cost and engagement efficiency declined</a:t>
            </a:r>
            <a:endParaRPr lang="en-US" sz="1500" dirty="0"/>
          </a:p>
        </p:txBody>
      </p:sp>
      <p:sp>
        <p:nvSpPr>
          <p:cNvPr id="26" name="text-37"/>
          <p:cNvSpPr txBox="1"/>
          <p:nvPr/>
        </p:nvSpPr>
        <p:spPr>
          <a:xfrm>
            <a:off x="1371600" y="4727448"/>
            <a:ext cx="7955280" cy="365760"/>
          </a:xfrm>
          <a:prstGeom prst="rect">
            <a:avLst/>
          </a:prstGeom>
          <a:noFill/>
          <a:ln/>
        </p:spPr>
        <p:txBody>
          <a:bodyPr wrap="square" lIns="0" tIns="0" rIns="0" bIns="0" rtlCol="0" anchor="t"/>
          <a:lstStyle/>
          <a:p>
            <a:pPr indent="0" marL="0">
              <a:buNone/>
            </a:pPr>
            <a:r>
              <a:rPr lang="en-US" sz="1150" dirty="0">
                <a:solidFill>
                  <a:schemeClr val="tx2"/>
                </a:solidFill>
              </a:rPr>
              <a:t>Account CPM rose 28%. Post engagements (−2%) and 3-second plays (−2%) stayed flat on the bigger budget, so cost per engagement rose 35%.</a:t>
            </a:r>
            <a:endParaRPr lang="en-US" sz="1150" dirty="0"/>
          </a:p>
        </p:txBody>
      </p:sp>
      <p:sp>
        <p:nvSpPr>
          <p:cNvPr id="27" name="text-38"/>
          <p:cNvSpPr txBox="1"/>
          <p:nvPr/>
        </p:nvSpPr>
        <p:spPr>
          <a:xfrm>
            <a:off x="9464040" y="4434840"/>
            <a:ext cx="2011680" cy="411480"/>
          </a:xfrm>
          <a:prstGeom prst="rect">
            <a:avLst/>
          </a:prstGeom>
          <a:noFill/>
          <a:ln/>
        </p:spPr>
        <p:txBody>
          <a:bodyPr wrap="square" lIns="0" tIns="0" rIns="0" bIns="0" rtlCol="0" anchor="t"/>
          <a:lstStyle/>
          <a:p>
            <a:pPr algn="r" indent="0" marL="0">
              <a:buNone/>
            </a:pPr>
            <a:r>
              <a:rPr lang="en-US" sz="2400" b="1" dirty="0">
                <a:solidFill>
                  <a:schemeClr val="accent1"/>
                </a:solidFill>
              </a:rPr>
              <a:t>+28%</a:t>
            </a:r>
            <a:endParaRPr lang="en-US" sz="2400" dirty="0"/>
          </a:p>
        </p:txBody>
      </p:sp>
      <p:sp>
        <p:nvSpPr>
          <p:cNvPr id="28" name="text-39"/>
          <p:cNvSpPr txBox="1"/>
          <p:nvPr/>
        </p:nvSpPr>
        <p:spPr>
          <a:xfrm>
            <a:off x="9464040" y="4837176"/>
            <a:ext cx="2011680" cy="228600"/>
          </a:xfrm>
          <a:prstGeom prst="rect">
            <a:avLst/>
          </a:prstGeom>
          <a:noFill/>
          <a:ln/>
        </p:spPr>
        <p:txBody>
          <a:bodyPr wrap="square" lIns="0" tIns="0" rIns="0" bIns="0" rtlCol="0" anchor="t"/>
          <a:lstStyle/>
          <a:p>
            <a:pPr algn="r" indent="0" marL="0">
              <a:buNone/>
            </a:pPr>
            <a:r>
              <a:rPr lang="en-US" sz="1000" dirty="0">
                <a:solidFill>
                  <a:schemeClr val="accent5"/>
                </a:solidFill>
              </a:rPr>
              <a:t>CPM</a:t>
            </a:r>
            <a:endParaRPr lang="en-US" sz="1000" dirty="0"/>
          </a:p>
        </p:txBody>
      </p:sp>
      <p:sp>
        <p:nvSpPr>
          <p:cNvPr id="29" name="card-40"/>
          <p:cNvSpPr/>
          <p:nvPr/>
        </p:nvSpPr>
        <p:spPr>
          <a:xfrm>
            <a:off x="548640" y="5230368"/>
            <a:ext cx="11091672" cy="749808"/>
          </a:xfrm>
          <a:prstGeom prst="roundRect">
            <a:avLst>
              <a:gd name="adj" fmla="val 14634"/>
            </a:avLst>
          </a:prstGeom>
          <a:solidFill>
            <a:schemeClr val="bg2"/>
          </a:solidFill>
          <a:ln/>
        </p:spPr>
      </p:sp>
      <p:sp>
        <p:nvSpPr>
          <p:cNvPr id="30" name="num-41"/>
          <p:cNvSpPr txBox="1"/>
          <p:nvPr/>
        </p:nvSpPr>
        <p:spPr>
          <a:xfrm>
            <a:off x="731520" y="5376672"/>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text-42"/>
          <p:cNvSpPr txBox="1"/>
          <p:nvPr/>
        </p:nvSpPr>
        <p:spPr>
          <a:xfrm>
            <a:off x="1371600" y="5321808"/>
            <a:ext cx="7863840" cy="274320"/>
          </a:xfrm>
          <a:prstGeom prst="rect">
            <a:avLst/>
          </a:prstGeom>
          <a:noFill/>
          <a:ln/>
        </p:spPr>
        <p:txBody>
          <a:bodyPr wrap="square" lIns="0" tIns="0" rIns="0" bIns="0" rtlCol="0" anchor="t"/>
          <a:lstStyle/>
          <a:p>
            <a:pPr indent="0" marL="0">
              <a:buNone/>
            </a:pPr>
            <a:r>
              <a:rPr lang="en-US" sz="1500" b="1" dirty="0">
                <a:solidFill>
                  <a:schemeClr val="tx1"/>
                </a:solidFill>
              </a:rPr>
              <a:t>26% of Q3 spend sits in three fixable pockets</a:t>
            </a:r>
            <a:endParaRPr lang="en-US" sz="1500" dirty="0"/>
          </a:p>
        </p:txBody>
      </p:sp>
      <p:sp>
        <p:nvSpPr>
          <p:cNvPr id="32" name="text-43"/>
          <p:cNvSpPr txBox="1"/>
          <p:nvPr/>
        </p:nvSpPr>
        <p:spPr>
          <a:xfrm>
            <a:off x="1371600" y="5596128"/>
            <a:ext cx="7955280" cy="365760"/>
          </a:xfrm>
          <a:prstGeom prst="rect">
            <a:avLst/>
          </a:prstGeom>
          <a:noFill/>
          <a:ln/>
        </p:spPr>
        <p:txBody>
          <a:bodyPr wrap="square" lIns="0" tIns="0" rIns="0" bIns="0" rtlCol="0" anchor="t"/>
          <a:lstStyle/>
          <a:p>
            <a:pPr indent="0" marL="0">
              <a:buNone/>
            </a:pPr>
            <a:r>
              <a:rPr lang="en-US" sz="1150" dirty="0">
                <a:solidFill>
                  <a:schemeClr val="tx2"/>
                </a:solidFill>
              </a:rPr>
              <a:t>September Happy Meal and Entry Level reach campaigns (frequency 2.3–2.6) and Interactions-optimised engagement ads cost 1.8–6× more per outcome than the Q3 norm.</a:t>
            </a:r>
            <a:endParaRPr lang="en-US" sz="1150" dirty="0"/>
          </a:p>
        </p:txBody>
      </p:sp>
      <p:sp>
        <p:nvSpPr>
          <p:cNvPr id="33" name="text-44"/>
          <p:cNvSpPr txBox="1"/>
          <p:nvPr/>
        </p:nvSpPr>
        <p:spPr>
          <a:xfrm>
            <a:off x="9464040" y="5303520"/>
            <a:ext cx="2011680" cy="411480"/>
          </a:xfrm>
          <a:prstGeom prst="rect">
            <a:avLst/>
          </a:prstGeom>
          <a:noFill/>
          <a:ln/>
        </p:spPr>
        <p:txBody>
          <a:bodyPr wrap="square" lIns="0" tIns="0" rIns="0" bIns="0" rtlCol="0" anchor="t"/>
          <a:lstStyle/>
          <a:p>
            <a:pPr algn="r" indent="0" marL="0">
              <a:buNone/>
            </a:pPr>
            <a:r>
              <a:rPr lang="en-US" sz="2400" b="1" dirty="0">
                <a:solidFill>
                  <a:schemeClr val="accent1"/>
                </a:solidFill>
              </a:rPr>
              <a:t>$13.1K</a:t>
            </a:r>
            <a:endParaRPr lang="en-US" sz="2400" dirty="0"/>
          </a:p>
        </p:txBody>
      </p:sp>
      <p:sp>
        <p:nvSpPr>
          <p:cNvPr id="34" name="text-45"/>
          <p:cNvSpPr txBox="1"/>
          <p:nvPr/>
        </p:nvSpPr>
        <p:spPr>
          <a:xfrm>
            <a:off x="9464040" y="5705856"/>
            <a:ext cx="2011680" cy="228600"/>
          </a:xfrm>
          <a:prstGeom prst="rect">
            <a:avLst/>
          </a:prstGeom>
          <a:noFill/>
          <a:ln/>
        </p:spPr>
        <p:txBody>
          <a:bodyPr wrap="square" lIns="0" tIns="0" rIns="0" bIns="0" rtlCol="0" anchor="t"/>
          <a:lstStyle/>
          <a:p>
            <a:pPr algn="r" indent="0" marL="0">
              <a:buNone/>
            </a:pPr>
            <a:r>
              <a:rPr lang="en-US" sz="1000" dirty="0">
                <a:solidFill>
                  <a:schemeClr val="accent5"/>
                </a:solidFill>
              </a:rPr>
              <a:t>of AFTER spend</a:t>
            </a:r>
            <a:endParaRPr lang="en-US" sz="1000" dirty="0"/>
          </a:p>
        </p:txBody>
      </p:sp>
      <p:sp>
        <p:nvSpPr>
          <p:cNvPr id="35" name="text-46"/>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Source: Meta Ads Manager ad-level exports – BEFORE 1 Apr–30 Jun 2026 (77 ads), AFTER 1 Jul–30 Sep 2026 (106 ads). Rates recalculated from totals (weighted), not averaged.</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BEFORE VS AFTER · PERFORMANCE SNAPSHOT</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At a glance: +33% budget bought +30% reach and +54% link clicks</a:t>
            </a:r>
            <a:endParaRPr lang="en-US" sz="2600" dirty="0"/>
          </a:p>
        </p:txBody>
      </p:sp>
      <p:sp>
        <p:nvSpPr>
          <p:cNvPr id="4" name="arch-motif-47"/>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card-48"/>
          <p:cNvSpPr/>
          <p:nvPr/>
        </p:nvSpPr>
        <p:spPr>
          <a:xfrm>
            <a:off x="548640" y="1719072"/>
            <a:ext cx="2057400" cy="1847088"/>
          </a:xfrm>
          <a:prstGeom prst="roundRect">
            <a:avLst>
              <a:gd name="adj" fmla="val 5941"/>
            </a:avLst>
          </a:prstGeom>
          <a:solidFill>
            <a:schemeClr val="bg2"/>
          </a:solidFill>
          <a:ln/>
        </p:spPr>
      </p:sp>
      <p:sp>
        <p:nvSpPr>
          <p:cNvPr id="6" name="text-49"/>
          <p:cNvSpPr txBox="1"/>
          <p:nvPr/>
        </p:nvSpPr>
        <p:spPr>
          <a:xfrm>
            <a:off x="731520" y="1901952"/>
            <a:ext cx="169164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AMOUNT SPENT</a:t>
            </a:r>
            <a:endParaRPr lang="en-US" sz="1050" dirty="0"/>
          </a:p>
        </p:txBody>
      </p:sp>
      <p:sp>
        <p:nvSpPr>
          <p:cNvPr id="7" name="text-50"/>
          <p:cNvSpPr txBox="1"/>
          <p:nvPr/>
        </p:nvSpPr>
        <p:spPr>
          <a:xfrm>
            <a:off x="731520" y="2176272"/>
            <a:ext cx="1691640" cy="502920"/>
          </a:xfrm>
          <a:prstGeom prst="rect">
            <a:avLst/>
          </a:prstGeom>
          <a:noFill/>
          <a:ln/>
        </p:spPr>
        <p:txBody>
          <a:bodyPr wrap="square" lIns="0" tIns="0" rIns="0" bIns="0" rtlCol="0" anchor="t"/>
          <a:lstStyle/>
          <a:p>
            <a:pPr indent="0" marL="0">
              <a:buNone/>
            </a:pPr>
            <a:r>
              <a:rPr lang="en-US" sz="2800" b="1" dirty="0">
                <a:solidFill>
                  <a:schemeClr val="tx1"/>
                </a:solidFill>
              </a:rPr>
              <a:t>$50.3K</a:t>
            </a:r>
            <a:endParaRPr lang="en-US" sz="2800" dirty="0"/>
          </a:p>
        </p:txBody>
      </p:sp>
      <p:sp>
        <p:nvSpPr>
          <p:cNvPr id="8" name="text-51"/>
          <p:cNvSpPr txBox="1"/>
          <p:nvPr/>
        </p:nvSpPr>
        <p:spPr>
          <a:xfrm>
            <a:off x="731520" y="2679192"/>
            <a:ext cx="1691640" cy="201168"/>
          </a:xfrm>
          <a:prstGeom prst="rect">
            <a:avLst/>
          </a:prstGeom>
          <a:noFill/>
          <a:ln/>
        </p:spPr>
        <p:txBody>
          <a:bodyPr wrap="square" lIns="0" tIns="0" rIns="0" bIns="0" rtlCol="0" anchor="t"/>
          <a:lstStyle/>
          <a:p>
            <a:pPr indent="0" marL="0">
              <a:buNone/>
            </a:pPr>
            <a:r>
              <a:rPr lang="en-US" sz="950" dirty="0">
                <a:solidFill>
                  <a:schemeClr val="accent5"/>
                </a:solidFill>
              </a:rPr>
              <a:t>AFTER (Jul–Sep)</a:t>
            </a:r>
            <a:endParaRPr lang="en-US" sz="950" dirty="0"/>
          </a:p>
        </p:txBody>
      </p:sp>
      <p:sp>
        <p:nvSpPr>
          <p:cNvPr id="9" name="text-52"/>
          <p:cNvSpPr txBox="1"/>
          <p:nvPr/>
        </p:nvSpPr>
        <p:spPr>
          <a:xfrm>
            <a:off x="731520" y="2926080"/>
            <a:ext cx="1691640" cy="228600"/>
          </a:xfrm>
          <a:prstGeom prst="rect">
            <a:avLst/>
          </a:prstGeom>
          <a:noFill/>
          <a:ln/>
        </p:spPr>
        <p:txBody>
          <a:bodyPr wrap="square" lIns="0" tIns="0" rIns="0" bIns="0" rtlCol="0" anchor="t"/>
          <a:lstStyle/>
          <a:p>
            <a:pPr indent="0" marL="0">
              <a:buNone/>
            </a:pPr>
            <a:r>
              <a:rPr lang="en-US" sz="1200" dirty="0">
                <a:solidFill>
                  <a:schemeClr val="accent5"/>
                </a:solidFill>
              </a:rPr>
              <a:t>Before: </a:t>
            </a:r>
            <a:pPr indent="0" marL="0">
              <a:buNone/>
            </a:pPr>
            <a:r>
              <a:rPr lang="en-US" sz="1200" b="1" dirty="0">
                <a:solidFill>
                  <a:schemeClr val="tx2"/>
                </a:solidFill>
              </a:rPr>
              <a:t>$37.8K</a:t>
            </a:r>
            <a:endParaRPr lang="en-US" sz="1200" dirty="0"/>
          </a:p>
        </p:txBody>
      </p:sp>
      <p:sp>
        <p:nvSpPr>
          <p:cNvPr id="10" name="badge-53"/>
          <p:cNvSpPr txBox="1"/>
          <p:nvPr/>
        </p:nvSpPr>
        <p:spPr>
          <a:xfrm>
            <a:off x="731520" y="3227832"/>
            <a:ext cx="960120" cy="292608"/>
          </a:xfrm>
          <a:prstGeom prst="roundRect">
            <a:avLst>
              <a:gd name="adj" fmla="val 50000"/>
            </a:avLst>
          </a:prstGeom>
          <a:solidFill>
            <a:schemeClr val="accent5"/>
          </a:solidFill>
          <a:ln/>
        </p:spPr>
        <p:txBody>
          <a:bodyPr wrap="square" lIns="0" tIns="0" rIns="0" bIns="0" rtlCol="0" anchor="ctr"/>
          <a:lstStyle/>
          <a:p>
            <a:pPr algn="ctr" indent="0" marL="0">
              <a:buNone/>
            </a:pPr>
            <a:r>
              <a:rPr lang="en-US" sz="1200" b="1" dirty="0">
                <a:solidFill>
                  <a:schemeClr val="bg1"/>
                </a:solidFill>
              </a:rPr>
              <a:t>▲ 33%</a:t>
            </a:r>
            <a:endParaRPr lang="en-US" sz="1200" dirty="0"/>
          </a:p>
        </p:txBody>
      </p:sp>
      <p:sp>
        <p:nvSpPr>
          <p:cNvPr id="11" name="card-54"/>
          <p:cNvSpPr/>
          <p:nvPr/>
        </p:nvSpPr>
        <p:spPr>
          <a:xfrm>
            <a:off x="2807208" y="1719072"/>
            <a:ext cx="2057400" cy="1847088"/>
          </a:xfrm>
          <a:prstGeom prst="roundRect">
            <a:avLst>
              <a:gd name="adj" fmla="val 5941"/>
            </a:avLst>
          </a:prstGeom>
          <a:solidFill>
            <a:schemeClr val="bg2"/>
          </a:solidFill>
          <a:ln/>
        </p:spPr>
      </p:sp>
      <p:sp>
        <p:nvSpPr>
          <p:cNvPr id="12" name="text-55"/>
          <p:cNvSpPr txBox="1"/>
          <p:nvPr/>
        </p:nvSpPr>
        <p:spPr>
          <a:xfrm>
            <a:off x="2990088" y="1901952"/>
            <a:ext cx="169164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REACH*</a:t>
            </a:r>
            <a:endParaRPr lang="en-US" sz="1050" dirty="0"/>
          </a:p>
        </p:txBody>
      </p:sp>
      <p:sp>
        <p:nvSpPr>
          <p:cNvPr id="13" name="text-56"/>
          <p:cNvSpPr txBox="1"/>
          <p:nvPr/>
        </p:nvSpPr>
        <p:spPr>
          <a:xfrm>
            <a:off x="2990088" y="2176272"/>
            <a:ext cx="1691640" cy="502920"/>
          </a:xfrm>
          <a:prstGeom prst="rect">
            <a:avLst/>
          </a:prstGeom>
          <a:noFill/>
          <a:ln/>
        </p:spPr>
        <p:txBody>
          <a:bodyPr wrap="square" lIns="0" tIns="0" rIns="0" bIns="0" rtlCol="0" anchor="t"/>
          <a:lstStyle/>
          <a:p>
            <a:pPr indent="0" marL="0">
              <a:buNone/>
            </a:pPr>
            <a:r>
              <a:rPr lang="en-US" sz="2800" b="1" dirty="0">
                <a:solidFill>
                  <a:schemeClr val="tx1"/>
                </a:solidFill>
              </a:rPr>
              <a:t>62.4M</a:t>
            </a:r>
            <a:endParaRPr lang="en-US" sz="2800" dirty="0"/>
          </a:p>
        </p:txBody>
      </p:sp>
      <p:sp>
        <p:nvSpPr>
          <p:cNvPr id="14" name="text-57"/>
          <p:cNvSpPr txBox="1"/>
          <p:nvPr/>
        </p:nvSpPr>
        <p:spPr>
          <a:xfrm>
            <a:off x="2990088" y="2679192"/>
            <a:ext cx="1691640" cy="201168"/>
          </a:xfrm>
          <a:prstGeom prst="rect">
            <a:avLst/>
          </a:prstGeom>
          <a:noFill/>
          <a:ln/>
        </p:spPr>
        <p:txBody>
          <a:bodyPr wrap="square" lIns="0" tIns="0" rIns="0" bIns="0" rtlCol="0" anchor="t"/>
          <a:lstStyle/>
          <a:p>
            <a:pPr indent="0" marL="0">
              <a:buNone/>
            </a:pPr>
            <a:r>
              <a:rPr lang="en-US" sz="950" dirty="0">
                <a:solidFill>
                  <a:schemeClr val="accent5"/>
                </a:solidFill>
              </a:rPr>
              <a:t>AFTER (Jul–Sep)</a:t>
            </a:r>
            <a:endParaRPr lang="en-US" sz="950" dirty="0"/>
          </a:p>
        </p:txBody>
      </p:sp>
      <p:sp>
        <p:nvSpPr>
          <p:cNvPr id="15" name="text-58"/>
          <p:cNvSpPr txBox="1"/>
          <p:nvPr/>
        </p:nvSpPr>
        <p:spPr>
          <a:xfrm>
            <a:off x="2990088" y="2926080"/>
            <a:ext cx="1691640" cy="228600"/>
          </a:xfrm>
          <a:prstGeom prst="rect">
            <a:avLst/>
          </a:prstGeom>
          <a:noFill/>
          <a:ln/>
        </p:spPr>
        <p:txBody>
          <a:bodyPr wrap="square" lIns="0" tIns="0" rIns="0" bIns="0" rtlCol="0" anchor="t"/>
          <a:lstStyle/>
          <a:p>
            <a:pPr indent="0" marL="0">
              <a:buNone/>
            </a:pPr>
            <a:r>
              <a:rPr lang="en-US" sz="1200" dirty="0">
                <a:solidFill>
                  <a:schemeClr val="accent5"/>
                </a:solidFill>
              </a:rPr>
              <a:t>Before: </a:t>
            </a:r>
            <a:pPr indent="0" marL="0">
              <a:buNone/>
            </a:pPr>
            <a:r>
              <a:rPr lang="en-US" sz="1200" b="1" dirty="0">
                <a:solidFill>
                  <a:schemeClr val="tx2"/>
                </a:solidFill>
              </a:rPr>
              <a:t>48.1M</a:t>
            </a:r>
            <a:endParaRPr lang="en-US" sz="1200" dirty="0"/>
          </a:p>
        </p:txBody>
      </p:sp>
      <p:sp>
        <p:nvSpPr>
          <p:cNvPr id="16" name="badge-59"/>
          <p:cNvSpPr txBox="1"/>
          <p:nvPr/>
        </p:nvSpPr>
        <p:spPr>
          <a:xfrm>
            <a:off x="2990088" y="3227832"/>
            <a:ext cx="96012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30%</a:t>
            </a:r>
            <a:endParaRPr lang="en-US" sz="1200" dirty="0"/>
          </a:p>
        </p:txBody>
      </p:sp>
      <p:sp>
        <p:nvSpPr>
          <p:cNvPr id="17" name="card-60"/>
          <p:cNvSpPr/>
          <p:nvPr/>
        </p:nvSpPr>
        <p:spPr>
          <a:xfrm>
            <a:off x="5065776" y="1719072"/>
            <a:ext cx="2057400" cy="1847088"/>
          </a:xfrm>
          <a:prstGeom prst="roundRect">
            <a:avLst>
              <a:gd name="adj" fmla="val 5941"/>
            </a:avLst>
          </a:prstGeom>
          <a:solidFill>
            <a:schemeClr val="bg2"/>
          </a:solidFill>
          <a:ln/>
        </p:spPr>
      </p:sp>
      <p:sp>
        <p:nvSpPr>
          <p:cNvPr id="18" name="text-61"/>
          <p:cNvSpPr txBox="1"/>
          <p:nvPr/>
        </p:nvSpPr>
        <p:spPr>
          <a:xfrm>
            <a:off x="5248656" y="1901952"/>
            <a:ext cx="169164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IMPRESSIONS</a:t>
            </a:r>
            <a:endParaRPr lang="en-US" sz="1050" dirty="0"/>
          </a:p>
        </p:txBody>
      </p:sp>
      <p:sp>
        <p:nvSpPr>
          <p:cNvPr id="19" name="text-62"/>
          <p:cNvSpPr txBox="1"/>
          <p:nvPr/>
        </p:nvSpPr>
        <p:spPr>
          <a:xfrm>
            <a:off x="5248656" y="2176272"/>
            <a:ext cx="1691640" cy="502920"/>
          </a:xfrm>
          <a:prstGeom prst="rect">
            <a:avLst/>
          </a:prstGeom>
          <a:noFill/>
          <a:ln/>
        </p:spPr>
        <p:txBody>
          <a:bodyPr wrap="square" lIns="0" tIns="0" rIns="0" bIns="0" rtlCol="0" anchor="t"/>
          <a:lstStyle/>
          <a:p>
            <a:pPr indent="0" marL="0">
              <a:buNone/>
            </a:pPr>
            <a:r>
              <a:rPr lang="en-US" sz="2800" b="1" dirty="0">
                <a:solidFill>
                  <a:schemeClr val="tx1"/>
                </a:solidFill>
              </a:rPr>
              <a:t>87.6M</a:t>
            </a:r>
            <a:endParaRPr lang="en-US" sz="2800" dirty="0"/>
          </a:p>
        </p:txBody>
      </p:sp>
      <p:sp>
        <p:nvSpPr>
          <p:cNvPr id="20" name="text-63"/>
          <p:cNvSpPr txBox="1"/>
          <p:nvPr/>
        </p:nvSpPr>
        <p:spPr>
          <a:xfrm>
            <a:off x="5248656" y="2679192"/>
            <a:ext cx="1691640" cy="201168"/>
          </a:xfrm>
          <a:prstGeom prst="rect">
            <a:avLst/>
          </a:prstGeom>
          <a:noFill/>
          <a:ln/>
        </p:spPr>
        <p:txBody>
          <a:bodyPr wrap="square" lIns="0" tIns="0" rIns="0" bIns="0" rtlCol="0" anchor="t"/>
          <a:lstStyle/>
          <a:p>
            <a:pPr indent="0" marL="0">
              <a:buNone/>
            </a:pPr>
            <a:r>
              <a:rPr lang="en-US" sz="950" dirty="0">
                <a:solidFill>
                  <a:schemeClr val="accent5"/>
                </a:solidFill>
              </a:rPr>
              <a:t>AFTER (Jul–Sep)</a:t>
            </a:r>
            <a:endParaRPr lang="en-US" sz="950" dirty="0"/>
          </a:p>
        </p:txBody>
      </p:sp>
      <p:sp>
        <p:nvSpPr>
          <p:cNvPr id="21" name="text-64"/>
          <p:cNvSpPr txBox="1"/>
          <p:nvPr/>
        </p:nvSpPr>
        <p:spPr>
          <a:xfrm>
            <a:off x="5248656" y="2926080"/>
            <a:ext cx="1691640" cy="228600"/>
          </a:xfrm>
          <a:prstGeom prst="rect">
            <a:avLst/>
          </a:prstGeom>
          <a:noFill/>
          <a:ln/>
        </p:spPr>
        <p:txBody>
          <a:bodyPr wrap="square" lIns="0" tIns="0" rIns="0" bIns="0" rtlCol="0" anchor="t"/>
          <a:lstStyle/>
          <a:p>
            <a:pPr indent="0" marL="0">
              <a:buNone/>
            </a:pPr>
            <a:r>
              <a:rPr lang="en-US" sz="1200" dirty="0">
                <a:solidFill>
                  <a:schemeClr val="accent5"/>
                </a:solidFill>
              </a:rPr>
              <a:t>Before: </a:t>
            </a:r>
            <a:pPr indent="0" marL="0">
              <a:buNone/>
            </a:pPr>
            <a:r>
              <a:rPr lang="en-US" sz="1200" b="1" dirty="0">
                <a:solidFill>
                  <a:schemeClr val="tx2"/>
                </a:solidFill>
              </a:rPr>
              <a:t>84.3M</a:t>
            </a:r>
            <a:endParaRPr lang="en-US" sz="1200" dirty="0"/>
          </a:p>
        </p:txBody>
      </p:sp>
      <p:sp>
        <p:nvSpPr>
          <p:cNvPr id="22" name="badge-65"/>
          <p:cNvSpPr txBox="1"/>
          <p:nvPr/>
        </p:nvSpPr>
        <p:spPr>
          <a:xfrm>
            <a:off x="5248656" y="3227832"/>
            <a:ext cx="96012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4%</a:t>
            </a:r>
            <a:endParaRPr lang="en-US" sz="1200" dirty="0"/>
          </a:p>
        </p:txBody>
      </p:sp>
      <p:sp>
        <p:nvSpPr>
          <p:cNvPr id="23" name="card-66"/>
          <p:cNvSpPr/>
          <p:nvPr/>
        </p:nvSpPr>
        <p:spPr>
          <a:xfrm>
            <a:off x="7324344" y="1719072"/>
            <a:ext cx="2057400" cy="1847088"/>
          </a:xfrm>
          <a:prstGeom prst="roundRect">
            <a:avLst>
              <a:gd name="adj" fmla="val 5941"/>
            </a:avLst>
          </a:prstGeom>
          <a:solidFill>
            <a:schemeClr val="bg2"/>
          </a:solidFill>
          <a:ln/>
        </p:spPr>
      </p:sp>
      <p:sp>
        <p:nvSpPr>
          <p:cNvPr id="24" name="text-67"/>
          <p:cNvSpPr txBox="1"/>
          <p:nvPr/>
        </p:nvSpPr>
        <p:spPr>
          <a:xfrm>
            <a:off x="7507224" y="1901952"/>
            <a:ext cx="169164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FREQUENCY*</a:t>
            </a:r>
            <a:endParaRPr lang="en-US" sz="1050" dirty="0"/>
          </a:p>
        </p:txBody>
      </p:sp>
      <p:sp>
        <p:nvSpPr>
          <p:cNvPr id="25" name="text-68"/>
          <p:cNvSpPr txBox="1"/>
          <p:nvPr/>
        </p:nvSpPr>
        <p:spPr>
          <a:xfrm>
            <a:off x="7507224" y="2176272"/>
            <a:ext cx="1691640" cy="502920"/>
          </a:xfrm>
          <a:prstGeom prst="rect">
            <a:avLst/>
          </a:prstGeom>
          <a:noFill/>
          <a:ln/>
        </p:spPr>
        <p:txBody>
          <a:bodyPr wrap="square" lIns="0" tIns="0" rIns="0" bIns="0" rtlCol="0" anchor="t"/>
          <a:lstStyle/>
          <a:p>
            <a:pPr indent="0" marL="0">
              <a:buNone/>
            </a:pPr>
            <a:r>
              <a:rPr lang="en-US" sz="2800" b="1" dirty="0">
                <a:solidFill>
                  <a:schemeClr val="tx1"/>
                </a:solidFill>
              </a:rPr>
              <a:t>1.40</a:t>
            </a:r>
            <a:endParaRPr lang="en-US" sz="2800" dirty="0"/>
          </a:p>
        </p:txBody>
      </p:sp>
      <p:sp>
        <p:nvSpPr>
          <p:cNvPr id="26" name="text-69"/>
          <p:cNvSpPr txBox="1"/>
          <p:nvPr/>
        </p:nvSpPr>
        <p:spPr>
          <a:xfrm>
            <a:off x="7507224" y="2679192"/>
            <a:ext cx="1691640" cy="201168"/>
          </a:xfrm>
          <a:prstGeom prst="rect">
            <a:avLst/>
          </a:prstGeom>
          <a:noFill/>
          <a:ln/>
        </p:spPr>
        <p:txBody>
          <a:bodyPr wrap="square" lIns="0" tIns="0" rIns="0" bIns="0" rtlCol="0" anchor="t"/>
          <a:lstStyle/>
          <a:p>
            <a:pPr indent="0" marL="0">
              <a:buNone/>
            </a:pPr>
            <a:r>
              <a:rPr lang="en-US" sz="950" dirty="0">
                <a:solidFill>
                  <a:schemeClr val="accent5"/>
                </a:solidFill>
              </a:rPr>
              <a:t>AFTER (Jul–Sep)</a:t>
            </a:r>
            <a:endParaRPr lang="en-US" sz="950" dirty="0"/>
          </a:p>
        </p:txBody>
      </p:sp>
      <p:sp>
        <p:nvSpPr>
          <p:cNvPr id="27" name="text-70"/>
          <p:cNvSpPr txBox="1"/>
          <p:nvPr/>
        </p:nvSpPr>
        <p:spPr>
          <a:xfrm>
            <a:off x="7507224" y="2926080"/>
            <a:ext cx="1691640" cy="228600"/>
          </a:xfrm>
          <a:prstGeom prst="rect">
            <a:avLst/>
          </a:prstGeom>
          <a:noFill/>
          <a:ln/>
        </p:spPr>
        <p:txBody>
          <a:bodyPr wrap="square" lIns="0" tIns="0" rIns="0" bIns="0" rtlCol="0" anchor="t"/>
          <a:lstStyle/>
          <a:p>
            <a:pPr indent="0" marL="0">
              <a:buNone/>
            </a:pPr>
            <a:r>
              <a:rPr lang="en-US" sz="1200" dirty="0">
                <a:solidFill>
                  <a:schemeClr val="accent5"/>
                </a:solidFill>
              </a:rPr>
              <a:t>Before: </a:t>
            </a:r>
            <a:pPr indent="0" marL="0">
              <a:buNone/>
            </a:pPr>
            <a:r>
              <a:rPr lang="en-US" sz="1200" b="1" dirty="0">
                <a:solidFill>
                  <a:schemeClr val="tx2"/>
                </a:solidFill>
              </a:rPr>
              <a:t>1.75</a:t>
            </a:r>
            <a:endParaRPr lang="en-US" sz="1200" dirty="0"/>
          </a:p>
        </p:txBody>
      </p:sp>
      <p:sp>
        <p:nvSpPr>
          <p:cNvPr id="28" name="badge-71"/>
          <p:cNvSpPr txBox="1"/>
          <p:nvPr/>
        </p:nvSpPr>
        <p:spPr>
          <a:xfrm>
            <a:off x="7507224" y="3227832"/>
            <a:ext cx="960120" cy="292608"/>
          </a:xfrm>
          <a:prstGeom prst="roundRect">
            <a:avLst>
              <a:gd name="adj" fmla="val 50000"/>
            </a:avLst>
          </a:prstGeom>
          <a:solidFill>
            <a:schemeClr val="accent5"/>
          </a:solidFill>
          <a:ln/>
        </p:spPr>
        <p:txBody>
          <a:bodyPr wrap="square" lIns="0" tIns="0" rIns="0" bIns="0" rtlCol="0" anchor="ctr"/>
          <a:lstStyle/>
          <a:p>
            <a:pPr algn="ctr" indent="0" marL="0">
              <a:buNone/>
            </a:pPr>
            <a:r>
              <a:rPr lang="en-US" sz="1200" b="1" dirty="0">
                <a:solidFill>
                  <a:schemeClr val="bg1"/>
                </a:solidFill>
              </a:rPr>
              <a:t>▼ 20%</a:t>
            </a:r>
            <a:endParaRPr lang="en-US" sz="1200" dirty="0"/>
          </a:p>
        </p:txBody>
      </p:sp>
      <p:sp>
        <p:nvSpPr>
          <p:cNvPr id="29" name="card-72"/>
          <p:cNvSpPr/>
          <p:nvPr/>
        </p:nvSpPr>
        <p:spPr>
          <a:xfrm>
            <a:off x="9582912" y="1719072"/>
            <a:ext cx="2057400" cy="1847088"/>
          </a:xfrm>
          <a:prstGeom prst="roundRect">
            <a:avLst>
              <a:gd name="adj" fmla="val 5941"/>
            </a:avLst>
          </a:prstGeom>
          <a:solidFill>
            <a:schemeClr val="bg2"/>
          </a:solidFill>
          <a:ln/>
        </p:spPr>
      </p:sp>
      <p:sp>
        <p:nvSpPr>
          <p:cNvPr id="30" name="text-73"/>
          <p:cNvSpPr txBox="1"/>
          <p:nvPr/>
        </p:nvSpPr>
        <p:spPr>
          <a:xfrm>
            <a:off x="9765792" y="1901952"/>
            <a:ext cx="169164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CPM</a:t>
            </a:r>
            <a:endParaRPr lang="en-US" sz="1050" dirty="0"/>
          </a:p>
        </p:txBody>
      </p:sp>
      <p:sp>
        <p:nvSpPr>
          <p:cNvPr id="31" name="text-74"/>
          <p:cNvSpPr txBox="1"/>
          <p:nvPr/>
        </p:nvSpPr>
        <p:spPr>
          <a:xfrm>
            <a:off x="9765792" y="2176272"/>
            <a:ext cx="1691640" cy="502920"/>
          </a:xfrm>
          <a:prstGeom prst="rect">
            <a:avLst/>
          </a:prstGeom>
          <a:noFill/>
          <a:ln/>
        </p:spPr>
        <p:txBody>
          <a:bodyPr wrap="square" lIns="0" tIns="0" rIns="0" bIns="0" rtlCol="0" anchor="t"/>
          <a:lstStyle/>
          <a:p>
            <a:pPr indent="0" marL="0">
              <a:buNone/>
            </a:pPr>
            <a:r>
              <a:rPr lang="en-US" sz="2800" b="1" dirty="0">
                <a:solidFill>
                  <a:schemeClr val="tx1"/>
                </a:solidFill>
              </a:rPr>
              <a:t>$0.57</a:t>
            </a:r>
            <a:endParaRPr lang="en-US" sz="2800" dirty="0"/>
          </a:p>
        </p:txBody>
      </p:sp>
      <p:sp>
        <p:nvSpPr>
          <p:cNvPr id="32" name="text-75"/>
          <p:cNvSpPr txBox="1"/>
          <p:nvPr/>
        </p:nvSpPr>
        <p:spPr>
          <a:xfrm>
            <a:off x="9765792" y="2679192"/>
            <a:ext cx="1691640" cy="201168"/>
          </a:xfrm>
          <a:prstGeom prst="rect">
            <a:avLst/>
          </a:prstGeom>
          <a:noFill/>
          <a:ln/>
        </p:spPr>
        <p:txBody>
          <a:bodyPr wrap="square" lIns="0" tIns="0" rIns="0" bIns="0" rtlCol="0" anchor="t"/>
          <a:lstStyle/>
          <a:p>
            <a:pPr indent="0" marL="0">
              <a:buNone/>
            </a:pPr>
            <a:r>
              <a:rPr lang="en-US" sz="950" dirty="0">
                <a:solidFill>
                  <a:schemeClr val="accent5"/>
                </a:solidFill>
              </a:rPr>
              <a:t>AFTER (Jul–Sep)</a:t>
            </a:r>
            <a:endParaRPr lang="en-US" sz="950" dirty="0"/>
          </a:p>
        </p:txBody>
      </p:sp>
      <p:sp>
        <p:nvSpPr>
          <p:cNvPr id="33" name="text-76"/>
          <p:cNvSpPr txBox="1"/>
          <p:nvPr/>
        </p:nvSpPr>
        <p:spPr>
          <a:xfrm>
            <a:off x="9765792" y="2926080"/>
            <a:ext cx="1691640" cy="228600"/>
          </a:xfrm>
          <a:prstGeom prst="rect">
            <a:avLst/>
          </a:prstGeom>
          <a:noFill/>
          <a:ln/>
        </p:spPr>
        <p:txBody>
          <a:bodyPr wrap="square" lIns="0" tIns="0" rIns="0" bIns="0" rtlCol="0" anchor="t"/>
          <a:lstStyle/>
          <a:p>
            <a:pPr indent="0" marL="0">
              <a:buNone/>
            </a:pPr>
            <a:r>
              <a:rPr lang="en-US" sz="1200" dirty="0">
                <a:solidFill>
                  <a:schemeClr val="accent5"/>
                </a:solidFill>
              </a:rPr>
              <a:t>Before: </a:t>
            </a:r>
            <a:pPr indent="0" marL="0">
              <a:buNone/>
            </a:pPr>
            <a:r>
              <a:rPr lang="en-US" sz="1200" b="1" dirty="0">
                <a:solidFill>
                  <a:schemeClr val="tx2"/>
                </a:solidFill>
              </a:rPr>
              <a:t>$0.45</a:t>
            </a:r>
            <a:endParaRPr lang="en-US" sz="1200" dirty="0"/>
          </a:p>
        </p:txBody>
      </p:sp>
      <p:sp>
        <p:nvSpPr>
          <p:cNvPr id="34" name="badge-77"/>
          <p:cNvSpPr txBox="1"/>
          <p:nvPr/>
        </p:nvSpPr>
        <p:spPr>
          <a:xfrm>
            <a:off x="9765792" y="3227832"/>
            <a:ext cx="9601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 28%</a:t>
            </a:r>
            <a:endParaRPr lang="en-US" sz="1200" dirty="0"/>
          </a:p>
        </p:txBody>
      </p:sp>
      <p:sp>
        <p:nvSpPr>
          <p:cNvPr id="35" name="card-78"/>
          <p:cNvSpPr/>
          <p:nvPr/>
        </p:nvSpPr>
        <p:spPr>
          <a:xfrm>
            <a:off x="548640" y="3749040"/>
            <a:ext cx="2057400" cy="1847088"/>
          </a:xfrm>
          <a:prstGeom prst="roundRect">
            <a:avLst>
              <a:gd name="adj" fmla="val 5941"/>
            </a:avLst>
          </a:prstGeom>
          <a:solidFill>
            <a:schemeClr val="bg2"/>
          </a:solidFill>
          <a:ln/>
        </p:spPr>
      </p:sp>
      <p:sp>
        <p:nvSpPr>
          <p:cNvPr id="36" name="text-79"/>
          <p:cNvSpPr txBox="1"/>
          <p:nvPr/>
        </p:nvSpPr>
        <p:spPr>
          <a:xfrm>
            <a:off x="731520" y="3931920"/>
            <a:ext cx="169164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LINK CLICKS</a:t>
            </a:r>
            <a:endParaRPr lang="en-US" sz="1050" dirty="0"/>
          </a:p>
        </p:txBody>
      </p:sp>
      <p:sp>
        <p:nvSpPr>
          <p:cNvPr id="37" name="text-80"/>
          <p:cNvSpPr txBox="1"/>
          <p:nvPr/>
        </p:nvSpPr>
        <p:spPr>
          <a:xfrm>
            <a:off x="731520" y="4206240"/>
            <a:ext cx="1691640" cy="502920"/>
          </a:xfrm>
          <a:prstGeom prst="rect">
            <a:avLst/>
          </a:prstGeom>
          <a:noFill/>
          <a:ln/>
        </p:spPr>
        <p:txBody>
          <a:bodyPr wrap="square" lIns="0" tIns="0" rIns="0" bIns="0" rtlCol="0" anchor="t"/>
          <a:lstStyle/>
          <a:p>
            <a:pPr indent="0" marL="0">
              <a:buNone/>
            </a:pPr>
            <a:r>
              <a:rPr lang="en-US" sz="2800" b="1" dirty="0">
                <a:solidFill>
                  <a:schemeClr val="tx1"/>
                </a:solidFill>
              </a:rPr>
              <a:t>94.4K</a:t>
            </a:r>
            <a:endParaRPr lang="en-US" sz="2800" dirty="0"/>
          </a:p>
        </p:txBody>
      </p:sp>
      <p:sp>
        <p:nvSpPr>
          <p:cNvPr id="38" name="text-81"/>
          <p:cNvSpPr txBox="1"/>
          <p:nvPr/>
        </p:nvSpPr>
        <p:spPr>
          <a:xfrm>
            <a:off x="731520" y="4709160"/>
            <a:ext cx="1691640" cy="201168"/>
          </a:xfrm>
          <a:prstGeom prst="rect">
            <a:avLst/>
          </a:prstGeom>
          <a:noFill/>
          <a:ln/>
        </p:spPr>
        <p:txBody>
          <a:bodyPr wrap="square" lIns="0" tIns="0" rIns="0" bIns="0" rtlCol="0" anchor="t"/>
          <a:lstStyle/>
          <a:p>
            <a:pPr indent="0" marL="0">
              <a:buNone/>
            </a:pPr>
            <a:r>
              <a:rPr lang="en-US" sz="950" dirty="0">
                <a:solidFill>
                  <a:schemeClr val="accent5"/>
                </a:solidFill>
              </a:rPr>
              <a:t>AFTER (Jul–Sep)</a:t>
            </a:r>
            <a:endParaRPr lang="en-US" sz="950" dirty="0"/>
          </a:p>
        </p:txBody>
      </p:sp>
      <p:sp>
        <p:nvSpPr>
          <p:cNvPr id="39" name="text-82"/>
          <p:cNvSpPr txBox="1"/>
          <p:nvPr/>
        </p:nvSpPr>
        <p:spPr>
          <a:xfrm>
            <a:off x="731520" y="4956048"/>
            <a:ext cx="1691640" cy="228600"/>
          </a:xfrm>
          <a:prstGeom prst="rect">
            <a:avLst/>
          </a:prstGeom>
          <a:noFill/>
          <a:ln/>
        </p:spPr>
        <p:txBody>
          <a:bodyPr wrap="square" lIns="0" tIns="0" rIns="0" bIns="0" rtlCol="0" anchor="t"/>
          <a:lstStyle/>
          <a:p>
            <a:pPr indent="0" marL="0">
              <a:buNone/>
            </a:pPr>
            <a:r>
              <a:rPr lang="en-US" sz="1200" dirty="0">
                <a:solidFill>
                  <a:schemeClr val="accent5"/>
                </a:solidFill>
              </a:rPr>
              <a:t>Before: </a:t>
            </a:r>
            <a:pPr indent="0" marL="0">
              <a:buNone/>
            </a:pPr>
            <a:r>
              <a:rPr lang="en-US" sz="1200" b="1" dirty="0">
                <a:solidFill>
                  <a:schemeClr val="tx2"/>
                </a:solidFill>
              </a:rPr>
              <a:t>61.4K</a:t>
            </a:r>
            <a:endParaRPr lang="en-US" sz="1200" dirty="0"/>
          </a:p>
        </p:txBody>
      </p:sp>
      <p:sp>
        <p:nvSpPr>
          <p:cNvPr id="40" name="badge-83"/>
          <p:cNvSpPr txBox="1"/>
          <p:nvPr/>
        </p:nvSpPr>
        <p:spPr>
          <a:xfrm>
            <a:off x="731520" y="5257800"/>
            <a:ext cx="96012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54%</a:t>
            </a:r>
            <a:endParaRPr lang="en-US" sz="1200" dirty="0"/>
          </a:p>
        </p:txBody>
      </p:sp>
      <p:sp>
        <p:nvSpPr>
          <p:cNvPr id="41" name="card-84"/>
          <p:cNvSpPr/>
          <p:nvPr/>
        </p:nvSpPr>
        <p:spPr>
          <a:xfrm>
            <a:off x="2807208" y="3749040"/>
            <a:ext cx="2057400" cy="1847088"/>
          </a:xfrm>
          <a:prstGeom prst="roundRect">
            <a:avLst>
              <a:gd name="adj" fmla="val 5941"/>
            </a:avLst>
          </a:prstGeom>
          <a:solidFill>
            <a:schemeClr val="bg2"/>
          </a:solidFill>
          <a:ln/>
        </p:spPr>
      </p:sp>
      <p:sp>
        <p:nvSpPr>
          <p:cNvPr id="42" name="text-85"/>
          <p:cNvSpPr txBox="1"/>
          <p:nvPr/>
        </p:nvSpPr>
        <p:spPr>
          <a:xfrm>
            <a:off x="2990088" y="3931920"/>
            <a:ext cx="169164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LINK CTR</a:t>
            </a:r>
            <a:endParaRPr lang="en-US" sz="1050" dirty="0"/>
          </a:p>
        </p:txBody>
      </p:sp>
      <p:sp>
        <p:nvSpPr>
          <p:cNvPr id="43" name="text-86"/>
          <p:cNvSpPr txBox="1"/>
          <p:nvPr/>
        </p:nvSpPr>
        <p:spPr>
          <a:xfrm>
            <a:off x="2990088" y="4206240"/>
            <a:ext cx="1691640" cy="502920"/>
          </a:xfrm>
          <a:prstGeom prst="rect">
            <a:avLst/>
          </a:prstGeom>
          <a:noFill/>
          <a:ln/>
        </p:spPr>
        <p:txBody>
          <a:bodyPr wrap="square" lIns="0" tIns="0" rIns="0" bIns="0" rtlCol="0" anchor="t"/>
          <a:lstStyle/>
          <a:p>
            <a:pPr indent="0" marL="0">
              <a:buNone/>
            </a:pPr>
            <a:r>
              <a:rPr lang="en-US" sz="2800" b="1" dirty="0">
                <a:solidFill>
                  <a:schemeClr val="tx1"/>
                </a:solidFill>
              </a:rPr>
              <a:t>0.108%</a:t>
            </a:r>
            <a:endParaRPr lang="en-US" sz="2800" dirty="0"/>
          </a:p>
        </p:txBody>
      </p:sp>
      <p:sp>
        <p:nvSpPr>
          <p:cNvPr id="44" name="text-87"/>
          <p:cNvSpPr txBox="1"/>
          <p:nvPr/>
        </p:nvSpPr>
        <p:spPr>
          <a:xfrm>
            <a:off x="2990088" y="4709160"/>
            <a:ext cx="1691640" cy="201168"/>
          </a:xfrm>
          <a:prstGeom prst="rect">
            <a:avLst/>
          </a:prstGeom>
          <a:noFill/>
          <a:ln/>
        </p:spPr>
        <p:txBody>
          <a:bodyPr wrap="square" lIns="0" tIns="0" rIns="0" bIns="0" rtlCol="0" anchor="t"/>
          <a:lstStyle/>
          <a:p>
            <a:pPr indent="0" marL="0">
              <a:buNone/>
            </a:pPr>
            <a:r>
              <a:rPr lang="en-US" sz="950" dirty="0">
                <a:solidFill>
                  <a:schemeClr val="accent5"/>
                </a:solidFill>
              </a:rPr>
              <a:t>AFTER (Jul–Sep)</a:t>
            </a:r>
            <a:endParaRPr lang="en-US" sz="950" dirty="0"/>
          </a:p>
        </p:txBody>
      </p:sp>
      <p:sp>
        <p:nvSpPr>
          <p:cNvPr id="45" name="text-88"/>
          <p:cNvSpPr txBox="1"/>
          <p:nvPr/>
        </p:nvSpPr>
        <p:spPr>
          <a:xfrm>
            <a:off x="2990088" y="4956048"/>
            <a:ext cx="1691640" cy="228600"/>
          </a:xfrm>
          <a:prstGeom prst="rect">
            <a:avLst/>
          </a:prstGeom>
          <a:noFill/>
          <a:ln/>
        </p:spPr>
        <p:txBody>
          <a:bodyPr wrap="square" lIns="0" tIns="0" rIns="0" bIns="0" rtlCol="0" anchor="t"/>
          <a:lstStyle/>
          <a:p>
            <a:pPr indent="0" marL="0">
              <a:buNone/>
            </a:pPr>
            <a:r>
              <a:rPr lang="en-US" sz="1200" dirty="0">
                <a:solidFill>
                  <a:schemeClr val="accent5"/>
                </a:solidFill>
              </a:rPr>
              <a:t>Before: </a:t>
            </a:r>
            <a:pPr indent="0" marL="0">
              <a:buNone/>
            </a:pPr>
            <a:r>
              <a:rPr lang="en-US" sz="1200" b="1" dirty="0">
                <a:solidFill>
                  <a:schemeClr val="tx2"/>
                </a:solidFill>
              </a:rPr>
              <a:t>0.073%</a:t>
            </a:r>
            <a:endParaRPr lang="en-US" sz="1200" dirty="0"/>
          </a:p>
        </p:txBody>
      </p:sp>
      <p:sp>
        <p:nvSpPr>
          <p:cNvPr id="46" name="badge-89"/>
          <p:cNvSpPr txBox="1"/>
          <p:nvPr/>
        </p:nvSpPr>
        <p:spPr>
          <a:xfrm>
            <a:off x="2990088" y="5257800"/>
            <a:ext cx="96012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48%</a:t>
            </a:r>
            <a:endParaRPr lang="en-US" sz="1200" dirty="0"/>
          </a:p>
        </p:txBody>
      </p:sp>
      <p:sp>
        <p:nvSpPr>
          <p:cNvPr id="47" name="card-90"/>
          <p:cNvSpPr/>
          <p:nvPr/>
        </p:nvSpPr>
        <p:spPr>
          <a:xfrm>
            <a:off x="5065776" y="3749040"/>
            <a:ext cx="2057400" cy="1847088"/>
          </a:xfrm>
          <a:prstGeom prst="roundRect">
            <a:avLst>
              <a:gd name="adj" fmla="val 5941"/>
            </a:avLst>
          </a:prstGeom>
          <a:solidFill>
            <a:schemeClr val="bg2"/>
          </a:solidFill>
          <a:ln/>
        </p:spPr>
      </p:sp>
      <p:sp>
        <p:nvSpPr>
          <p:cNvPr id="48" name="text-91"/>
          <p:cNvSpPr txBox="1"/>
          <p:nvPr/>
        </p:nvSpPr>
        <p:spPr>
          <a:xfrm>
            <a:off x="5248656" y="3931920"/>
            <a:ext cx="169164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CPC (LINK)</a:t>
            </a:r>
            <a:endParaRPr lang="en-US" sz="1050" dirty="0"/>
          </a:p>
        </p:txBody>
      </p:sp>
      <p:sp>
        <p:nvSpPr>
          <p:cNvPr id="49" name="text-92"/>
          <p:cNvSpPr txBox="1"/>
          <p:nvPr/>
        </p:nvSpPr>
        <p:spPr>
          <a:xfrm>
            <a:off x="5248656" y="4206240"/>
            <a:ext cx="1691640" cy="502920"/>
          </a:xfrm>
          <a:prstGeom prst="rect">
            <a:avLst/>
          </a:prstGeom>
          <a:noFill/>
          <a:ln/>
        </p:spPr>
        <p:txBody>
          <a:bodyPr wrap="square" lIns="0" tIns="0" rIns="0" bIns="0" rtlCol="0" anchor="t"/>
          <a:lstStyle/>
          <a:p>
            <a:pPr indent="0" marL="0">
              <a:buNone/>
            </a:pPr>
            <a:r>
              <a:rPr lang="en-US" sz="2800" b="1" dirty="0">
                <a:solidFill>
                  <a:schemeClr val="tx1"/>
                </a:solidFill>
              </a:rPr>
              <a:t>$0.53</a:t>
            </a:r>
            <a:endParaRPr lang="en-US" sz="2800" dirty="0"/>
          </a:p>
        </p:txBody>
      </p:sp>
      <p:sp>
        <p:nvSpPr>
          <p:cNvPr id="50" name="text-93"/>
          <p:cNvSpPr txBox="1"/>
          <p:nvPr/>
        </p:nvSpPr>
        <p:spPr>
          <a:xfrm>
            <a:off x="5248656" y="4709160"/>
            <a:ext cx="1691640" cy="201168"/>
          </a:xfrm>
          <a:prstGeom prst="rect">
            <a:avLst/>
          </a:prstGeom>
          <a:noFill/>
          <a:ln/>
        </p:spPr>
        <p:txBody>
          <a:bodyPr wrap="square" lIns="0" tIns="0" rIns="0" bIns="0" rtlCol="0" anchor="t"/>
          <a:lstStyle/>
          <a:p>
            <a:pPr indent="0" marL="0">
              <a:buNone/>
            </a:pPr>
            <a:r>
              <a:rPr lang="en-US" sz="950" dirty="0">
                <a:solidFill>
                  <a:schemeClr val="accent5"/>
                </a:solidFill>
              </a:rPr>
              <a:t>AFTER (Jul–Sep)</a:t>
            </a:r>
            <a:endParaRPr lang="en-US" sz="950" dirty="0"/>
          </a:p>
        </p:txBody>
      </p:sp>
      <p:sp>
        <p:nvSpPr>
          <p:cNvPr id="51" name="text-94"/>
          <p:cNvSpPr txBox="1"/>
          <p:nvPr/>
        </p:nvSpPr>
        <p:spPr>
          <a:xfrm>
            <a:off x="5248656" y="4956048"/>
            <a:ext cx="1691640" cy="228600"/>
          </a:xfrm>
          <a:prstGeom prst="rect">
            <a:avLst/>
          </a:prstGeom>
          <a:noFill/>
          <a:ln/>
        </p:spPr>
        <p:txBody>
          <a:bodyPr wrap="square" lIns="0" tIns="0" rIns="0" bIns="0" rtlCol="0" anchor="t"/>
          <a:lstStyle/>
          <a:p>
            <a:pPr indent="0" marL="0">
              <a:buNone/>
            </a:pPr>
            <a:r>
              <a:rPr lang="en-US" sz="1200" dirty="0">
                <a:solidFill>
                  <a:schemeClr val="accent5"/>
                </a:solidFill>
              </a:rPr>
              <a:t>Before: </a:t>
            </a:r>
            <a:pPr indent="0" marL="0">
              <a:buNone/>
            </a:pPr>
            <a:r>
              <a:rPr lang="en-US" sz="1200" b="1" dirty="0">
                <a:solidFill>
                  <a:schemeClr val="tx2"/>
                </a:solidFill>
              </a:rPr>
              <a:t>$0.62</a:t>
            </a:r>
            <a:endParaRPr lang="en-US" sz="1200" dirty="0"/>
          </a:p>
        </p:txBody>
      </p:sp>
      <p:sp>
        <p:nvSpPr>
          <p:cNvPr id="52" name="badge-95"/>
          <p:cNvSpPr txBox="1"/>
          <p:nvPr/>
        </p:nvSpPr>
        <p:spPr>
          <a:xfrm>
            <a:off x="5248656" y="5257800"/>
            <a:ext cx="96012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13%</a:t>
            </a:r>
            <a:endParaRPr lang="en-US" sz="1200" dirty="0"/>
          </a:p>
        </p:txBody>
      </p:sp>
      <p:sp>
        <p:nvSpPr>
          <p:cNvPr id="53" name="card-96"/>
          <p:cNvSpPr/>
          <p:nvPr/>
        </p:nvSpPr>
        <p:spPr>
          <a:xfrm>
            <a:off x="7324344" y="3749040"/>
            <a:ext cx="2057400" cy="1847088"/>
          </a:xfrm>
          <a:prstGeom prst="roundRect">
            <a:avLst>
              <a:gd name="adj" fmla="val 5941"/>
            </a:avLst>
          </a:prstGeom>
          <a:solidFill>
            <a:schemeClr val="bg2"/>
          </a:solidFill>
          <a:ln/>
        </p:spPr>
      </p:sp>
      <p:sp>
        <p:nvSpPr>
          <p:cNvPr id="54" name="text-97"/>
          <p:cNvSpPr txBox="1"/>
          <p:nvPr/>
        </p:nvSpPr>
        <p:spPr>
          <a:xfrm>
            <a:off x="7507224" y="3931920"/>
            <a:ext cx="169164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POST ENGAGEMENTS</a:t>
            </a:r>
            <a:endParaRPr lang="en-US" sz="1050" dirty="0"/>
          </a:p>
        </p:txBody>
      </p:sp>
      <p:sp>
        <p:nvSpPr>
          <p:cNvPr id="55" name="text-98"/>
          <p:cNvSpPr txBox="1"/>
          <p:nvPr/>
        </p:nvSpPr>
        <p:spPr>
          <a:xfrm>
            <a:off x="7507224" y="4206240"/>
            <a:ext cx="1691640" cy="502920"/>
          </a:xfrm>
          <a:prstGeom prst="rect">
            <a:avLst/>
          </a:prstGeom>
          <a:noFill/>
          <a:ln/>
        </p:spPr>
        <p:txBody>
          <a:bodyPr wrap="square" lIns="0" tIns="0" rIns="0" bIns="0" rtlCol="0" anchor="t"/>
          <a:lstStyle/>
          <a:p>
            <a:pPr indent="0" marL="0">
              <a:buNone/>
            </a:pPr>
            <a:r>
              <a:rPr lang="en-US" sz="2800" b="1" dirty="0">
                <a:solidFill>
                  <a:schemeClr val="tx1"/>
                </a:solidFill>
              </a:rPr>
              <a:t>9.35M</a:t>
            </a:r>
            <a:endParaRPr lang="en-US" sz="2800" dirty="0"/>
          </a:p>
        </p:txBody>
      </p:sp>
      <p:sp>
        <p:nvSpPr>
          <p:cNvPr id="56" name="text-99"/>
          <p:cNvSpPr txBox="1"/>
          <p:nvPr/>
        </p:nvSpPr>
        <p:spPr>
          <a:xfrm>
            <a:off x="7507224" y="4709160"/>
            <a:ext cx="1691640" cy="201168"/>
          </a:xfrm>
          <a:prstGeom prst="rect">
            <a:avLst/>
          </a:prstGeom>
          <a:noFill/>
          <a:ln/>
        </p:spPr>
        <p:txBody>
          <a:bodyPr wrap="square" lIns="0" tIns="0" rIns="0" bIns="0" rtlCol="0" anchor="t"/>
          <a:lstStyle/>
          <a:p>
            <a:pPr indent="0" marL="0">
              <a:buNone/>
            </a:pPr>
            <a:r>
              <a:rPr lang="en-US" sz="950" dirty="0">
                <a:solidFill>
                  <a:schemeClr val="accent5"/>
                </a:solidFill>
              </a:rPr>
              <a:t>AFTER (Jul–Sep)</a:t>
            </a:r>
            <a:endParaRPr lang="en-US" sz="950" dirty="0"/>
          </a:p>
        </p:txBody>
      </p:sp>
      <p:sp>
        <p:nvSpPr>
          <p:cNvPr id="57" name="text-100"/>
          <p:cNvSpPr txBox="1"/>
          <p:nvPr/>
        </p:nvSpPr>
        <p:spPr>
          <a:xfrm>
            <a:off x="7507224" y="4956048"/>
            <a:ext cx="1691640" cy="228600"/>
          </a:xfrm>
          <a:prstGeom prst="rect">
            <a:avLst/>
          </a:prstGeom>
          <a:noFill/>
          <a:ln/>
        </p:spPr>
        <p:txBody>
          <a:bodyPr wrap="square" lIns="0" tIns="0" rIns="0" bIns="0" rtlCol="0" anchor="t"/>
          <a:lstStyle/>
          <a:p>
            <a:pPr indent="0" marL="0">
              <a:buNone/>
            </a:pPr>
            <a:r>
              <a:rPr lang="en-US" sz="1200" dirty="0">
                <a:solidFill>
                  <a:schemeClr val="accent5"/>
                </a:solidFill>
              </a:rPr>
              <a:t>Before: </a:t>
            </a:r>
            <a:pPr indent="0" marL="0">
              <a:buNone/>
            </a:pPr>
            <a:r>
              <a:rPr lang="en-US" sz="1200" b="1" dirty="0">
                <a:solidFill>
                  <a:schemeClr val="tx2"/>
                </a:solidFill>
              </a:rPr>
              <a:t>9.50M</a:t>
            </a:r>
            <a:endParaRPr lang="en-US" sz="1200" dirty="0"/>
          </a:p>
        </p:txBody>
      </p:sp>
      <p:sp>
        <p:nvSpPr>
          <p:cNvPr id="58" name="badge-101"/>
          <p:cNvSpPr txBox="1"/>
          <p:nvPr/>
        </p:nvSpPr>
        <p:spPr>
          <a:xfrm>
            <a:off x="7507224" y="5257800"/>
            <a:ext cx="9601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 2%</a:t>
            </a:r>
            <a:endParaRPr lang="en-US" sz="1200" dirty="0"/>
          </a:p>
        </p:txBody>
      </p:sp>
      <p:sp>
        <p:nvSpPr>
          <p:cNvPr id="59" name="card-102"/>
          <p:cNvSpPr/>
          <p:nvPr/>
        </p:nvSpPr>
        <p:spPr>
          <a:xfrm>
            <a:off x="9582912" y="3749040"/>
            <a:ext cx="2057400" cy="1847088"/>
          </a:xfrm>
          <a:prstGeom prst="roundRect">
            <a:avLst>
              <a:gd name="adj" fmla="val 5941"/>
            </a:avLst>
          </a:prstGeom>
          <a:solidFill>
            <a:schemeClr val="bg2"/>
          </a:solidFill>
          <a:ln/>
        </p:spPr>
      </p:sp>
      <p:sp>
        <p:nvSpPr>
          <p:cNvPr id="60" name="text-103"/>
          <p:cNvSpPr txBox="1"/>
          <p:nvPr/>
        </p:nvSpPr>
        <p:spPr>
          <a:xfrm>
            <a:off x="9765792" y="3931920"/>
            <a:ext cx="169164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3-SEC VIDEO PLAYS</a:t>
            </a:r>
            <a:endParaRPr lang="en-US" sz="1050" dirty="0"/>
          </a:p>
        </p:txBody>
      </p:sp>
      <p:sp>
        <p:nvSpPr>
          <p:cNvPr id="61" name="text-104"/>
          <p:cNvSpPr txBox="1"/>
          <p:nvPr/>
        </p:nvSpPr>
        <p:spPr>
          <a:xfrm>
            <a:off x="9765792" y="4206240"/>
            <a:ext cx="1691640" cy="502920"/>
          </a:xfrm>
          <a:prstGeom prst="rect">
            <a:avLst/>
          </a:prstGeom>
          <a:noFill/>
          <a:ln/>
        </p:spPr>
        <p:txBody>
          <a:bodyPr wrap="square" lIns="0" tIns="0" rIns="0" bIns="0" rtlCol="0" anchor="t"/>
          <a:lstStyle/>
          <a:p>
            <a:pPr indent="0" marL="0">
              <a:buNone/>
            </a:pPr>
            <a:r>
              <a:rPr lang="en-US" sz="2800" b="1" dirty="0">
                <a:solidFill>
                  <a:schemeClr val="tx1"/>
                </a:solidFill>
              </a:rPr>
              <a:t>9.10M</a:t>
            </a:r>
            <a:endParaRPr lang="en-US" sz="2800" dirty="0"/>
          </a:p>
        </p:txBody>
      </p:sp>
      <p:sp>
        <p:nvSpPr>
          <p:cNvPr id="62" name="text-105"/>
          <p:cNvSpPr txBox="1"/>
          <p:nvPr/>
        </p:nvSpPr>
        <p:spPr>
          <a:xfrm>
            <a:off x="9765792" y="4709160"/>
            <a:ext cx="1691640" cy="201168"/>
          </a:xfrm>
          <a:prstGeom prst="rect">
            <a:avLst/>
          </a:prstGeom>
          <a:noFill/>
          <a:ln/>
        </p:spPr>
        <p:txBody>
          <a:bodyPr wrap="square" lIns="0" tIns="0" rIns="0" bIns="0" rtlCol="0" anchor="t"/>
          <a:lstStyle/>
          <a:p>
            <a:pPr indent="0" marL="0">
              <a:buNone/>
            </a:pPr>
            <a:r>
              <a:rPr lang="en-US" sz="950" dirty="0">
                <a:solidFill>
                  <a:schemeClr val="accent5"/>
                </a:solidFill>
              </a:rPr>
              <a:t>AFTER (Jul–Sep)</a:t>
            </a:r>
            <a:endParaRPr lang="en-US" sz="950" dirty="0"/>
          </a:p>
        </p:txBody>
      </p:sp>
      <p:sp>
        <p:nvSpPr>
          <p:cNvPr id="63" name="text-106"/>
          <p:cNvSpPr txBox="1"/>
          <p:nvPr/>
        </p:nvSpPr>
        <p:spPr>
          <a:xfrm>
            <a:off x="9765792" y="4956048"/>
            <a:ext cx="1691640" cy="228600"/>
          </a:xfrm>
          <a:prstGeom prst="rect">
            <a:avLst/>
          </a:prstGeom>
          <a:noFill/>
          <a:ln/>
        </p:spPr>
        <p:txBody>
          <a:bodyPr wrap="square" lIns="0" tIns="0" rIns="0" bIns="0" rtlCol="0" anchor="t"/>
          <a:lstStyle/>
          <a:p>
            <a:pPr indent="0" marL="0">
              <a:buNone/>
            </a:pPr>
            <a:r>
              <a:rPr lang="en-US" sz="1200" dirty="0">
                <a:solidFill>
                  <a:schemeClr val="accent5"/>
                </a:solidFill>
              </a:rPr>
              <a:t>Before: </a:t>
            </a:r>
            <a:pPr indent="0" marL="0">
              <a:buNone/>
            </a:pPr>
            <a:r>
              <a:rPr lang="en-US" sz="1200" b="1" dirty="0">
                <a:solidFill>
                  <a:schemeClr val="tx2"/>
                </a:solidFill>
              </a:rPr>
              <a:t>9.32M</a:t>
            </a:r>
            <a:endParaRPr lang="en-US" sz="1200" dirty="0"/>
          </a:p>
        </p:txBody>
      </p:sp>
      <p:sp>
        <p:nvSpPr>
          <p:cNvPr id="64" name="badge-107"/>
          <p:cNvSpPr txBox="1"/>
          <p:nvPr/>
        </p:nvSpPr>
        <p:spPr>
          <a:xfrm>
            <a:off x="9765792" y="5257800"/>
            <a:ext cx="96012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 2%</a:t>
            </a:r>
            <a:endParaRPr lang="en-US" sz="1200" dirty="0"/>
          </a:p>
        </p:txBody>
      </p:sp>
      <p:sp>
        <p:nvSpPr>
          <p:cNvPr id="65" name="text-108"/>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950" b="1" dirty="0">
                <a:solidFill>
                  <a:schemeClr val="accent5"/>
                </a:solidFill>
              </a:rPr>
              <a:t>▲▼ </a:t>
            </a:r>
            <a:pPr indent="0" marL="0">
              <a:buNone/>
            </a:pPr>
            <a:r>
              <a:rPr lang="en-US" sz="950" dirty="0">
                <a:solidFill>
                  <a:schemeClr val="accent5"/>
                </a:solidFill>
              </a:rPr>
              <a:t>Green = improvement, red = decline, grey = context (budget, frequency).  </a:t>
            </a:r>
            <a:pPr indent="0" marL="0">
              <a:buNone/>
            </a:pPr>
            <a:r>
              <a:rPr lang="en-US" sz="950" dirty="0">
                <a:solidFill>
                  <a:schemeClr val="accent5"/>
                </a:solidFill>
              </a:rPr>
              <a:t>*Reach is the sum of ad-level reach (Meta does not de-duplicate across ads in this export); frequency = impressions ÷ summed reach.</a:t>
            </a:r>
            <a:endParaRPr lang="en-US" sz="950" dirty="0"/>
          </a:p>
        </p:txBody>
      </p:sp>
      <p:sp>
        <p:nvSpPr>
          <p:cNvPr id="66" name="text-109"/>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Source: Meta Ads Manager ad-level exports – BEFORE 1 Apr–30 Jun 2026 (77 ads), AFTER 1 Jul–30 Sep 2026 (106 ads). Rates recalculated from totals (weighted), not averaged.</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TRANSITION · 1 JULY 2026</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The new setup moved from monthly objective buckets to product-led campaigns with audience-based ad sets</a:t>
            </a:r>
            <a:endParaRPr lang="en-US" sz="2600" dirty="0"/>
          </a:p>
        </p:txBody>
      </p:sp>
      <p:sp>
        <p:nvSpPr>
          <p:cNvPr id="4" name="arch-motif-110"/>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text-111"/>
          <p:cNvSpPr txBox="1"/>
          <p:nvPr/>
        </p:nvSpPr>
        <p:spPr>
          <a:xfrm>
            <a:off x="548640" y="1737360"/>
            <a:ext cx="5120640" cy="274320"/>
          </a:xfrm>
          <a:prstGeom prst="rect">
            <a:avLst/>
          </a:prstGeom>
          <a:noFill/>
          <a:ln/>
        </p:spPr>
        <p:txBody>
          <a:bodyPr wrap="square" lIns="0" tIns="0" rIns="0" bIns="0" rtlCol="0" anchor="t"/>
          <a:lstStyle/>
          <a:p>
            <a:pPr indent="0" marL="0">
              <a:buNone/>
            </a:pPr>
            <a:r>
              <a:rPr lang="en-US" sz="1300" b="1" dirty="0">
                <a:solidFill>
                  <a:schemeClr val="tx1"/>
                </a:solidFill>
              </a:rPr>
              <a:t>Share of spend by optimisation objective</a:t>
            </a:r>
            <a:endParaRPr lang="en-US" sz="1300" dirty="0"/>
          </a:p>
        </p:txBody>
      </p:sp>
      <p:graphicFrame>
        <p:nvGraphicFramePr>
          <p:cNvPr id="6" name="chart-mix-112" descr=""/>
          <p:cNvGraphicFramePr/>
          <p:nvPr/>
        </p:nvGraphicFramePr>
        <p:xfrm>
          <a:off x="457200" y="2057400"/>
          <a:ext cx="5303520" cy="2743200"/>
        </p:xfrm>
        <a:graphic xmlns:a="http://schemas.openxmlformats.org/drawingml/2006/main">
          <a:graphicData uri="http://schemas.openxmlformats.org/drawingml/2006/chart">
            <c:chart xmlns:c="http://schemas.openxmlformats.org/drawingml/2006/chart" r:id="rId1"/>
          </a:graphicData>
        </a:graphic>
      </p:graphicFrame>
      <p:sp>
        <p:nvSpPr>
          <p:cNvPr id="7" name="text-113"/>
          <p:cNvSpPr txBox="1"/>
          <p:nvPr/>
        </p:nvSpPr>
        <p:spPr>
          <a:xfrm>
            <a:off x="548640" y="4937760"/>
            <a:ext cx="5120640" cy="685800"/>
          </a:xfrm>
          <a:prstGeom prst="rect">
            <a:avLst/>
          </a:prstGeom>
          <a:noFill/>
          <a:ln/>
        </p:spPr>
        <p:txBody>
          <a:bodyPr wrap="square" lIns="0" tIns="0" rIns="0" bIns="0" rtlCol="0" anchor="t"/>
          <a:lstStyle/>
          <a:p>
            <a:pPr indent="0" marL="0">
              <a:buNone/>
            </a:pPr>
            <a:r>
              <a:rPr lang="en-US" sz="1200" dirty="0">
                <a:solidFill>
                  <a:schemeClr val="tx2"/>
                </a:solidFill>
              </a:rPr>
              <a:t>Reach stays the backbone (84% → 76%); engagement and video goals took a larger share, and an app-install test was added.</a:t>
            </a:r>
            <a:endParaRPr lang="en-US" sz="1200" dirty="0"/>
          </a:p>
        </p:txBody>
      </p:sp>
      <p:graphicFrame>
        <p:nvGraphicFramePr>
          <p:cNvPr id="5" name="structure-table-114"/>
          <p:cNvGraphicFramePr>
            <a:graphicFrameLocks noGrp="1"/>
          </p:cNvGraphicFramePr>
          <p:nvPr>
            <p:extLst>
              <p:ext uri="{D42A27DB-BD31-4B8C-83A1-F6EECF244321}">
                <p14:modId xmlns:p14="http://schemas.microsoft.com/office/powerpoint/2010/main" val="1579011935"/>
              </p:ext>
            </p:extLst>
          </p:nvPr>
        </p:nvGraphicFramePr>
        <p:xfrm>
          <a:off x="6172200" y="1783080"/>
          <a:ext cx="5468112" cy="914400"/>
        </p:xfrm>
        <a:graphic>
          <a:graphicData uri="http://schemas.openxmlformats.org/drawingml/2006/table">
            <a:tbl>
              <a:tblPr/>
              <a:tblGrid>
                <a:gridCol w="1143000"/>
                <a:gridCol w="2103120"/>
                <a:gridCol w="2221992"/>
              </a:tblGrid>
              <a:tr h="384048">
                <a:tc>
                  <a:txBody>
                    <a:bodyPr/>
                    <a:lstStyle/>
                    <a:p>
                      <a:pPr indent="0" marL="0">
                        <a:buNone/>
                      </a:pPr>
                      <a:endParaRPr lang="en-US" sz="12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b="1" dirty="0">
                          <a:solidFill>
                            <a:schemeClr val="tx1"/>
                          </a:solidFill>
                        </a:rPr>
                        <a:t>BEFORE · Apr–Jun</a:t>
                      </a:r>
                      <a:endParaRPr lang="en-US" sz="12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4E4E4"/>
                    </a:solidFill>
                  </a:tcPr>
                </a:tc>
                <a:tc>
                  <a:txBody>
                    <a:bodyPr/>
                    <a:lstStyle/>
                    <a:p>
                      <a:pPr indent="0" marL="0">
                        <a:buNone/>
                      </a:pPr>
                      <a:r>
                        <a:rPr lang="en-US" sz="1200" b="1" dirty="0">
                          <a:solidFill>
                            <a:schemeClr val="tx1"/>
                          </a:solidFill>
                        </a:rPr>
                        <a:t>AFTER · Jul–Sep</a:t>
                      </a:r>
                      <a:endParaRPr lang="en-US" sz="12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BC0D"/>
                    </a:solidFill>
                  </a:tcPr>
                </a:tc>
              </a:tr>
              <a:tr h="713232">
                <a:tc>
                  <a:txBody>
                    <a:bodyPr/>
                    <a:lstStyle/>
                    <a:p>
                      <a:pPr indent="0" marL="0">
                        <a:buNone/>
                      </a:pPr>
                      <a:r>
                        <a:rPr lang="en-US" sz="1100" b="1" dirty="0">
                          <a:solidFill>
                            <a:schemeClr val="tx1"/>
                          </a:solidFill>
                        </a:rPr>
                        <a:t>Campaigns</a:t>
                      </a:r>
                      <a:endParaRPr lang="en-US" sz="11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15 – by objective × month (e.g. Reach_April'26)</a:t>
                      </a:r>
                      <a:endParaRPr lang="en-US" sz="11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5F2"/>
                    </a:solidFill>
                  </a:tcPr>
                </a:tc>
                <a:tc>
                  <a:txBody>
                    <a:bodyPr/>
                    <a:lstStyle/>
                    <a:p>
                      <a:pPr indent="0" marL="0">
                        <a:buNone/>
                      </a:pPr>
                      <a:r>
                        <a:rPr lang="en-US" sz="1100" dirty="0">
                          <a:solidFill>
                            <a:schemeClr val="tx1"/>
                          </a:solidFill>
                        </a:rPr>
                        <a:t>31 – by product / initiative (FIFA, Mixology, Happy Meal, Chicken…)</a:t>
                      </a:r>
                      <a:endParaRPr lang="en-US" sz="11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8E1"/>
                    </a:solidFill>
                  </a:tcPr>
                </a:tc>
              </a:tr>
              <a:tr h="713232">
                <a:tc>
                  <a:txBody>
                    <a:bodyPr/>
                    <a:lstStyle/>
                    <a:p>
                      <a:pPr indent="0" marL="0">
                        <a:buNone/>
                      </a:pPr>
                      <a:r>
                        <a:rPr lang="en-US" sz="1100" b="1" dirty="0">
                          <a:solidFill>
                            <a:schemeClr val="tx1"/>
                          </a:solidFill>
                        </a:rPr>
                        <a:t>Ad sets</a:t>
                      </a:r>
                      <a:endParaRPr lang="en-US" sz="11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77, each holding one ad and named after the creative</a:t>
                      </a:r>
                      <a:endParaRPr lang="en-US" sz="11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5F2"/>
                    </a:solidFill>
                  </a:tcPr>
                </a:tc>
                <a:tc>
                  <a:txBody>
                    <a:bodyPr/>
                    <a:lstStyle/>
                    <a:p>
                      <a:pPr indent="0" marL="0">
                        <a:buNone/>
                      </a:pPr>
                      <a:r>
                        <a:rPr lang="en-US" sz="1100" dirty="0">
                          <a:solidFill>
                            <a:schemeClr val="tx1"/>
                          </a:solidFill>
                        </a:rPr>
                        <a:t>58, named by audience (GenZ, Parents of Gen A, Core 18-34…)</a:t>
                      </a:r>
                      <a:endParaRPr lang="en-US" sz="11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8E1"/>
                    </a:solidFill>
                  </a:tcPr>
                </a:tc>
              </a:tr>
              <a:tr h="457200">
                <a:tc>
                  <a:txBody>
                    <a:bodyPr/>
                    <a:lstStyle/>
                    <a:p>
                      <a:pPr indent="0" marL="0">
                        <a:buNone/>
                      </a:pPr>
                      <a:r>
                        <a:rPr lang="en-US" sz="1100" b="1" dirty="0">
                          <a:solidFill>
                            <a:schemeClr val="tx1"/>
                          </a:solidFill>
                        </a:rPr>
                        <a:t>Ads</a:t>
                      </a:r>
                      <a:endParaRPr lang="en-US" sz="11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77 (1.0 per ad set)</a:t>
                      </a:r>
                      <a:endParaRPr lang="en-US" sz="11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5F2"/>
                    </a:solidFill>
                  </a:tcPr>
                </a:tc>
                <a:tc>
                  <a:txBody>
                    <a:bodyPr/>
                    <a:lstStyle/>
                    <a:p>
                      <a:pPr indent="0" marL="0">
                        <a:buNone/>
                      </a:pPr>
                      <a:r>
                        <a:rPr lang="en-US" sz="1100" dirty="0">
                          <a:solidFill>
                            <a:schemeClr val="tx1"/>
                          </a:solidFill>
                        </a:rPr>
                        <a:t>106 (1.8 per ad set)</a:t>
                      </a:r>
                      <a:endParaRPr lang="en-US" sz="11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8E1"/>
                    </a:solidFill>
                  </a:tcPr>
                </a:tc>
              </a:tr>
              <a:tr h="713232">
                <a:tc>
                  <a:txBody>
                    <a:bodyPr/>
                    <a:lstStyle/>
                    <a:p>
                      <a:pPr indent="0" marL="0">
                        <a:buNone/>
                      </a:pPr>
                      <a:r>
                        <a:rPr lang="en-US" sz="1100" b="1" dirty="0">
                          <a:solidFill>
                            <a:schemeClr val="tx1"/>
                          </a:solidFill>
                        </a:rPr>
                        <a:t>Result types</a:t>
                      </a:r>
                      <a:endParaRPr lang="en-US" sz="11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4: Reach, IG profile visits, Post engagements, ThruPlay</a:t>
                      </a:r>
                      <a:endParaRPr lang="en-US" sz="11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6F5F2"/>
                    </a:solidFill>
                  </a:tcPr>
                </a:tc>
                <a:tc>
                  <a:txBody>
                    <a:bodyPr/>
                    <a:lstStyle/>
                    <a:p>
                      <a:pPr indent="0" marL="0">
                        <a:buNone/>
                      </a:pPr>
                      <a:r>
                        <a:rPr lang="en-US" sz="1100" dirty="0">
                          <a:solidFill>
                            <a:schemeClr val="tx1"/>
                          </a:solidFill>
                        </a:rPr>
                        <a:t>7: adds Link clicks, Interactions, 2-sec video views, app installs (iOS / Android)</a:t>
                      </a:r>
                      <a:endParaRPr lang="en-US" sz="1100" dirty="0"/>
                    </a:p>
                  </a:txBody>
                  <a:tcPr marL="76200" marR="762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8E1"/>
                    </a:solidFill>
                  </a:tcPr>
                </a:tc>
              </a:tr>
            </a:tbl>
          </a:graphicData>
        </a:graphic>
      </p:graphicFrame>
      <p:sp>
        <p:nvSpPr>
          <p:cNvPr id="9" name="card-115"/>
          <p:cNvSpPr/>
          <p:nvPr/>
        </p:nvSpPr>
        <p:spPr>
          <a:xfrm>
            <a:off x="6172200" y="4983480"/>
            <a:ext cx="5468112" cy="777240"/>
          </a:xfrm>
          <a:prstGeom prst="roundRect">
            <a:avLst>
              <a:gd name="adj" fmla="val 14118"/>
            </a:avLst>
          </a:prstGeom>
          <a:solidFill>
            <a:schemeClr val="accent6"/>
          </a:solidFill>
          <a:ln/>
        </p:spPr>
      </p:sp>
      <p:sp>
        <p:nvSpPr>
          <p:cNvPr id="10" name="text-116"/>
          <p:cNvSpPr txBox="1"/>
          <p:nvPr/>
        </p:nvSpPr>
        <p:spPr>
          <a:xfrm>
            <a:off x="6355080" y="5074920"/>
            <a:ext cx="5120640" cy="594360"/>
          </a:xfrm>
          <a:prstGeom prst="rect">
            <a:avLst/>
          </a:prstGeom>
          <a:noFill/>
          <a:ln/>
        </p:spPr>
        <p:txBody>
          <a:bodyPr wrap="square" lIns="0" tIns="0" rIns="0" bIns="0" rtlCol="0" anchor="ctr"/>
          <a:lstStyle/>
          <a:p>
            <a:pPr indent="0" marL="0">
              <a:buNone/>
            </a:pPr>
            <a:r>
              <a:rPr lang="en-US" sz="1100" b="1" dirty="0">
                <a:solidFill>
                  <a:schemeClr val="tx1"/>
                </a:solidFill>
              </a:rPr>
              <a:t>Carry-over: </a:t>
            </a:r>
            <a:pPr indent="0" marL="0">
              <a:buNone/>
            </a:pPr>
            <a:r>
              <a:rPr lang="en-US" sz="1100" dirty="0">
                <a:solidFill>
                  <a:schemeClr val="tx1"/>
                </a:solidFill>
              </a:rPr>
              <a:t>6 ads from the previous agency's Reach_June'26 campaign kept running in July ($1,119, 2.2% of AFTER spend). They are included in AFTER totals.</a:t>
            </a:r>
            <a:endParaRPr lang="en-US" sz="1100" dirty="0"/>
          </a:p>
        </p:txBody>
      </p:sp>
      <p:sp>
        <p:nvSpPr>
          <p:cNvPr id="11" name="text-117"/>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Source: Meta Ads Manager ad-level exports – BEFORE 1 Apr–30 Jun 2026 (77 ads), AFTER 1 Jul–30 Sep 2026 (106 ads). Rates recalculated from totals (weighted), not averaged.</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CHANGED AFTER JULY 1</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Click efficiency improved sharply (link CTR +48%); the cost of impressions and attention rose</a:t>
            </a:r>
            <a:endParaRPr lang="en-US" sz="2600" dirty="0"/>
          </a:p>
        </p:txBody>
      </p:sp>
      <p:sp>
        <p:nvSpPr>
          <p:cNvPr id="4" name="arch-motif-118"/>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text-119"/>
          <p:cNvSpPr txBox="1"/>
          <p:nvPr/>
        </p:nvSpPr>
        <p:spPr>
          <a:xfrm>
            <a:off x="548640" y="1737360"/>
            <a:ext cx="6858000" cy="274320"/>
          </a:xfrm>
          <a:prstGeom prst="rect">
            <a:avLst/>
          </a:prstGeom>
          <a:noFill/>
          <a:ln/>
        </p:spPr>
        <p:txBody>
          <a:bodyPr wrap="square" lIns="0" tIns="0" rIns="0" bIns="0" rtlCol="0" anchor="t"/>
          <a:lstStyle/>
          <a:p>
            <a:pPr indent="0" marL="0">
              <a:buNone/>
            </a:pPr>
            <a:r>
              <a:rPr lang="en-US" sz="1300" b="1" dirty="0">
                <a:solidFill>
                  <a:schemeClr val="tx1"/>
                </a:solidFill>
              </a:rPr>
              <a:t>% change AFTER vs BEFORE – efficiency KPIs</a:t>
            </a:r>
            <a:endParaRPr lang="en-US" sz="1300" dirty="0"/>
          </a:p>
        </p:txBody>
      </p:sp>
      <p:graphicFrame>
        <p:nvGraphicFramePr>
          <p:cNvPr id="6" name="chart-changes-120" descr=""/>
          <p:cNvGraphicFramePr/>
          <p:nvPr/>
        </p:nvGraphicFramePr>
        <p:xfrm>
          <a:off x="457200" y="2011680"/>
          <a:ext cx="7040880" cy="3977640"/>
        </p:xfrm>
        <a:graphic xmlns:a="http://schemas.openxmlformats.org/drawingml/2006/main">
          <a:graphicData uri="http://schemas.openxmlformats.org/drawingml/2006/chart">
            <c:chart xmlns:c="http://schemas.openxmlformats.org/drawingml/2006/chart" r:id="rId1"/>
          </a:graphicData>
        </a:graphic>
      </p:graphicFrame>
      <p:sp>
        <p:nvSpPr>
          <p:cNvPr id="7" name="card-121"/>
          <p:cNvSpPr/>
          <p:nvPr/>
        </p:nvSpPr>
        <p:spPr>
          <a:xfrm>
            <a:off x="7863840" y="1783080"/>
            <a:ext cx="3776472" cy="1965960"/>
          </a:xfrm>
          <a:prstGeom prst="roundRect">
            <a:avLst>
              <a:gd name="adj" fmla="val 5581"/>
            </a:avLst>
          </a:prstGeom>
          <a:solidFill>
            <a:schemeClr val="bg2"/>
          </a:solidFill>
          <a:ln/>
        </p:spPr>
      </p:sp>
      <p:sp>
        <p:nvSpPr>
          <p:cNvPr id="8" name="text-122"/>
          <p:cNvSpPr txBox="1"/>
          <p:nvPr/>
        </p:nvSpPr>
        <p:spPr>
          <a:xfrm>
            <a:off x="8092440" y="1920240"/>
            <a:ext cx="3383280" cy="228600"/>
          </a:xfrm>
          <a:prstGeom prst="rect">
            <a:avLst/>
          </a:prstGeom>
          <a:noFill/>
          <a:ln/>
        </p:spPr>
        <p:txBody>
          <a:bodyPr wrap="square" lIns="0" tIns="0" rIns="0" bIns="0" rtlCol="0" anchor="t"/>
          <a:lstStyle/>
          <a:p>
            <a:pPr indent="0" marL="0">
              <a:buNone/>
            </a:pPr>
            <a:r>
              <a:rPr lang="en-US" sz="1050" b="1" spc="100" kern="0" dirty="0">
                <a:solidFill>
                  <a:schemeClr val="accent4"/>
                </a:solidFill>
              </a:rPr>
              <a:t>BIGGEST GAIN</a:t>
            </a:r>
            <a:endParaRPr lang="en-US" sz="1050" dirty="0"/>
          </a:p>
        </p:txBody>
      </p:sp>
      <p:sp>
        <p:nvSpPr>
          <p:cNvPr id="9" name="text-123"/>
          <p:cNvSpPr txBox="1"/>
          <p:nvPr/>
        </p:nvSpPr>
        <p:spPr>
          <a:xfrm>
            <a:off x="8092440" y="2176272"/>
            <a:ext cx="3383280" cy="457200"/>
          </a:xfrm>
          <a:prstGeom prst="rect">
            <a:avLst/>
          </a:prstGeom>
          <a:noFill/>
          <a:ln/>
        </p:spPr>
        <p:txBody>
          <a:bodyPr wrap="square" lIns="0" tIns="0" rIns="0" bIns="0" rtlCol="0" anchor="t"/>
          <a:lstStyle/>
          <a:p>
            <a:pPr indent="0" marL="0">
              <a:buNone/>
            </a:pPr>
            <a:r>
              <a:rPr lang="en-US" sz="2400" b="1" dirty="0">
                <a:solidFill>
                  <a:schemeClr val="accent4"/>
                </a:solidFill>
              </a:rPr>
              <a:t>+48% link CTR</a:t>
            </a:r>
            <a:endParaRPr lang="en-US" sz="2400" dirty="0"/>
          </a:p>
        </p:txBody>
      </p:sp>
      <p:sp>
        <p:nvSpPr>
          <p:cNvPr id="10" name="text-124"/>
          <p:cNvSpPr txBox="1"/>
          <p:nvPr/>
        </p:nvSpPr>
        <p:spPr>
          <a:xfrm>
            <a:off x="8092440" y="2697480"/>
            <a:ext cx="3383280" cy="960120"/>
          </a:xfrm>
          <a:prstGeom prst="rect">
            <a:avLst/>
          </a:prstGeom>
          <a:noFill/>
          <a:ln/>
        </p:spPr>
        <p:txBody>
          <a:bodyPr wrap="square" lIns="0" tIns="0" rIns="0" bIns="0" rtlCol="0" anchor="t"/>
          <a:lstStyle/>
          <a:p>
            <a:pPr indent="0" marL="0">
              <a:buNone/>
            </a:pPr>
            <a:r>
              <a:rPr lang="en-US" sz="1200" dirty="0">
                <a:solidFill>
                  <a:schemeClr val="tx2"/>
                </a:solidFill>
              </a:rPr>
              <a:t>0.073% → 0.108%. Ads now earn the click: CPC fell 13% even though impressions cost more.</a:t>
            </a:r>
            <a:endParaRPr lang="en-US" sz="1200" dirty="0"/>
          </a:p>
        </p:txBody>
      </p:sp>
      <p:sp>
        <p:nvSpPr>
          <p:cNvPr id="11" name="card-125"/>
          <p:cNvSpPr/>
          <p:nvPr/>
        </p:nvSpPr>
        <p:spPr>
          <a:xfrm>
            <a:off x="7863840" y="3931920"/>
            <a:ext cx="3776472" cy="1965960"/>
          </a:xfrm>
          <a:prstGeom prst="roundRect">
            <a:avLst>
              <a:gd name="adj" fmla="val 5581"/>
            </a:avLst>
          </a:prstGeom>
          <a:solidFill>
            <a:schemeClr val="bg2"/>
          </a:solidFill>
          <a:ln/>
        </p:spPr>
      </p:sp>
      <p:sp>
        <p:nvSpPr>
          <p:cNvPr id="12" name="text-126"/>
          <p:cNvSpPr txBox="1"/>
          <p:nvPr/>
        </p:nvSpPr>
        <p:spPr>
          <a:xfrm>
            <a:off x="8092440" y="4069080"/>
            <a:ext cx="3383280" cy="228600"/>
          </a:xfrm>
          <a:prstGeom prst="rect">
            <a:avLst/>
          </a:prstGeom>
          <a:noFill/>
          <a:ln/>
        </p:spPr>
        <p:txBody>
          <a:bodyPr wrap="square" lIns="0" tIns="0" rIns="0" bIns="0" rtlCol="0" anchor="t"/>
          <a:lstStyle/>
          <a:p>
            <a:pPr indent="0" marL="0">
              <a:buNone/>
            </a:pPr>
            <a:r>
              <a:rPr lang="en-US" sz="1050" b="1" spc="100" kern="0" dirty="0">
                <a:solidFill>
                  <a:schemeClr val="accent1"/>
                </a:solidFill>
              </a:rPr>
              <a:t>BIGGEST DRAG</a:t>
            </a:r>
            <a:endParaRPr lang="en-US" sz="1050" dirty="0"/>
          </a:p>
        </p:txBody>
      </p:sp>
      <p:sp>
        <p:nvSpPr>
          <p:cNvPr id="13" name="text-127"/>
          <p:cNvSpPr txBox="1"/>
          <p:nvPr/>
        </p:nvSpPr>
        <p:spPr>
          <a:xfrm>
            <a:off x="8092440" y="4325112"/>
            <a:ext cx="3383280" cy="457200"/>
          </a:xfrm>
          <a:prstGeom prst="rect">
            <a:avLst/>
          </a:prstGeom>
          <a:noFill/>
          <a:ln/>
        </p:spPr>
        <p:txBody>
          <a:bodyPr wrap="square" lIns="0" tIns="0" rIns="0" bIns="0" rtlCol="0" anchor="t"/>
          <a:lstStyle/>
          <a:p>
            <a:pPr indent="0" marL="0">
              <a:buNone/>
            </a:pPr>
            <a:r>
              <a:rPr lang="en-US" sz="2400" b="1" dirty="0">
                <a:solidFill>
                  <a:schemeClr val="accent1"/>
                </a:solidFill>
              </a:rPr>
              <a:t>+28% CPM</a:t>
            </a:r>
            <a:endParaRPr lang="en-US" sz="2400" dirty="0"/>
          </a:p>
        </p:txBody>
      </p:sp>
      <p:sp>
        <p:nvSpPr>
          <p:cNvPr id="14" name="text-128"/>
          <p:cNvSpPr txBox="1"/>
          <p:nvPr/>
        </p:nvSpPr>
        <p:spPr>
          <a:xfrm>
            <a:off x="8092440" y="4846320"/>
            <a:ext cx="3383280" cy="960120"/>
          </a:xfrm>
          <a:prstGeom prst="rect">
            <a:avLst/>
          </a:prstGeom>
          <a:noFill/>
          <a:ln/>
        </p:spPr>
        <p:txBody>
          <a:bodyPr wrap="square" lIns="0" tIns="0" rIns="0" bIns="0" rtlCol="0" anchor="t"/>
          <a:lstStyle/>
          <a:p>
            <a:pPr indent="0" marL="0">
              <a:buNone/>
            </a:pPr>
            <a:r>
              <a:rPr lang="en-US" sz="1200" dirty="0">
                <a:solidFill>
                  <a:schemeClr val="tx2"/>
                </a:solidFill>
              </a:rPr>
              <a:t>$0.45 → $0.57 per 1,000 impressions. It flows straight into cost per engagement (+35%) and per 1,000 3s plays (+36%).</a:t>
            </a:r>
            <a:endParaRPr lang="en-US" sz="1200" dirty="0"/>
          </a:p>
        </p:txBody>
      </p:sp>
      <p:sp>
        <p:nvSpPr>
          <p:cNvPr id="15" name="text-129"/>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Source: Meta Ads Manager ad-level exports – BEFORE 1 Apr–30 Jun 2026 (77 ads), AFTER 1 Jul–30 Sep 2026 (106 ads). Rates recalculated from totals (weighted), not averaged. Lower frequency shown as context: it means wider distribution, not automatically better.</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INVESTMENT VS PERFORMANCE</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Budget grew 33%: link clicks outpaced it, reach kept pace, impressions and engagement did not</a:t>
            </a:r>
            <a:endParaRPr lang="en-US" sz="2600" dirty="0"/>
          </a:p>
        </p:txBody>
      </p:sp>
      <p:sp>
        <p:nvSpPr>
          <p:cNvPr id="4" name="arch-motif-130"/>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text-131"/>
          <p:cNvSpPr txBox="1"/>
          <p:nvPr/>
        </p:nvSpPr>
        <p:spPr>
          <a:xfrm>
            <a:off x="548640" y="1737360"/>
            <a:ext cx="6949440" cy="274320"/>
          </a:xfrm>
          <a:prstGeom prst="rect">
            <a:avLst/>
          </a:prstGeom>
          <a:noFill/>
          <a:ln/>
        </p:spPr>
        <p:txBody>
          <a:bodyPr wrap="square" lIns="0" tIns="0" rIns="0" bIns="0" rtlCol="0" anchor="t"/>
          <a:lstStyle/>
          <a:p>
            <a:pPr indent="0" marL="0">
              <a:buNone/>
            </a:pPr>
            <a:r>
              <a:rPr lang="en-US" sz="1300" b="1" dirty="0">
                <a:solidFill>
                  <a:schemeClr val="tx1"/>
                </a:solidFill>
              </a:rPr>
              <a:t>% change AFTER vs BEFORE – volume metrics vs budget</a:t>
            </a:r>
            <a:endParaRPr lang="en-US" sz="1300" dirty="0"/>
          </a:p>
        </p:txBody>
      </p:sp>
      <p:graphicFrame>
        <p:nvGraphicFramePr>
          <p:cNvPr id="6" name="chart-scale-132" descr=""/>
          <p:cNvGraphicFramePr/>
          <p:nvPr/>
        </p:nvGraphicFramePr>
        <p:xfrm>
          <a:off x="457200" y="2011680"/>
          <a:ext cx="7040880" cy="3931920"/>
        </p:xfrm>
        <a:graphic xmlns:a="http://schemas.openxmlformats.org/drawingml/2006/main">
          <a:graphicData uri="http://schemas.openxmlformats.org/drawingml/2006/chart">
            <c:chart xmlns:c="http://schemas.openxmlformats.org/drawingml/2006/chart" r:id="rId1"/>
          </a:graphicData>
        </a:graphic>
      </p:graphicFrame>
      <p:sp>
        <p:nvSpPr>
          <p:cNvPr id="7" name="card-133"/>
          <p:cNvSpPr/>
          <p:nvPr/>
        </p:nvSpPr>
        <p:spPr>
          <a:xfrm>
            <a:off x="7863840" y="1783080"/>
            <a:ext cx="3776472" cy="1325880"/>
          </a:xfrm>
          <a:prstGeom prst="roundRect">
            <a:avLst>
              <a:gd name="adj" fmla="val 8276"/>
            </a:avLst>
          </a:prstGeom>
          <a:solidFill>
            <a:schemeClr val="accent6"/>
          </a:solidFill>
          <a:ln/>
        </p:spPr>
      </p:sp>
      <p:sp>
        <p:nvSpPr>
          <p:cNvPr id="8" name="text-134"/>
          <p:cNvSpPr txBox="1"/>
          <p:nvPr/>
        </p:nvSpPr>
        <p:spPr>
          <a:xfrm>
            <a:off x="8092440" y="1901952"/>
            <a:ext cx="3383280" cy="228600"/>
          </a:xfrm>
          <a:prstGeom prst="rect">
            <a:avLst/>
          </a:prstGeom>
          <a:noFill/>
          <a:ln/>
        </p:spPr>
        <p:txBody>
          <a:bodyPr wrap="square" lIns="0" tIns="0" rIns="0" bIns="0" rtlCol="0" anchor="t"/>
          <a:lstStyle/>
          <a:p>
            <a:pPr indent="0" marL="0">
              <a:buNone/>
            </a:pPr>
            <a:r>
              <a:rPr lang="en-US" sz="1050" b="1" spc="100" kern="0" dirty="0">
                <a:solidFill>
                  <a:schemeClr val="tx1"/>
                </a:solidFill>
              </a:rPr>
              <a:t>SCALE</a:t>
            </a:r>
            <a:endParaRPr lang="en-US" sz="1050" dirty="0"/>
          </a:p>
        </p:txBody>
      </p:sp>
      <p:sp>
        <p:nvSpPr>
          <p:cNvPr id="9" name="text-135"/>
          <p:cNvSpPr txBox="1"/>
          <p:nvPr/>
        </p:nvSpPr>
        <p:spPr>
          <a:xfrm>
            <a:off x="8092440" y="2176272"/>
            <a:ext cx="3383280" cy="868680"/>
          </a:xfrm>
          <a:prstGeom prst="rect">
            <a:avLst/>
          </a:prstGeom>
          <a:noFill/>
          <a:ln/>
        </p:spPr>
        <p:txBody>
          <a:bodyPr wrap="square" lIns="0" tIns="0" rIns="0" bIns="0" rtlCol="0" anchor="t"/>
          <a:lstStyle/>
          <a:p>
            <a:pPr indent="0" marL="0">
              <a:buNone/>
            </a:pPr>
            <a:r>
              <a:rPr lang="en-US" sz="1200" dirty="0">
                <a:solidFill>
                  <a:schemeClr val="tx2"/>
                </a:solidFill>
              </a:rPr>
              <a:t>More money bought +30% reach and +54% link clicks – growth that comes partly from budget alone.</a:t>
            </a:r>
            <a:endParaRPr lang="en-US" sz="1200" dirty="0"/>
          </a:p>
        </p:txBody>
      </p:sp>
      <p:sp>
        <p:nvSpPr>
          <p:cNvPr id="10" name="card-136"/>
          <p:cNvSpPr/>
          <p:nvPr/>
        </p:nvSpPr>
        <p:spPr>
          <a:xfrm>
            <a:off x="7863840" y="3246120"/>
            <a:ext cx="3776472" cy="1325880"/>
          </a:xfrm>
          <a:prstGeom prst="roundRect">
            <a:avLst>
              <a:gd name="adj" fmla="val 8276"/>
            </a:avLst>
          </a:prstGeom>
          <a:solidFill>
            <a:schemeClr val="bg2"/>
          </a:solidFill>
          <a:ln/>
        </p:spPr>
      </p:sp>
      <p:sp>
        <p:nvSpPr>
          <p:cNvPr id="11" name="text-137"/>
          <p:cNvSpPr txBox="1"/>
          <p:nvPr/>
        </p:nvSpPr>
        <p:spPr>
          <a:xfrm>
            <a:off x="8092440" y="3364992"/>
            <a:ext cx="3383280" cy="228600"/>
          </a:xfrm>
          <a:prstGeom prst="rect">
            <a:avLst/>
          </a:prstGeom>
          <a:noFill/>
          <a:ln/>
        </p:spPr>
        <p:txBody>
          <a:bodyPr wrap="square" lIns="0" tIns="0" rIns="0" bIns="0" rtlCol="0" anchor="t"/>
          <a:lstStyle/>
          <a:p>
            <a:pPr indent="0" marL="0">
              <a:buNone/>
            </a:pPr>
            <a:r>
              <a:rPr lang="en-US" sz="1050" b="1" spc="100" kern="0" dirty="0">
                <a:solidFill>
                  <a:schemeClr val="accent4"/>
                </a:solidFill>
              </a:rPr>
              <a:t>EFFICIENCY</a:t>
            </a:r>
            <a:endParaRPr lang="en-US" sz="1050" dirty="0"/>
          </a:p>
        </p:txBody>
      </p:sp>
      <p:sp>
        <p:nvSpPr>
          <p:cNvPr id="12" name="text-138"/>
          <p:cNvSpPr txBox="1"/>
          <p:nvPr/>
        </p:nvSpPr>
        <p:spPr>
          <a:xfrm>
            <a:off x="8092440" y="3639312"/>
            <a:ext cx="3383280" cy="868680"/>
          </a:xfrm>
          <a:prstGeom prst="rect">
            <a:avLst/>
          </a:prstGeom>
          <a:noFill/>
          <a:ln/>
        </p:spPr>
        <p:txBody>
          <a:bodyPr wrap="square" lIns="0" tIns="0" rIns="0" bIns="0" rtlCol="0" anchor="t"/>
          <a:lstStyle/>
          <a:p>
            <a:pPr indent="0" marL="0">
              <a:buNone/>
            </a:pPr>
            <a:r>
              <a:rPr lang="en-US" sz="1200" dirty="0">
                <a:solidFill>
                  <a:schemeClr val="tx2"/>
                </a:solidFill>
              </a:rPr>
              <a:t>Only link clicks grew faster than spend – the genuine efficiency gain (CPC −13%).</a:t>
            </a:r>
            <a:endParaRPr lang="en-US" sz="1200" dirty="0"/>
          </a:p>
        </p:txBody>
      </p:sp>
      <p:sp>
        <p:nvSpPr>
          <p:cNvPr id="13" name="card-139"/>
          <p:cNvSpPr/>
          <p:nvPr/>
        </p:nvSpPr>
        <p:spPr>
          <a:xfrm>
            <a:off x="7863840" y="4709160"/>
            <a:ext cx="3776472" cy="1280160"/>
          </a:xfrm>
          <a:prstGeom prst="roundRect">
            <a:avLst>
              <a:gd name="adj" fmla="val 8571"/>
            </a:avLst>
          </a:prstGeom>
          <a:solidFill>
            <a:schemeClr val="bg2"/>
          </a:solidFill>
          <a:ln/>
        </p:spPr>
      </p:sp>
      <p:sp>
        <p:nvSpPr>
          <p:cNvPr id="14" name="text-140"/>
          <p:cNvSpPr txBox="1"/>
          <p:nvPr/>
        </p:nvSpPr>
        <p:spPr>
          <a:xfrm>
            <a:off x="8092440" y="4828032"/>
            <a:ext cx="3383280" cy="228600"/>
          </a:xfrm>
          <a:prstGeom prst="rect">
            <a:avLst/>
          </a:prstGeom>
          <a:noFill/>
          <a:ln/>
        </p:spPr>
        <p:txBody>
          <a:bodyPr wrap="square" lIns="0" tIns="0" rIns="0" bIns="0" rtlCol="0" anchor="t"/>
          <a:lstStyle/>
          <a:p>
            <a:pPr indent="0" marL="0">
              <a:buNone/>
            </a:pPr>
            <a:r>
              <a:rPr lang="en-US" sz="1050" b="1" spc="100" kern="0" dirty="0">
                <a:solidFill>
                  <a:schemeClr val="accent1"/>
                </a:solidFill>
              </a:rPr>
              <a:t>WHY IMPRESSIONS LAGGED</a:t>
            </a:r>
            <a:endParaRPr lang="en-US" sz="1050" dirty="0"/>
          </a:p>
        </p:txBody>
      </p:sp>
      <p:sp>
        <p:nvSpPr>
          <p:cNvPr id="15" name="text-141"/>
          <p:cNvSpPr txBox="1"/>
          <p:nvPr/>
        </p:nvSpPr>
        <p:spPr>
          <a:xfrm>
            <a:off x="8092440" y="5102352"/>
            <a:ext cx="3383280" cy="822960"/>
          </a:xfrm>
          <a:prstGeom prst="rect">
            <a:avLst/>
          </a:prstGeom>
          <a:noFill/>
          <a:ln/>
        </p:spPr>
        <p:txBody>
          <a:bodyPr wrap="square" lIns="0" tIns="0" rIns="0" bIns="0" rtlCol="0" anchor="t"/>
          <a:lstStyle/>
          <a:p>
            <a:pPr indent="0" marL="0">
              <a:buNone/>
            </a:pPr>
            <a:r>
              <a:rPr lang="en-US" sz="1200" dirty="0">
                <a:solidFill>
                  <a:schemeClr val="tx2"/>
                </a:solidFill>
              </a:rPr>
              <a:t>Each $1 bought 1,742 impressions vs 2,230 before (−22%), because CPM rose 28%.</a:t>
            </a:r>
            <a:endParaRPr lang="en-US" sz="1200" dirty="0"/>
          </a:p>
        </p:txBody>
      </p:sp>
      <p:sp>
        <p:nvSpPr>
          <p:cNvPr id="16" name="text-142"/>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Source: Meta Ads Manager ad-level exports – BEFORE 1 Apr–30 Jun 2026 (77 ads), AFTER 1 Jul–30 Sep 2026 (106 ads). Rates recalculated from totals (weighted), not averaged. *Summed ad-level reach.</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REACH &amp; VISIBILITY</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Reach grew 30% at lower frequency; in Reach campaigns, cost per 1,000 reached fell 5% despite higher CPM</a:t>
            </a:r>
            <a:endParaRPr lang="en-US" sz="2600" dirty="0"/>
          </a:p>
        </p:txBody>
      </p:sp>
      <p:sp>
        <p:nvSpPr>
          <p:cNvPr id="4" name="arch-motif-143"/>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text-144"/>
          <p:cNvSpPr txBox="1"/>
          <p:nvPr/>
        </p:nvSpPr>
        <p:spPr>
          <a:xfrm>
            <a:off x="548640" y="1737360"/>
            <a:ext cx="6858000" cy="274320"/>
          </a:xfrm>
          <a:prstGeom prst="rect">
            <a:avLst/>
          </a:prstGeom>
          <a:noFill/>
          <a:ln/>
        </p:spPr>
        <p:txBody>
          <a:bodyPr wrap="square" lIns="0" tIns="0" rIns="0" bIns="0" rtlCol="0" anchor="t"/>
          <a:lstStyle/>
          <a:p>
            <a:pPr indent="0" marL="0">
              <a:buNone/>
            </a:pPr>
            <a:r>
              <a:rPr lang="en-US" sz="1300" b="1" dirty="0">
                <a:solidFill>
                  <a:schemeClr val="tx1"/>
                </a:solidFill>
              </a:rPr>
              <a:t>Media cost, USD – BEFORE vs AFTER</a:t>
            </a:r>
            <a:endParaRPr lang="en-US" sz="1300" dirty="0"/>
          </a:p>
        </p:txBody>
      </p:sp>
      <p:graphicFrame>
        <p:nvGraphicFramePr>
          <p:cNvPr id="6" name="chart-cpm-145" descr=""/>
          <p:cNvGraphicFramePr/>
          <p:nvPr/>
        </p:nvGraphicFramePr>
        <p:xfrm>
          <a:off x="457200" y="2011680"/>
          <a:ext cx="7040880" cy="3063240"/>
        </p:xfrm>
        <a:graphic xmlns:a="http://schemas.openxmlformats.org/drawingml/2006/main">
          <a:graphicData uri="http://schemas.openxmlformats.org/drawingml/2006/chart">
            <c:chart xmlns:c="http://schemas.openxmlformats.org/drawingml/2006/chart" r:id="rId1"/>
          </a:graphicData>
        </a:graphic>
      </p:graphicFrame>
      <p:sp>
        <p:nvSpPr>
          <p:cNvPr id="7" name="badge-146"/>
          <p:cNvSpPr txBox="1"/>
          <p:nvPr/>
        </p:nvSpPr>
        <p:spPr>
          <a:xfrm>
            <a:off x="960120" y="5138928"/>
            <a:ext cx="86868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 28%</a:t>
            </a:r>
            <a:endParaRPr lang="en-US" sz="1200" dirty="0"/>
          </a:p>
        </p:txBody>
      </p:sp>
      <p:sp>
        <p:nvSpPr>
          <p:cNvPr id="8" name="badge-147"/>
          <p:cNvSpPr txBox="1"/>
          <p:nvPr/>
        </p:nvSpPr>
        <p:spPr>
          <a:xfrm>
            <a:off x="2596896" y="5138928"/>
            <a:ext cx="86868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 23%</a:t>
            </a:r>
            <a:endParaRPr lang="en-US" sz="1200" dirty="0"/>
          </a:p>
        </p:txBody>
      </p:sp>
      <p:sp>
        <p:nvSpPr>
          <p:cNvPr id="9" name="badge-148"/>
          <p:cNvSpPr txBox="1"/>
          <p:nvPr/>
        </p:nvSpPr>
        <p:spPr>
          <a:xfrm>
            <a:off x="4233672" y="5138928"/>
            <a:ext cx="86868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 2%</a:t>
            </a:r>
            <a:endParaRPr lang="en-US" sz="1200" dirty="0"/>
          </a:p>
        </p:txBody>
      </p:sp>
      <p:sp>
        <p:nvSpPr>
          <p:cNvPr id="10" name="badge-149"/>
          <p:cNvSpPr txBox="1"/>
          <p:nvPr/>
        </p:nvSpPr>
        <p:spPr>
          <a:xfrm>
            <a:off x="5870448" y="5138928"/>
            <a:ext cx="86868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5%</a:t>
            </a:r>
            <a:endParaRPr lang="en-US" sz="1200" dirty="0"/>
          </a:p>
        </p:txBody>
      </p:sp>
      <p:sp>
        <p:nvSpPr>
          <p:cNvPr id="11" name="text-150"/>
          <p:cNvSpPr txBox="1"/>
          <p:nvPr/>
        </p:nvSpPr>
        <p:spPr>
          <a:xfrm>
            <a:off x="548640" y="5486400"/>
            <a:ext cx="6949440" cy="594360"/>
          </a:xfrm>
          <a:prstGeom prst="rect">
            <a:avLst/>
          </a:prstGeom>
          <a:noFill/>
          <a:ln/>
        </p:spPr>
        <p:txBody>
          <a:bodyPr wrap="square" lIns="0" tIns="0" rIns="0" bIns="0" rtlCol="0" anchor="t"/>
          <a:lstStyle/>
          <a:p>
            <a:pPr indent="0" marL="0">
              <a:buNone/>
            </a:pPr>
            <a:r>
              <a:rPr lang="en-US" sz="1100" dirty="0">
                <a:solidFill>
                  <a:schemeClr val="tx2"/>
                </a:solidFill>
              </a:rPr>
              <a:t>In Reach campaigns, lower frequency (1.76 → 1.35) means fewer paid repeats per person, so cost per person reached fell even as CPM rose. Excluding the two September campaigns with frequency above 2.3, Q3 Reach cost per 1,000 reached was $0.58 (−18% vs Q2).</a:t>
            </a:r>
            <a:endParaRPr lang="en-US" sz="1100" dirty="0"/>
          </a:p>
        </p:txBody>
      </p:sp>
      <p:sp>
        <p:nvSpPr>
          <p:cNvPr id="12" name="card-151"/>
          <p:cNvSpPr/>
          <p:nvPr/>
        </p:nvSpPr>
        <p:spPr>
          <a:xfrm>
            <a:off x="7863840" y="1783080"/>
            <a:ext cx="3776472" cy="1234440"/>
          </a:xfrm>
          <a:prstGeom prst="roundRect">
            <a:avLst>
              <a:gd name="adj" fmla="val 8889"/>
            </a:avLst>
          </a:prstGeom>
          <a:solidFill>
            <a:schemeClr val="bg2"/>
          </a:solidFill>
          <a:ln/>
        </p:spPr>
      </p:sp>
      <p:sp>
        <p:nvSpPr>
          <p:cNvPr id="13" name="text-152"/>
          <p:cNvSpPr txBox="1"/>
          <p:nvPr/>
        </p:nvSpPr>
        <p:spPr>
          <a:xfrm>
            <a:off x="8092440" y="1920240"/>
            <a:ext cx="219456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REACH*</a:t>
            </a:r>
            <a:endParaRPr lang="en-US" sz="1050" dirty="0"/>
          </a:p>
        </p:txBody>
      </p:sp>
      <p:sp>
        <p:nvSpPr>
          <p:cNvPr id="14" name="badge-153"/>
          <p:cNvSpPr txBox="1"/>
          <p:nvPr/>
        </p:nvSpPr>
        <p:spPr>
          <a:xfrm>
            <a:off x="10515600" y="1901952"/>
            <a:ext cx="91440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30%</a:t>
            </a:r>
            <a:endParaRPr lang="en-US" sz="1200" dirty="0"/>
          </a:p>
        </p:txBody>
      </p:sp>
      <p:sp>
        <p:nvSpPr>
          <p:cNvPr id="15" name="text-154"/>
          <p:cNvSpPr txBox="1"/>
          <p:nvPr/>
        </p:nvSpPr>
        <p:spPr>
          <a:xfrm>
            <a:off x="8092440" y="2240280"/>
            <a:ext cx="3383280" cy="548640"/>
          </a:xfrm>
          <a:prstGeom prst="rect">
            <a:avLst/>
          </a:prstGeom>
          <a:noFill/>
          <a:ln/>
        </p:spPr>
        <p:txBody>
          <a:bodyPr wrap="square" lIns="0" tIns="0" rIns="0" bIns="0" rtlCol="0" anchor="ctr"/>
          <a:lstStyle/>
          <a:p>
            <a:pPr indent="0" marL="0">
              <a:buNone/>
            </a:pPr>
            <a:r>
              <a:rPr lang="en-US" sz="2000" dirty="0">
                <a:solidFill>
                  <a:schemeClr val="accent5"/>
                </a:solidFill>
              </a:rPr>
              <a:t>48.1M</a:t>
            </a:r>
            <a:pPr indent="0" marL="0">
              <a:buNone/>
            </a:pPr>
            <a:r>
              <a:rPr lang="en-US" sz="1800" dirty="0">
                <a:solidFill>
                  <a:schemeClr val="accent5"/>
                </a:solidFill>
              </a:rPr>
              <a:t>  →  </a:t>
            </a:r>
            <a:pPr indent="0" marL="0">
              <a:buNone/>
            </a:pPr>
            <a:r>
              <a:rPr lang="en-US" sz="2800" b="1" dirty="0">
                <a:solidFill>
                  <a:schemeClr val="tx1"/>
                </a:solidFill>
              </a:rPr>
              <a:t>62.4M</a:t>
            </a:r>
            <a:endParaRPr lang="en-US" sz="1400" dirty="0"/>
          </a:p>
        </p:txBody>
      </p:sp>
      <p:sp>
        <p:nvSpPr>
          <p:cNvPr id="16" name="card-155"/>
          <p:cNvSpPr/>
          <p:nvPr/>
        </p:nvSpPr>
        <p:spPr>
          <a:xfrm>
            <a:off x="7863840" y="3154680"/>
            <a:ext cx="3776472" cy="1234440"/>
          </a:xfrm>
          <a:prstGeom prst="roundRect">
            <a:avLst>
              <a:gd name="adj" fmla="val 8889"/>
            </a:avLst>
          </a:prstGeom>
          <a:solidFill>
            <a:schemeClr val="bg2"/>
          </a:solidFill>
          <a:ln/>
        </p:spPr>
      </p:sp>
      <p:sp>
        <p:nvSpPr>
          <p:cNvPr id="17" name="text-156"/>
          <p:cNvSpPr txBox="1"/>
          <p:nvPr/>
        </p:nvSpPr>
        <p:spPr>
          <a:xfrm>
            <a:off x="8092440" y="3291840"/>
            <a:ext cx="219456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IMPRESSIONS</a:t>
            </a:r>
            <a:endParaRPr lang="en-US" sz="1050" dirty="0"/>
          </a:p>
        </p:txBody>
      </p:sp>
      <p:sp>
        <p:nvSpPr>
          <p:cNvPr id="18" name="badge-157"/>
          <p:cNvSpPr txBox="1"/>
          <p:nvPr/>
        </p:nvSpPr>
        <p:spPr>
          <a:xfrm>
            <a:off x="10515600" y="3273552"/>
            <a:ext cx="91440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4%</a:t>
            </a:r>
            <a:endParaRPr lang="en-US" sz="1200" dirty="0"/>
          </a:p>
        </p:txBody>
      </p:sp>
      <p:sp>
        <p:nvSpPr>
          <p:cNvPr id="19" name="text-158"/>
          <p:cNvSpPr txBox="1"/>
          <p:nvPr/>
        </p:nvSpPr>
        <p:spPr>
          <a:xfrm>
            <a:off x="8092440" y="3611880"/>
            <a:ext cx="3383280" cy="548640"/>
          </a:xfrm>
          <a:prstGeom prst="rect">
            <a:avLst/>
          </a:prstGeom>
          <a:noFill/>
          <a:ln/>
        </p:spPr>
        <p:txBody>
          <a:bodyPr wrap="square" lIns="0" tIns="0" rIns="0" bIns="0" rtlCol="0" anchor="ctr"/>
          <a:lstStyle/>
          <a:p>
            <a:pPr indent="0" marL="0">
              <a:buNone/>
            </a:pPr>
            <a:r>
              <a:rPr lang="en-US" sz="2000" dirty="0">
                <a:solidFill>
                  <a:schemeClr val="accent5"/>
                </a:solidFill>
              </a:rPr>
              <a:t>84.3M</a:t>
            </a:r>
            <a:pPr indent="0" marL="0">
              <a:buNone/>
            </a:pPr>
            <a:r>
              <a:rPr lang="en-US" sz="1800" dirty="0">
                <a:solidFill>
                  <a:schemeClr val="accent5"/>
                </a:solidFill>
              </a:rPr>
              <a:t>  →  </a:t>
            </a:r>
            <a:pPr indent="0" marL="0">
              <a:buNone/>
            </a:pPr>
            <a:r>
              <a:rPr lang="en-US" sz="2800" b="1" dirty="0">
                <a:solidFill>
                  <a:schemeClr val="tx1"/>
                </a:solidFill>
              </a:rPr>
              <a:t>87.6M</a:t>
            </a:r>
            <a:endParaRPr lang="en-US" sz="1400" dirty="0"/>
          </a:p>
        </p:txBody>
      </p:sp>
      <p:sp>
        <p:nvSpPr>
          <p:cNvPr id="20" name="card-159"/>
          <p:cNvSpPr/>
          <p:nvPr/>
        </p:nvSpPr>
        <p:spPr>
          <a:xfrm>
            <a:off x="7863840" y="4526280"/>
            <a:ext cx="3776472" cy="1234440"/>
          </a:xfrm>
          <a:prstGeom prst="roundRect">
            <a:avLst>
              <a:gd name="adj" fmla="val 8889"/>
            </a:avLst>
          </a:prstGeom>
          <a:solidFill>
            <a:schemeClr val="bg2"/>
          </a:solidFill>
          <a:ln/>
        </p:spPr>
      </p:sp>
      <p:sp>
        <p:nvSpPr>
          <p:cNvPr id="21" name="text-160"/>
          <p:cNvSpPr txBox="1"/>
          <p:nvPr/>
        </p:nvSpPr>
        <p:spPr>
          <a:xfrm>
            <a:off x="8092440" y="4663440"/>
            <a:ext cx="219456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FREQUENCY*</a:t>
            </a:r>
            <a:endParaRPr lang="en-US" sz="1050" dirty="0"/>
          </a:p>
        </p:txBody>
      </p:sp>
      <p:sp>
        <p:nvSpPr>
          <p:cNvPr id="22" name="badge-161"/>
          <p:cNvSpPr txBox="1"/>
          <p:nvPr/>
        </p:nvSpPr>
        <p:spPr>
          <a:xfrm>
            <a:off x="10515600" y="4645152"/>
            <a:ext cx="914400" cy="292608"/>
          </a:xfrm>
          <a:prstGeom prst="roundRect">
            <a:avLst>
              <a:gd name="adj" fmla="val 50000"/>
            </a:avLst>
          </a:prstGeom>
          <a:solidFill>
            <a:schemeClr val="accent5"/>
          </a:solidFill>
          <a:ln/>
        </p:spPr>
        <p:txBody>
          <a:bodyPr wrap="square" lIns="0" tIns="0" rIns="0" bIns="0" rtlCol="0" anchor="ctr"/>
          <a:lstStyle/>
          <a:p>
            <a:pPr algn="ctr" indent="0" marL="0">
              <a:buNone/>
            </a:pPr>
            <a:r>
              <a:rPr lang="en-US" sz="1200" b="1" dirty="0">
                <a:solidFill>
                  <a:schemeClr val="bg1"/>
                </a:solidFill>
              </a:rPr>
              <a:t>▼ 20%</a:t>
            </a:r>
            <a:endParaRPr lang="en-US" sz="1200" dirty="0"/>
          </a:p>
        </p:txBody>
      </p:sp>
      <p:sp>
        <p:nvSpPr>
          <p:cNvPr id="23" name="text-162"/>
          <p:cNvSpPr txBox="1"/>
          <p:nvPr/>
        </p:nvSpPr>
        <p:spPr>
          <a:xfrm>
            <a:off x="8092440" y="4983480"/>
            <a:ext cx="3383280" cy="548640"/>
          </a:xfrm>
          <a:prstGeom prst="rect">
            <a:avLst/>
          </a:prstGeom>
          <a:noFill/>
          <a:ln/>
        </p:spPr>
        <p:txBody>
          <a:bodyPr wrap="square" lIns="0" tIns="0" rIns="0" bIns="0" rtlCol="0" anchor="ctr"/>
          <a:lstStyle/>
          <a:p>
            <a:pPr indent="0" marL="0">
              <a:buNone/>
            </a:pPr>
            <a:r>
              <a:rPr lang="en-US" sz="2000" dirty="0">
                <a:solidFill>
                  <a:schemeClr val="accent5"/>
                </a:solidFill>
              </a:rPr>
              <a:t>1.75</a:t>
            </a:r>
            <a:pPr indent="0" marL="0">
              <a:buNone/>
            </a:pPr>
            <a:r>
              <a:rPr lang="en-US" sz="1800" dirty="0">
                <a:solidFill>
                  <a:schemeClr val="accent5"/>
                </a:solidFill>
              </a:rPr>
              <a:t>  →  </a:t>
            </a:r>
            <a:pPr indent="0" marL="0">
              <a:buNone/>
            </a:pPr>
            <a:r>
              <a:rPr lang="en-US" sz="2800" b="1" dirty="0">
                <a:solidFill>
                  <a:schemeClr val="tx1"/>
                </a:solidFill>
              </a:rPr>
              <a:t>1.40</a:t>
            </a:r>
            <a:endParaRPr lang="en-US" sz="1400" dirty="0"/>
          </a:p>
        </p:txBody>
      </p:sp>
      <p:sp>
        <p:nvSpPr>
          <p:cNvPr id="24" name="text-163"/>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Source: Meta Ads Manager ad-level exports – BEFORE 1 Apr–30 Jun 2026 (77 ads), AFTER 1 Jul–30 Sep 2026 (106 ads). Rates recalculated from totals (weighted), not averaged. *Summed ad-level reach, not de-duplicated.</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TRAFFIC EFFICIENCY</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Link clicks +54% at 13% lower CPC – Reach ads became a traffic driver</a:t>
            </a:r>
            <a:endParaRPr lang="en-US" sz="2600" dirty="0"/>
          </a:p>
        </p:txBody>
      </p:sp>
      <p:sp>
        <p:nvSpPr>
          <p:cNvPr id="4" name="arch-motif-164"/>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text-165"/>
          <p:cNvSpPr txBox="1"/>
          <p:nvPr/>
        </p:nvSpPr>
        <p:spPr>
          <a:xfrm>
            <a:off x="548640" y="1737360"/>
            <a:ext cx="5943600" cy="274320"/>
          </a:xfrm>
          <a:prstGeom prst="rect">
            <a:avLst/>
          </a:prstGeom>
          <a:noFill/>
          <a:ln/>
        </p:spPr>
        <p:txBody>
          <a:bodyPr wrap="square" lIns="0" tIns="0" rIns="0" bIns="0" rtlCol="0" anchor="t"/>
          <a:lstStyle/>
          <a:p>
            <a:pPr indent="0" marL="0">
              <a:buNone/>
            </a:pPr>
            <a:r>
              <a:rPr lang="en-US" sz="1300" b="1" dirty="0">
                <a:solidFill>
                  <a:schemeClr val="tx1"/>
                </a:solidFill>
              </a:rPr>
              <a:t>Link clicks by campaign objective</a:t>
            </a:r>
            <a:endParaRPr lang="en-US" sz="1300" dirty="0"/>
          </a:p>
        </p:txBody>
      </p:sp>
      <p:graphicFrame>
        <p:nvGraphicFramePr>
          <p:cNvPr id="6" name="chart-clicks-166" descr=""/>
          <p:cNvGraphicFramePr/>
          <p:nvPr/>
        </p:nvGraphicFramePr>
        <p:xfrm>
          <a:off x="457200" y="2011680"/>
          <a:ext cx="6035040" cy="3429000"/>
        </p:xfrm>
        <a:graphic xmlns:a="http://schemas.openxmlformats.org/drawingml/2006/main">
          <a:graphicData uri="http://schemas.openxmlformats.org/drawingml/2006/chart">
            <c:chart xmlns:c="http://schemas.openxmlformats.org/drawingml/2006/chart" r:id="rId1"/>
          </a:graphicData>
        </a:graphic>
      </p:graphicFrame>
      <p:sp>
        <p:nvSpPr>
          <p:cNvPr id="7" name="text-167"/>
          <p:cNvSpPr txBox="1"/>
          <p:nvPr/>
        </p:nvSpPr>
        <p:spPr>
          <a:xfrm>
            <a:off x="548640" y="5486400"/>
            <a:ext cx="5943600" cy="274320"/>
          </a:xfrm>
          <a:prstGeom prst="rect">
            <a:avLst/>
          </a:prstGeom>
          <a:noFill/>
          <a:ln/>
        </p:spPr>
        <p:txBody>
          <a:bodyPr wrap="square" lIns="0" tIns="0" rIns="0" bIns="0" rtlCol="0" anchor="t"/>
          <a:lstStyle/>
          <a:p>
            <a:pPr indent="0" marL="0">
              <a:buNone/>
            </a:pPr>
            <a:r>
              <a:rPr lang="en-US" sz="1200" b="1" dirty="0">
                <a:solidFill>
                  <a:schemeClr val="tx1"/>
                </a:solidFill>
              </a:rPr>
              <a:t>61.4K → 94.4K</a:t>
            </a:r>
            <a:pPr indent="0" marL="0">
              <a:buNone/>
            </a:pPr>
            <a:r>
              <a:rPr lang="en-US" sz="1200" dirty="0">
                <a:solidFill>
                  <a:schemeClr val="tx1"/>
                </a:solidFill>
              </a:rPr>
              <a:t> total link clicks</a:t>
            </a:r>
            <a:endParaRPr lang="en-US" sz="1200" dirty="0"/>
          </a:p>
        </p:txBody>
      </p:sp>
      <p:sp>
        <p:nvSpPr>
          <p:cNvPr id="8" name="card-168"/>
          <p:cNvSpPr/>
          <p:nvPr/>
        </p:nvSpPr>
        <p:spPr>
          <a:xfrm>
            <a:off x="6858000" y="1783080"/>
            <a:ext cx="4782312" cy="914400"/>
          </a:xfrm>
          <a:prstGeom prst="roundRect">
            <a:avLst>
              <a:gd name="adj" fmla="val 12000"/>
            </a:avLst>
          </a:prstGeom>
          <a:solidFill>
            <a:schemeClr val="bg2"/>
          </a:solidFill>
          <a:ln/>
        </p:spPr>
      </p:sp>
      <p:sp>
        <p:nvSpPr>
          <p:cNvPr id="9" name="text-169"/>
          <p:cNvSpPr txBox="1"/>
          <p:nvPr/>
        </p:nvSpPr>
        <p:spPr>
          <a:xfrm>
            <a:off x="7059168" y="1901952"/>
            <a:ext cx="228600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LINK CTR</a:t>
            </a:r>
            <a:endParaRPr lang="en-US" sz="1050" dirty="0"/>
          </a:p>
        </p:txBody>
      </p:sp>
      <p:sp>
        <p:nvSpPr>
          <p:cNvPr id="10" name="text-170"/>
          <p:cNvSpPr txBox="1"/>
          <p:nvPr/>
        </p:nvSpPr>
        <p:spPr>
          <a:xfrm>
            <a:off x="7059168" y="2167128"/>
            <a:ext cx="3291840" cy="411480"/>
          </a:xfrm>
          <a:prstGeom prst="rect">
            <a:avLst/>
          </a:prstGeom>
          <a:noFill/>
          <a:ln/>
        </p:spPr>
        <p:txBody>
          <a:bodyPr wrap="square" lIns="0" tIns="0" rIns="0" bIns="0" rtlCol="0" anchor="ctr"/>
          <a:lstStyle/>
          <a:p>
            <a:pPr indent="0" marL="0">
              <a:buNone/>
            </a:pPr>
            <a:r>
              <a:rPr lang="en-US" sz="1600" dirty="0">
                <a:solidFill>
                  <a:schemeClr val="accent5"/>
                </a:solidFill>
              </a:rPr>
              <a:t>0.073%</a:t>
            </a:r>
            <a:pPr indent="0" marL="0">
              <a:buNone/>
            </a:pPr>
            <a:r>
              <a:rPr lang="en-US" sz="1400" dirty="0">
                <a:solidFill>
                  <a:schemeClr val="accent5"/>
                </a:solidFill>
              </a:rPr>
              <a:t>  →  </a:t>
            </a:r>
            <a:pPr indent="0" marL="0">
              <a:buNone/>
            </a:pPr>
            <a:r>
              <a:rPr lang="en-US" sz="2200" b="1" dirty="0">
                <a:solidFill>
                  <a:schemeClr val="tx1"/>
                </a:solidFill>
              </a:rPr>
              <a:t>0.108%</a:t>
            </a:r>
            <a:endParaRPr lang="en-US" sz="1400" dirty="0"/>
          </a:p>
        </p:txBody>
      </p:sp>
      <p:sp>
        <p:nvSpPr>
          <p:cNvPr id="11" name="badge-171"/>
          <p:cNvSpPr txBox="1"/>
          <p:nvPr/>
        </p:nvSpPr>
        <p:spPr>
          <a:xfrm>
            <a:off x="10515600" y="2093976"/>
            <a:ext cx="91440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48%</a:t>
            </a:r>
            <a:endParaRPr lang="en-US" sz="1200" dirty="0"/>
          </a:p>
        </p:txBody>
      </p:sp>
      <p:sp>
        <p:nvSpPr>
          <p:cNvPr id="12" name="card-172"/>
          <p:cNvSpPr/>
          <p:nvPr/>
        </p:nvSpPr>
        <p:spPr>
          <a:xfrm>
            <a:off x="6858000" y="2807208"/>
            <a:ext cx="4782312" cy="914400"/>
          </a:xfrm>
          <a:prstGeom prst="roundRect">
            <a:avLst>
              <a:gd name="adj" fmla="val 12000"/>
            </a:avLst>
          </a:prstGeom>
          <a:solidFill>
            <a:schemeClr val="bg2"/>
          </a:solidFill>
          <a:ln/>
        </p:spPr>
      </p:sp>
      <p:sp>
        <p:nvSpPr>
          <p:cNvPr id="13" name="text-173"/>
          <p:cNvSpPr txBox="1"/>
          <p:nvPr/>
        </p:nvSpPr>
        <p:spPr>
          <a:xfrm>
            <a:off x="7059168" y="2926080"/>
            <a:ext cx="228600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CPC (LINK)</a:t>
            </a:r>
            <a:endParaRPr lang="en-US" sz="1050" dirty="0"/>
          </a:p>
        </p:txBody>
      </p:sp>
      <p:sp>
        <p:nvSpPr>
          <p:cNvPr id="14" name="text-174"/>
          <p:cNvSpPr txBox="1"/>
          <p:nvPr/>
        </p:nvSpPr>
        <p:spPr>
          <a:xfrm>
            <a:off x="7059168" y="3191256"/>
            <a:ext cx="3291840" cy="411480"/>
          </a:xfrm>
          <a:prstGeom prst="rect">
            <a:avLst/>
          </a:prstGeom>
          <a:noFill/>
          <a:ln/>
        </p:spPr>
        <p:txBody>
          <a:bodyPr wrap="square" lIns="0" tIns="0" rIns="0" bIns="0" rtlCol="0" anchor="ctr"/>
          <a:lstStyle/>
          <a:p>
            <a:pPr indent="0" marL="0">
              <a:buNone/>
            </a:pPr>
            <a:r>
              <a:rPr lang="en-US" sz="1600" dirty="0">
                <a:solidFill>
                  <a:schemeClr val="accent5"/>
                </a:solidFill>
              </a:rPr>
              <a:t>$0.62</a:t>
            </a:r>
            <a:pPr indent="0" marL="0">
              <a:buNone/>
            </a:pPr>
            <a:r>
              <a:rPr lang="en-US" sz="1400" dirty="0">
                <a:solidFill>
                  <a:schemeClr val="accent5"/>
                </a:solidFill>
              </a:rPr>
              <a:t>  →  </a:t>
            </a:r>
            <a:pPr indent="0" marL="0">
              <a:buNone/>
            </a:pPr>
            <a:r>
              <a:rPr lang="en-US" sz="2200" b="1" dirty="0">
                <a:solidFill>
                  <a:schemeClr val="tx1"/>
                </a:solidFill>
              </a:rPr>
              <a:t>$0.53</a:t>
            </a:r>
            <a:endParaRPr lang="en-US" sz="1400" dirty="0"/>
          </a:p>
        </p:txBody>
      </p:sp>
      <p:sp>
        <p:nvSpPr>
          <p:cNvPr id="15" name="badge-175"/>
          <p:cNvSpPr txBox="1"/>
          <p:nvPr/>
        </p:nvSpPr>
        <p:spPr>
          <a:xfrm>
            <a:off x="10515600" y="3118104"/>
            <a:ext cx="91440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13%</a:t>
            </a:r>
            <a:endParaRPr lang="en-US" sz="1200" dirty="0"/>
          </a:p>
        </p:txBody>
      </p:sp>
      <p:sp>
        <p:nvSpPr>
          <p:cNvPr id="16" name="card-176"/>
          <p:cNvSpPr/>
          <p:nvPr/>
        </p:nvSpPr>
        <p:spPr>
          <a:xfrm>
            <a:off x="6858000" y="3831336"/>
            <a:ext cx="4782312" cy="914400"/>
          </a:xfrm>
          <a:prstGeom prst="roundRect">
            <a:avLst>
              <a:gd name="adj" fmla="val 12000"/>
            </a:avLst>
          </a:prstGeom>
          <a:solidFill>
            <a:schemeClr val="bg2"/>
          </a:solidFill>
          <a:ln/>
        </p:spPr>
      </p:sp>
      <p:sp>
        <p:nvSpPr>
          <p:cNvPr id="17" name="text-177"/>
          <p:cNvSpPr txBox="1"/>
          <p:nvPr/>
        </p:nvSpPr>
        <p:spPr>
          <a:xfrm>
            <a:off x="7059168" y="3950208"/>
            <a:ext cx="2286000" cy="228600"/>
          </a:xfrm>
          <a:prstGeom prst="rect">
            <a:avLst/>
          </a:prstGeom>
          <a:noFill/>
          <a:ln/>
        </p:spPr>
        <p:txBody>
          <a:bodyPr wrap="square" lIns="0" tIns="0" rIns="0" bIns="0" rtlCol="0" anchor="t"/>
          <a:lstStyle/>
          <a:p>
            <a:pPr indent="0" marL="0">
              <a:buNone/>
            </a:pPr>
            <a:r>
              <a:rPr lang="en-US" sz="1050" b="1" spc="100" kern="0" dirty="0">
                <a:solidFill>
                  <a:schemeClr val="accent5"/>
                </a:solidFill>
              </a:rPr>
              <a:t>CTR (ALL CLICKS)</a:t>
            </a:r>
            <a:endParaRPr lang="en-US" sz="1050" dirty="0"/>
          </a:p>
        </p:txBody>
      </p:sp>
      <p:sp>
        <p:nvSpPr>
          <p:cNvPr id="18" name="text-178"/>
          <p:cNvSpPr txBox="1"/>
          <p:nvPr/>
        </p:nvSpPr>
        <p:spPr>
          <a:xfrm>
            <a:off x="7059168" y="4215384"/>
            <a:ext cx="3291840" cy="411480"/>
          </a:xfrm>
          <a:prstGeom prst="rect">
            <a:avLst/>
          </a:prstGeom>
          <a:noFill/>
          <a:ln/>
        </p:spPr>
        <p:txBody>
          <a:bodyPr wrap="square" lIns="0" tIns="0" rIns="0" bIns="0" rtlCol="0" anchor="ctr"/>
          <a:lstStyle/>
          <a:p>
            <a:pPr indent="0" marL="0">
              <a:buNone/>
            </a:pPr>
            <a:r>
              <a:rPr lang="en-US" sz="1600" dirty="0">
                <a:solidFill>
                  <a:schemeClr val="accent5"/>
                </a:solidFill>
              </a:rPr>
              <a:t>0.180%</a:t>
            </a:r>
            <a:pPr indent="0" marL="0">
              <a:buNone/>
            </a:pPr>
            <a:r>
              <a:rPr lang="en-US" sz="1400" dirty="0">
                <a:solidFill>
                  <a:schemeClr val="accent5"/>
                </a:solidFill>
              </a:rPr>
              <a:t>  →  </a:t>
            </a:r>
            <a:pPr indent="0" marL="0">
              <a:buNone/>
            </a:pPr>
            <a:r>
              <a:rPr lang="en-US" sz="2200" b="1" dirty="0">
                <a:solidFill>
                  <a:schemeClr val="tx1"/>
                </a:solidFill>
              </a:rPr>
              <a:t>0.184%</a:t>
            </a:r>
            <a:endParaRPr lang="en-US" sz="1400" dirty="0"/>
          </a:p>
        </p:txBody>
      </p:sp>
      <p:sp>
        <p:nvSpPr>
          <p:cNvPr id="19" name="badge-179"/>
          <p:cNvSpPr txBox="1"/>
          <p:nvPr/>
        </p:nvSpPr>
        <p:spPr>
          <a:xfrm>
            <a:off x="10515600" y="4142232"/>
            <a:ext cx="91440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3%</a:t>
            </a:r>
            <a:endParaRPr lang="en-US" sz="1200" dirty="0"/>
          </a:p>
        </p:txBody>
      </p:sp>
      <p:sp>
        <p:nvSpPr>
          <p:cNvPr id="20" name="card-180"/>
          <p:cNvSpPr/>
          <p:nvPr/>
        </p:nvSpPr>
        <p:spPr>
          <a:xfrm>
            <a:off x="6858000" y="4892040"/>
            <a:ext cx="4782312" cy="1143000"/>
          </a:xfrm>
          <a:prstGeom prst="roundRect">
            <a:avLst>
              <a:gd name="adj" fmla="val 9600"/>
            </a:avLst>
          </a:prstGeom>
          <a:solidFill>
            <a:schemeClr val="accent6"/>
          </a:solidFill>
          <a:ln/>
        </p:spPr>
      </p:sp>
      <p:sp>
        <p:nvSpPr>
          <p:cNvPr id="21" name="text-181"/>
          <p:cNvSpPr txBox="1"/>
          <p:nvPr/>
        </p:nvSpPr>
        <p:spPr>
          <a:xfrm>
            <a:off x="7059168" y="4983480"/>
            <a:ext cx="4434840" cy="960120"/>
          </a:xfrm>
          <a:prstGeom prst="rect">
            <a:avLst/>
          </a:prstGeom>
          <a:noFill/>
          <a:ln/>
        </p:spPr>
        <p:txBody>
          <a:bodyPr wrap="square" lIns="0" tIns="0" rIns="0" bIns="0" rtlCol="0" anchor="ctr"/>
          <a:lstStyle/>
          <a:p>
            <a:pPr indent="0" marL="0">
              <a:buNone/>
            </a:pPr>
            <a:r>
              <a:rPr lang="en-US" sz="1100" b="1" dirty="0">
                <a:solidFill>
                  <a:schemeClr val="tx1"/>
                </a:solidFill>
              </a:rPr>
              <a:t>Not like-for-like: </a:t>
            </a:r>
            <a:pPr indent="0" marL="0">
              <a:buNone/>
            </a:pPr>
            <a:r>
              <a:rPr lang="en-US" sz="1100" dirty="0">
                <a:solidFill>
                  <a:schemeClr val="tx1"/>
                </a:solidFill>
              </a:rPr>
              <a:t>Q2 Traffic campaigns optimised for Instagram profile visits (60,443 visits at $0.053). Q3's Happy Meal Traffic campaign optimised for link clicks (11,314 at $0.25), so their results are not compared directly.</a:t>
            </a:r>
            <a:endParaRPr lang="en-US" sz="1100" dirty="0"/>
          </a:p>
        </p:txBody>
      </p:sp>
      <p:sp>
        <p:nvSpPr>
          <p:cNvPr id="22" name="text-182"/>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Source: Meta Ads Manager ad-level exports – BEFORE 1 Apr–30 Jun 2026 (77 ads), AFTER 1 Jul–30 Sep 2026 (106 ads). Rates recalculated from totals (weighted), not averaged.</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ENGAGEMENT &amp; VIDEO</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Engagement and video volume stayed flat on a 33% bigger budget, so the cost of attention rose</a:t>
            </a:r>
            <a:endParaRPr lang="en-US" sz="2600" dirty="0"/>
          </a:p>
        </p:txBody>
      </p:sp>
      <p:sp>
        <p:nvSpPr>
          <p:cNvPr id="4" name="arch-motif-183"/>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text-184"/>
          <p:cNvSpPr txBox="1"/>
          <p:nvPr/>
        </p:nvSpPr>
        <p:spPr>
          <a:xfrm>
            <a:off x="548640" y="1737360"/>
            <a:ext cx="3657600" cy="274320"/>
          </a:xfrm>
          <a:prstGeom prst="rect">
            <a:avLst/>
          </a:prstGeom>
          <a:noFill/>
          <a:ln/>
        </p:spPr>
        <p:txBody>
          <a:bodyPr wrap="square" lIns="0" tIns="0" rIns="0" bIns="0" rtlCol="0" anchor="t"/>
          <a:lstStyle/>
          <a:p>
            <a:pPr indent="0" marL="0">
              <a:buNone/>
            </a:pPr>
            <a:r>
              <a:rPr lang="en-US" sz="1300" b="1" dirty="0">
                <a:solidFill>
                  <a:schemeClr val="tx1"/>
                </a:solidFill>
              </a:rPr>
              <a:t>Volume, millions</a:t>
            </a:r>
            <a:endParaRPr lang="en-US" sz="1300" dirty="0"/>
          </a:p>
        </p:txBody>
      </p:sp>
      <p:graphicFrame>
        <p:nvGraphicFramePr>
          <p:cNvPr id="6" name="chart-eng-vol-185" descr=""/>
          <p:cNvGraphicFramePr/>
          <p:nvPr/>
        </p:nvGraphicFramePr>
        <p:xfrm>
          <a:off x="457200" y="2011680"/>
          <a:ext cx="3840480" cy="2743200"/>
        </p:xfrm>
        <a:graphic xmlns:a="http://schemas.openxmlformats.org/drawingml/2006/main">
          <a:graphicData uri="http://schemas.openxmlformats.org/drawingml/2006/chart">
            <c:chart xmlns:c="http://schemas.openxmlformats.org/drawingml/2006/chart" r:id="rId1"/>
          </a:graphicData>
        </a:graphic>
      </p:graphicFrame>
      <p:sp>
        <p:nvSpPr>
          <p:cNvPr id="7" name="text-186"/>
          <p:cNvSpPr txBox="1"/>
          <p:nvPr/>
        </p:nvSpPr>
        <p:spPr>
          <a:xfrm>
            <a:off x="4526280" y="1737360"/>
            <a:ext cx="7132320" cy="274320"/>
          </a:xfrm>
          <a:prstGeom prst="rect">
            <a:avLst/>
          </a:prstGeom>
          <a:noFill/>
          <a:ln/>
        </p:spPr>
        <p:txBody>
          <a:bodyPr wrap="square" lIns="0" tIns="0" rIns="0" bIns="0" rtlCol="0" anchor="t"/>
          <a:lstStyle/>
          <a:p>
            <a:pPr indent="0" marL="0">
              <a:buNone/>
            </a:pPr>
            <a:r>
              <a:rPr lang="en-US" sz="1300" b="1" dirty="0">
                <a:solidFill>
                  <a:schemeClr val="tx1"/>
                </a:solidFill>
              </a:rPr>
              <a:t>Cost per 1,000 post engagements, USD – by optimisation goal</a:t>
            </a:r>
            <a:endParaRPr lang="en-US" sz="1300" dirty="0"/>
          </a:p>
        </p:txBody>
      </p:sp>
      <p:graphicFrame>
        <p:nvGraphicFramePr>
          <p:cNvPr id="8" name="chart-eng-cost-187" descr=""/>
          <p:cNvGraphicFramePr/>
          <p:nvPr/>
        </p:nvGraphicFramePr>
        <p:xfrm>
          <a:off x="4434840" y="2011680"/>
          <a:ext cx="7223760" cy="2743200"/>
        </p:xfrm>
        <a:graphic xmlns:a="http://schemas.openxmlformats.org/drawingml/2006/main">
          <a:graphicData uri="http://schemas.openxmlformats.org/drawingml/2006/chart">
            <c:chart xmlns:c="http://schemas.openxmlformats.org/drawingml/2006/chart" r:id="rId2"/>
          </a:graphicData>
        </a:graphic>
      </p:graphicFrame>
      <p:sp>
        <p:nvSpPr>
          <p:cNvPr id="9" name="card-188"/>
          <p:cNvSpPr/>
          <p:nvPr/>
        </p:nvSpPr>
        <p:spPr>
          <a:xfrm>
            <a:off x="548640" y="4937760"/>
            <a:ext cx="3593592" cy="1097280"/>
          </a:xfrm>
          <a:prstGeom prst="roundRect">
            <a:avLst>
              <a:gd name="adj" fmla="val 10000"/>
            </a:avLst>
          </a:prstGeom>
          <a:solidFill>
            <a:schemeClr val="bg2"/>
          </a:solidFill>
          <a:ln/>
        </p:spPr>
      </p:sp>
      <p:sp>
        <p:nvSpPr>
          <p:cNvPr id="10" name="text-189"/>
          <p:cNvSpPr txBox="1"/>
          <p:nvPr/>
        </p:nvSpPr>
        <p:spPr>
          <a:xfrm>
            <a:off x="731520" y="5029200"/>
            <a:ext cx="3291840" cy="365760"/>
          </a:xfrm>
          <a:prstGeom prst="rect">
            <a:avLst/>
          </a:prstGeom>
          <a:noFill/>
          <a:ln/>
        </p:spPr>
        <p:txBody>
          <a:bodyPr wrap="square" lIns="0" tIns="0" rIns="0" bIns="0" rtlCol="0" anchor="t"/>
          <a:lstStyle/>
          <a:p>
            <a:pPr indent="0" marL="0">
              <a:buNone/>
            </a:pPr>
            <a:r>
              <a:rPr lang="en-US" sz="1800" b="1" dirty="0">
                <a:solidFill>
                  <a:schemeClr val="tx1"/>
                </a:solidFill>
              </a:rPr>
              <a:t>97–98%</a:t>
            </a:r>
            <a:endParaRPr lang="en-US" sz="1800" dirty="0"/>
          </a:p>
        </p:txBody>
      </p:sp>
      <p:sp>
        <p:nvSpPr>
          <p:cNvPr id="11" name="text-190"/>
          <p:cNvSpPr txBox="1"/>
          <p:nvPr/>
        </p:nvSpPr>
        <p:spPr>
          <a:xfrm>
            <a:off x="731520" y="5394960"/>
            <a:ext cx="3291840" cy="594360"/>
          </a:xfrm>
          <a:prstGeom prst="rect">
            <a:avLst/>
          </a:prstGeom>
          <a:noFill/>
          <a:ln/>
        </p:spPr>
        <p:txBody>
          <a:bodyPr wrap="square" lIns="0" tIns="0" rIns="0" bIns="0" rtlCol="0" anchor="t"/>
          <a:lstStyle/>
          <a:p>
            <a:pPr indent="0" marL="0">
              <a:buNone/>
            </a:pPr>
            <a:r>
              <a:rPr lang="en-US" sz="1050" dirty="0">
                <a:solidFill>
                  <a:schemeClr val="tx2"/>
                </a:solidFill>
              </a:rPr>
              <a:t>of post engagements are 3-second video plays, so engagement here is essentially video consumption.</a:t>
            </a:r>
            <a:endParaRPr lang="en-US" sz="1050" dirty="0"/>
          </a:p>
        </p:txBody>
      </p:sp>
      <p:sp>
        <p:nvSpPr>
          <p:cNvPr id="12" name="card-191"/>
          <p:cNvSpPr/>
          <p:nvPr/>
        </p:nvSpPr>
        <p:spPr>
          <a:xfrm>
            <a:off x="4297680" y="4937760"/>
            <a:ext cx="3593592" cy="1097280"/>
          </a:xfrm>
          <a:prstGeom prst="roundRect">
            <a:avLst>
              <a:gd name="adj" fmla="val 10000"/>
            </a:avLst>
          </a:prstGeom>
          <a:solidFill>
            <a:schemeClr val="bg2"/>
          </a:solidFill>
          <a:ln/>
        </p:spPr>
      </p:sp>
      <p:sp>
        <p:nvSpPr>
          <p:cNvPr id="13" name="text-192"/>
          <p:cNvSpPr txBox="1"/>
          <p:nvPr/>
        </p:nvSpPr>
        <p:spPr>
          <a:xfrm>
            <a:off x="4480560" y="5029200"/>
            <a:ext cx="3291840" cy="365760"/>
          </a:xfrm>
          <a:prstGeom prst="rect">
            <a:avLst/>
          </a:prstGeom>
          <a:noFill/>
          <a:ln/>
        </p:spPr>
        <p:txBody>
          <a:bodyPr wrap="square" lIns="0" tIns="0" rIns="0" bIns="0" rtlCol="0" anchor="t"/>
          <a:lstStyle/>
          <a:p>
            <a:pPr indent="0" marL="0">
              <a:buNone/>
            </a:pPr>
            <a:r>
              <a:rPr lang="en-US" sz="1800" b="1" dirty="0">
                <a:solidFill>
                  <a:schemeClr val="accent4"/>
                </a:solidFill>
              </a:rPr>
              <a:t>13.3% → 14.1%</a:t>
            </a:r>
            <a:endParaRPr lang="en-US" sz="1800" dirty="0"/>
          </a:p>
        </p:txBody>
      </p:sp>
      <p:sp>
        <p:nvSpPr>
          <p:cNvPr id="14" name="text-193"/>
          <p:cNvSpPr txBox="1"/>
          <p:nvPr/>
        </p:nvSpPr>
        <p:spPr>
          <a:xfrm>
            <a:off x="4480560" y="5394960"/>
            <a:ext cx="3291840" cy="594360"/>
          </a:xfrm>
          <a:prstGeom prst="rect">
            <a:avLst/>
          </a:prstGeom>
          <a:noFill/>
          <a:ln/>
        </p:spPr>
        <p:txBody>
          <a:bodyPr wrap="square" lIns="0" tIns="0" rIns="0" bIns="0" rtlCol="0" anchor="t"/>
          <a:lstStyle/>
          <a:p>
            <a:pPr indent="0" marL="0">
              <a:buNone/>
            </a:pPr>
            <a:r>
              <a:rPr lang="en-US" sz="1050" dirty="0">
                <a:solidFill>
                  <a:schemeClr val="tx2"/>
                </a:solidFill>
              </a:rPr>
              <a:t>3s-play rate on video ads: Q3 videos hooked viewers slightly better (+6%).</a:t>
            </a:r>
            <a:endParaRPr lang="en-US" sz="1050" dirty="0"/>
          </a:p>
        </p:txBody>
      </p:sp>
      <p:sp>
        <p:nvSpPr>
          <p:cNvPr id="15" name="card-194"/>
          <p:cNvSpPr/>
          <p:nvPr/>
        </p:nvSpPr>
        <p:spPr>
          <a:xfrm>
            <a:off x="8046720" y="4937760"/>
            <a:ext cx="3593592" cy="1097280"/>
          </a:xfrm>
          <a:prstGeom prst="roundRect">
            <a:avLst>
              <a:gd name="adj" fmla="val 10000"/>
            </a:avLst>
          </a:prstGeom>
          <a:solidFill>
            <a:schemeClr val="accent6"/>
          </a:solidFill>
          <a:ln/>
        </p:spPr>
      </p:sp>
      <p:sp>
        <p:nvSpPr>
          <p:cNvPr id="16" name="text-195"/>
          <p:cNvSpPr txBox="1"/>
          <p:nvPr/>
        </p:nvSpPr>
        <p:spPr>
          <a:xfrm>
            <a:off x="8229600" y="5029200"/>
            <a:ext cx="3291840" cy="365760"/>
          </a:xfrm>
          <a:prstGeom prst="rect">
            <a:avLst/>
          </a:prstGeom>
          <a:noFill/>
          <a:ln/>
        </p:spPr>
        <p:txBody>
          <a:bodyPr wrap="square" lIns="0" tIns="0" rIns="0" bIns="0" rtlCol="0" anchor="t"/>
          <a:lstStyle/>
          <a:p>
            <a:pPr indent="0" marL="0">
              <a:buNone/>
            </a:pPr>
            <a:r>
              <a:rPr lang="en-US" sz="1800" b="1" dirty="0">
                <a:solidFill>
                  <a:schemeClr val="accent1"/>
                </a:solidFill>
              </a:rPr>
              <a:t>82% → 75%</a:t>
            </a:r>
            <a:endParaRPr lang="en-US" sz="1800" dirty="0"/>
          </a:p>
        </p:txBody>
      </p:sp>
      <p:sp>
        <p:nvSpPr>
          <p:cNvPr id="17" name="text-196"/>
          <p:cNvSpPr txBox="1"/>
          <p:nvPr/>
        </p:nvSpPr>
        <p:spPr>
          <a:xfrm>
            <a:off x="8229600" y="5394960"/>
            <a:ext cx="3291840" cy="594360"/>
          </a:xfrm>
          <a:prstGeom prst="rect">
            <a:avLst/>
          </a:prstGeom>
          <a:noFill/>
          <a:ln/>
        </p:spPr>
        <p:txBody>
          <a:bodyPr wrap="square" lIns="0" tIns="0" rIns="0" bIns="0" rtlCol="0" anchor="t"/>
          <a:lstStyle/>
          <a:p>
            <a:pPr indent="0" marL="0">
              <a:buNone/>
            </a:pPr>
            <a:r>
              <a:rPr lang="en-US" sz="1050" dirty="0">
                <a:solidFill>
                  <a:schemeClr val="tx2"/>
                </a:solidFill>
              </a:rPr>
              <a:t>video's share of spend fell; with higher CPM, cost per 1,000 3s plays on video ads rose 25%.</a:t>
            </a:r>
            <a:endParaRPr lang="en-US" sz="1050" dirty="0"/>
          </a:p>
        </p:txBody>
      </p:sp>
      <p:sp>
        <p:nvSpPr>
          <p:cNvPr id="18" name="text-197"/>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Source: Meta Ads Manager ad-level exports – BEFORE 1 Apr–30 Jun 2026 (77 ads), AFTER 1 Jul–30 Sep 2026 (106 ads). Rates recalculated from totals (weighted), not averaged. Interactions is a different Meta result type; compared here on post engagements, the metric both goals report.</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CAMPAIGN PERFORMANCE</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FIFA and Mixology set the efficiency bar; September Happy Meal and Entry Level pulled it down</a:t>
            </a:r>
            <a:endParaRPr lang="en-US" sz="2600" dirty="0"/>
          </a:p>
        </p:txBody>
      </p:sp>
      <p:sp>
        <p:nvSpPr>
          <p:cNvPr id="4" name="arch-motif-198"/>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text-199"/>
          <p:cNvSpPr txBox="1"/>
          <p:nvPr/>
        </p:nvSpPr>
        <p:spPr>
          <a:xfrm>
            <a:off x="548640" y="1691640"/>
            <a:ext cx="7132320" cy="274320"/>
          </a:xfrm>
          <a:prstGeom prst="rect">
            <a:avLst/>
          </a:prstGeom>
          <a:noFill/>
          <a:ln/>
        </p:spPr>
        <p:txBody>
          <a:bodyPr wrap="square" lIns="0" tIns="0" rIns="0" bIns="0" rtlCol="0" anchor="t"/>
          <a:lstStyle/>
          <a:p>
            <a:pPr indent="0" marL="0">
              <a:buNone/>
            </a:pPr>
            <a:r>
              <a:rPr lang="en-US" sz="1300" b="1" dirty="0">
                <a:solidFill>
                  <a:schemeClr val="tx1"/>
                </a:solidFill>
              </a:rPr>
              <a:t>Q3 Reach campaigns (≥$500 spend): cost per 1,000 reached, USD</a:t>
            </a:r>
            <a:endParaRPr lang="en-US" sz="1300" dirty="0"/>
          </a:p>
        </p:txBody>
      </p:sp>
      <p:graphicFrame>
        <p:nvGraphicFramePr>
          <p:cNvPr id="6" name="chart-campaigns-200" descr=""/>
          <p:cNvGraphicFramePr/>
          <p:nvPr/>
        </p:nvGraphicFramePr>
        <p:xfrm>
          <a:off x="457200" y="1938528"/>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7" name="card-201"/>
          <p:cNvSpPr/>
          <p:nvPr/>
        </p:nvSpPr>
        <p:spPr>
          <a:xfrm>
            <a:off x="8001000" y="1783080"/>
            <a:ext cx="3639312" cy="2011680"/>
          </a:xfrm>
          <a:prstGeom prst="roundRect">
            <a:avLst>
              <a:gd name="adj" fmla="val 5455"/>
            </a:avLst>
          </a:prstGeom>
          <a:solidFill>
            <a:schemeClr val="bg2"/>
          </a:solidFill>
          <a:ln/>
        </p:spPr>
      </p:sp>
      <p:sp>
        <p:nvSpPr>
          <p:cNvPr id="8" name="text-202"/>
          <p:cNvSpPr txBox="1"/>
          <p:nvPr/>
        </p:nvSpPr>
        <p:spPr>
          <a:xfrm>
            <a:off x="8202168" y="1892808"/>
            <a:ext cx="3200400" cy="228600"/>
          </a:xfrm>
          <a:prstGeom prst="rect">
            <a:avLst/>
          </a:prstGeom>
          <a:noFill/>
          <a:ln/>
        </p:spPr>
        <p:txBody>
          <a:bodyPr wrap="square" lIns="0" tIns="0" rIns="0" bIns="0" rtlCol="0" anchor="t"/>
          <a:lstStyle/>
          <a:p>
            <a:pPr indent="0" marL="0">
              <a:buNone/>
            </a:pPr>
            <a:r>
              <a:rPr lang="en-US" sz="1050" b="1" spc="100" kern="0" dirty="0">
                <a:solidFill>
                  <a:schemeClr val="accent4"/>
                </a:solidFill>
              </a:rPr>
              <a:t>DRIVERS</a:t>
            </a:r>
            <a:endParaRPr lang="en-US" sz="1050" dirty="0"/>
          </a:p>
        </p:txBody>
      </p:sp>
      <p:sp>
        <p:nvSpPr>
          <p:cNvPr id="9" name="text-203"/>
          <p:cNvSpPr txBox="1"/>
          <p:nvPr/>
        </p:nvSpPr>
        <p:spPr>
          <a:xfrm>
            <a:off x="8202168" y="2167128"/>
            <a:ext cx="3291840" cy="1572768"/>
          </a:xfrm>
          <a:prstGeom prst="rect">
            <a:avLst/>
          </a:prstGeom>
          <a:noFill/>
          <a:ln/>
        </p:spPr>
        <p:txBody>
          <a:bodyPr wrap="square" lIns="0" tIns="0" rIns="0" bIns="0" rtlCol="0" anchor="t"/>
          <a:lstStyle/>
          <a:p>
            <a:pPr indent="0" marL="0">
              <a:spcAft>
                <a:spcPts val="600"/>
              </a:spcAft>
              <a:buNone/>
            </a:pPr>
            <a:r>
              <a:rPr lang="en-US" sz="1100" b="1" dirty="0">
                <a:solidFill>
                  <a:schemeClr val="tx2"/>
                </a:solidFill>
              </a:rPr>
              <a:t>FIFA (Jul): </a:t>
            </a:r>
            <a:pPr indent="0" marL="0">
              <a:spcAft>
                <a:spcPts val="600"/>
              </a:spcAft>
              <a:buNone/>
            </a:pPr>
            <a:r>
              <a:rPr lang="en-US" sz="1100" dirty="0">
                <a:solidFill>
                  <a:schemeClr val="tx2"/>
                </a:solidFill>
              </a:rPr>
              <a:t>6.8M reach for $3.6K at $0.52 per 1,000, frequency 1.16, 16% engagement rate.</a:t>
            </a:r>
            <a:endParaRPr lang="en-US" sz="1100" dirty="0"/>
          </a:p>
          <a:p>
            <a:pPr indent="0" marL="0">
              <a:spcAft>
                <a:spcPts val="600"/>
              </a:spcAft>
              <a:buNone/>
            </a:pPr>
            <a:r>
              <a:rPr lang="en-US" sz="1100" b="1" dirty="0">
                <a:solidFill>
                  <a:schemeClr val="tx2"/>
                </a:solidFill>
              </a:rPr>
              <a:t>Mixology (Jul + Aug): </a:t>
            </a:r>
            <a:pPr indent="0" marL="0">
              <a:spcAft>
                <a:spcPts val="600"/>
              </a:spcAft>
              <a:buNone/>
            </a:pPr>
            <a:r>
              <a:rPr lang="en-US" sz="1100" dirty="0">
                <a:solidFill>
                  <a:schemeClr val="tx2"/>
                </a:solidFill>
              </a:rPr>
              <a:t>8.3M reach at $0.41–$0.44 per 1,000 – the cheapest reach in the account.</a:t>
            </a:r>
            <a:endParaRPr lang="en-US" sz="1100" dirty="0"/>
          </a:p>
          <a:p>
            <a:pPr indent="0" marL="0">
              <a:spcAft>
                <a:spcPts val="600"/>
              </a:spcAft>
              <a:buNone/>
            </a:pPr>
            <a:r>
              <a:rPr lang="en-US" sz="1100" b="1" dirty="0">
                <a:solidFill>
                  <a:schemeClr val="tx2"/>
                </a:solidFill>
              </a:rPr>
              <a:t>Spiderman Happy Meal (Aug): </a:t>
            </a:r>
            <a:pPr indent="0" marL="0">
              <a:spcAft>
                <a:spcPts val="600"/>
              </a:spcAft>
              <a:buNone/>
            </a:pPr>
            <a:r>
              <a:rPr lang="en-US" sz="1100" dirty="0">
                <a:solidFill>
                  <a:schemeClr val="tx2"/>
                </a:solidFill>
              </a:rPr>
              <a:t>5.0M reach at $0.61 per 1,000, frequency 1.17.</a:t>
            </a:r>
            <a:endParaRPr lang="en-US" sz="1100" dirty="0"/>
          </a:p>
        </p:txBody>
      </p:sp>
      <p:sp>
        <p:nvSpPr>
          <p:cNvPr id="10" name="card-204"/>
          <p:cNvSpPr/>
          <p:nvPr/>
        </p:nvSpPr>
        <p:spPr>
          <a:xfrm>
            <a:off x="8001000" y="3931920"/>
            <a:ext cx="3639312" cy="2011680"/>
          </a:xfrm>
          <a:prstGeom prst="roundRect">
            <a:avLst>
              <a:gd name="adj" fmla="val 5455"/>
            </a:avLst>
          </a:prstGeom>
          <a:solidFill>
            <a:schemeClr val="accent6"/>
          </a:solidFill>
          <a:ln/>
        </p:spPr>
      </p:sp>
      <p:sp>
        <p:nvSpPr>
          <p:cNvPr id="11" name="text-205"/>
          <p:cNvSpPr txBox="1"/>
          <p:nvPr/>
        </p:nvSpPr>
        <p:spPr>
          <a:xfrm>
            <a:off x="8202168" y="4041648"/>
            <a:ext cx="3200400" cy="228600"/>
          </a:xfrm>
          <a:prstGeom prst="rect">
            <a:avLst/>
          </a:prstGeom>
          <a:noFill/>
          <a:ln/>
        </p:spPr>
        <p:txBody>
          <a:bodyPr wrap="square" lIns="0" tIns="0" rIns="0" bIns="0" rtlCol="0" anchor="t"/>
          <a:lstStyle/>
          <a:p>
            <a:pPr indent="0" marL="0">
              <a:buNone/>
            </a:pPr>
            <a:r>
              <a:rPr lang="en-US" sz="1050" b="1" spc="100" kern="0" dirty="0">
                <a:solidFill>
                  <a:schemeClr val="accent1"/>
                </a:solidFill>
              </a:rPr>
              <a:t>DRAGS</a:t>
            </a:r>
            <a:endParaRPr lang="en-US" sz="1050" dirty="0"/>
          </a:p>
        </p:txBody>
      </p:sp>
      <p:sp>
        <p:nvSpPr>
          <p:cNvPr id="12" name="text-206"/>
          <p:cNvSpPr txBox="1"/>
          <p:nvPr/>
        </p:nvSpPr>
        <p:spPr>
          <a:xfrm>
            <a:off x="8202168" y="4315968"/>
            <a:ext cx="3291840" cy="1572768"/>
          </a:xfrm>
          <a:prstGeom prst="rect">
            <a:avLst/>
          </a:prstGeom>
          <a:noFill/>
          <a:ln/>
        </p:spPr>
        <p:txBody>
          <a:bodyPr wrap="square" lIns="0" tIns="0" rIns="0" bIns="0" rtlCol="0" anchor="t"/>
          <a:lstStyle/>
          <a:p>
            <a:pPr indent="0" marL="0">
              <a:spcAft>
                <a:spcPts val="600"/>
              </a:spcAft>
              <a:buNone/>
            </a:pPr>
            <a:r>
              <a:rPr lang="en-US" sz="1100" b="1" dirty="0">
                <a:solidFill>
                  <a:schemeClr val="tx2"/>
                </a:solidFill>
              </a:rPr>
              <a:t>Happy Meal (Sep): </a:t>
            </a:r>
            <a:pPr indent="0" marL="0">
              <a:spcAft>
                <a:spcPts val="600"/>
              </a:spcAft>
              <a:buNone/>
            </a:pPr>
            <a:r>
              <a:rPr lang="en-US" sz="1100" dirty="0">
                <a:solidFill>
                  <a:schemeClr val="tx2"/>
                </a:solidFill>
              </a:rPr>
              <a:t>$4.2K at $1.88 per 1,000, frequency 2.6.</a:t>
            </a:r>
            <a:endParaRPr lang="en-US" sz="1100" dirty="0"/>
          </a:p>
          <a:p>
            <a:pPr indent="0" marL="0">
              <a:spcAft>
                <a:spcPts val="600"/>
              </a:spcAft>
              <a:buNone/>
            </a:pPr>
            <a:r>
              <a:rPr lang="en-US" sz="1100" b="1" dirty="0">
                <a:solidFill>
                  <a:schemeClr val="tx2"/>
                </a:solidFill>
              </a:rPr>
              <a:t>Entry Level (Sep): </a:t>
            </a:r>
            <a:pPr indent="0" marL="0">
              <a:spcAft>
                <a:spcPts val="600"/>
              </a:spcAft>
              <a:buNone/>
            </a:pPr>
            <a:r>
              <a:rPr lang="en-US" sz="1100" dirty="0">
                <a:solidFill>
                  <a:schemeClr val="tx2"/>
                </a:solidFill>
              </a:rPr>
              <a:t>$4.3K at $1.21 per 1,000, frequency 2.3, 0.12% engagement rate.</a:t>
            </a:r>
            <a:endParaRPr lang="en-US" sz="1100" dirty="0"/>
          </a:p>
          <a:p>
            <a:pPr indent="0" marL="0">
              <a:spcAft>
                <a:spcPts val="600"/>
              </a:spcAft>
              <a:buNone/>
            </a:pPr>
            <a:r>
              <a:rPr lang="en-US" sz="1100" b="1" dirty="0">
                <a:solidFill>
                  <a:schemeClr val="tx2"/>
                </a:solidFill>
              </a:rPr>
              <a:t>McChicken iOS (Aug): </a:t>
            </a:r>
            <a:pPr indent="0" marL="0">
              <a:spcAft>
                <a:spcPts val="600"/>
              </a:spcAft>
              <a:buNone/>
            </a:pPr>
            <a:r>
              <a:rPr lang="en-US" sz="1100" dirty="0">
                <a:solidFill>
                  <a:schemeClr val="tx2"/>
                </a:solidFill>
              </a:rPr>
              <a:t>$0.9K at $1.34 per 1,000, frequency 2.8.</a:t>
            </a:r>
            <a:endParaRPr lang="en-US" sz="1100" dirty="0"/>
          </a:p>
        </p:txBody>
      </p:sp>
      <p:sp>
        <p:nvSpPr>
          <p:cNvPr id="13" name="text-207"/>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Q2's three monthly Reach campaigns ran at $0.68–0.72 per 1,000 reached. Campaign names shortened; Reach_June'26 carry-over excluded. Full names and all campaigns: analysis workbook.</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LIKE-FOR-LIKE INITIATIVES</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Like-for-like: FIFA, Grimace, Mixology and openings got cheaper to reach; Chicken and McCafé got costlier</a:t>
            </a:r>
            <a:endParaRPr lang="en-US" sz="2600" dirty="0"/>
          </a:p>
        </p:txBody>
      </p:sp>
      <p:sp>
        <p:nvSpPr>
          <p:cNvPr id="4" name="arch-motif-208"/>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text-209"/>
          <p:cNvSpPr txBox="1"/>
          <p:nvPr/>
        </p:nvSpPr>
        <p:spPr>
          <a:xfrm>
            <a:off x="548640" y="1737360"/>
            <a:ext cx="6766560" cy="274320"/>
          </a:xfrm>
          <a:prstGeom prst="rect">
            <a:avLst/>
          </a:prstGeom>
          <a:noFill/>
          <a:ln/>
        </p:spPr>
        <p:txBody>
          <a:bodyPr wrap="square" lIns="0" tIns="0" rIns="0" bIns="0" rtlCol="0" anchor="t"/>
          <a:lstStyle/>
          <a:p>
            <a:pPr indent="0" marL="0">
              <a:buNone/>
            </a:pPr>
            <a:r>
              <a:rPr lang="en-US" sz="1300" b="1" dirty="0">
                <a:solidFill>
                  <a:schemeClr val="tx1"/>
                </a:solidFill>
              </a:rPr>
              <a:t>Cost per 1,000 reached, USD – Reach-objective ads, matched initiatives</a:t>
            </a:r>
            <a:endParaRPr lang="en-US" sz="1300" dirty="0"/>
          </a:p>
        </p:txBody>
      </p:sp>
      <p:graphicFrame>
        <p:nvGraphicFramePr>
          <p:cNvPr id="6" name="chart-themes-210" descr=""/>
          <p:cNvGraphicFramePr/>
          <p:nvPr/>
        </p:nvGraphicFramePr>
        <p:xfrm>
          <a:off x="457200" y="2011680"/>
          <a:ext cx="6858000" cy="4023360"/>
        </p:xfrm>
        <a:graphic xmlns:a="http://schemas.openxmlformats.org/drawingml/2006/main">
          <a:graphicData uri="http://schemas.openxmlformats.org/drawingml/2006/chart">
            <c:chart xmlns:c="http://schemas.openxmlformats.org/drawingml/2006/chart" r:id="rId1"/>
          </a:graphicData>
        </a:graphic>
      </p:graphicFrame>
      <p:sp>
        <p:nvSpPr>
          <p:cNvPr id="7" name="text-211"/>
          <p:cNvSpPr txBox="1"/>
          <p:nvPr/>
        </p:nvSpPr>
        <p:spPr>
          <a:xfrm>
            <a:off x="7726680" y="1783080"/>
            <a:ext cx="1463040" cy="228600"/>
          </a:xfrm>
          <a:prstGeom prst="rect">
            <a:avLst/>
          </a:prstGeom>
          <a:noFill/>
          <a:ln/>
        </p:spPr>
        <p:txBody>
          <a:bodyPr wrap="square" lIns="0" tIns="0" rIns="0" bIns="0" rtlCol="0" anchor="t"/>
          <a:lstStyle/>
          <a:p>
            <a:pPr algn="l" indent="0" marL="0">
              <a:buNone/>
            </a:pPr>
            <a:r>
              <a:rPr lang="en-US" sz="950" b="1" dirty="0">
                <a:solidFill>
                  <a:schemeClr val="accent5"/>
                </a:solidFill>
              </a:rPr>
              <a:t>INITIATIVE</a:t>
            </a:r>
            <a:endParaRPr lang="en-US" sz="950" dirty="0"/>
          </a:p>
        </p:txBody>
      </p:sp>
      <p:sp>
        <p:nvSpPr>
          <p:cNvPr id="8" name="text-212"/>
          <p:cNvSpPr txBox="1"/>
          <p:nvPr/>
        </p:nvSpPr>
        <p:spPr>
          <a:xfrm>
            <a:off x="9144000" y="1783080"/>
            <a:ext cx="1188720" cy="228600"/>
          </a:xfrm>
          <a:prstGeom prst="rect">
            <a:avLst/>
          </a:prstGeom>
          <a:noFill/>
          <a:ln/>
        </p:spPr>
        <p:txBody>
          <a:bodyPr wrap="square" lIns="0" tIns="0" rIns="0" bIns="0" rtlCol="0" anchor="t"/>
          <a:lstStyle/>
          <a:p>
            <a:pPr algn="l" indent="0" marL="0">
              <a:buNone/>
            </a:pPr>
            <a:r>
              <a:rPr lang="en-US" sz="950" b="1" dirty="0">
                <a:solidFill>
                  <a:schemeClr val="accent5"/>
                </a:solidFill>
              </a:rPr>
              <a:t>SPEND B → A</a:t>
            </a:r>
            <a:endParaRPr lang="en-US" sz="950" dirty="0"/>
          </a:p>
        </p:txBody>
      </p:sp>
      <p:sp>
        <p:nvSpPr>
          <p:cNvPr id="9" name="text-213"/>
          <p:cNvSpPr txBox="1"/>
          <p:nvPr/>
        </p:nvSpPr>
        <p:spPr>
          <a:xfrm>
            <a:off x="10561320" y="1783080"/>
            <a:ext cx="1005840" cy="228600"/>
          </a:xfrm>
          <a:prstGeom prst="rect">
            <a:avLst/>
          </a:prstGeom>
          <a:noFill/>
          <a:ln/>
        </p:spPr>
        <p:txBody>
          <a:bodyPr wrap="square" lIns="0" tIns="0" rIns="0" bIns="0" rtlCol="0" anchor="t"/>
          <a:lstStyle/>
          <a:p>
            <a:pPr algn="ctr" indent="0" marL="0">
              <a:buNone/>
            </a:pPr>
            <a:r>
              <a:rPr lang="en-US" sz="950" b="1" dirty="0">
                <a:solidFill>
                  <a:schemeClr val="accent5"/>
                </a:solidFill>
              </a:rPr>
              <a:t>CHANGE</a:t>
            </a:r>
            <a:endParaRPr lang="en-US" sz="950" dirty="0"/>
          </a:p>
        </p:txBody>
      </p:sp>
      <p:sp>
        <p:nvSpPr>
          <p:cNvPr id="10" name="card-214"/>
          <p:cNvSpPr/>
          <p:nvPr/>
        </p:nvSpPr>
        <p:spPr>
          <a:xfrm>
            <a:off x="7635240" y="2103120"/>
            <a:ext cx="4005072" cy="457200"/>
          </a:xfrm>
          <a:prstGeom prst="roundRect">
            <a:avLst>
              <a:gd name="adj" fmla="val 24000"/>
            </a:avLst>
          </a:prstGeom>
          <a:solidFill>
            <a:schemeClr val="bg2"/>
          </a:solidFill>
          <a:ln/>
        </p:spPr>
      </p:sp>
      <p:sp>
        <p:nvSpPr>
          <p:cNvPr id="11" name="text-215"/>
          <p:cNvSpPr txBox="1"/>
          <p:nvPr/>
        </p:nvSpPr>
        <p:spPr>
          <a:xfrm>
            <a:off x="7726680" y="2212848"/>
            <a:ext cx="1463040" cy="256032"/>
          </a:xfrm>
          <a:prstGeom prst="rect">
            <a:avLst/>
          </a:prstGeom>
          <a:noFill/>
          <a:ln/>
        </p:spPr>
        <p:txBody>
          <a:bodyPr wrap="square" lIns="0" tIns="0" rIns="0" bIns="0" rtlCol="0" anchor="t"/>
          <a:lstStyle/>
          <a:p>
            <a:pPr indent="0" marL="0">
              <a:buNone/>
            </a:pPr>
            <a:r>
              <a:rPr lang="en-US" sz="1100" b="1" dirty="0">
                <a:solidFill>
                  <a:schemeClr val="tx1"/>
                </a:solidFill>
              </a:rPr>
              <a:t>Grimace</a:t>
            </a:r>
            <a:endParaRPr lang="en-US" sz="1100" dirty="0"/>
          </a:p>
        </p:txBody>
      </p:sp>
      <p:sp>
        <p:nvSpPr>
          <p:cNvPr id="12" name="text-216"/>
          <p:cNvSpPr txBox="1"/>
          <p:nvPr/>
        </p:nvSpPr>
        <p:spPr>
          <a:xfrm>
            <a:off x="9144000" y="2212848"/>
            <a:ext cx="1371600" cy="256032"/>
          </a:xfrm>
          <a:prstGeom prst="rect">
            <a:avLst/>
          </a:prstGeom>
          <a:noFill/>
          <a:ln/>
        </p:spPr>
        <p:txBody>
          <a:bodyPr wrap="square" lIns="0" tIns="0" rIns="0" bIns="0" rtlCol="0" anchor="t"/>
          <a:lstStyle/>
          <a:p>
            <a:pPr indent="0" marL="0">
              <a:buNone/>
            </a:pPr>
            <a:r>
              <a:rPr lang="en-US" sz="1050" dirty="0">
                <a:solidFill>
                  <a:schemeClr val="tx2"/>
                </a:solidFill>
              </a:rPr>
              <a:t>$3.2K → $1.8K</a:t>
            </a:r>
            <a:endParaRPr lang="en-US" sz="1050" dirty="0"/>
          </a:p>
        </p:txBody>
      </p:sp>
      <p:sp>
        <p:nvSpPr>
          <p:cNvPr id="13" name="badge-217"/>
          <p:cNvSpPr txBox="1"/>
          <p:nvPr/>
        </p:nvSpPr>
        <p:spPr>
          <a:xfrm>
            <a:off x="10607040" y="2185416"/>
            <a:ext cx="91440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38%</a:t>
            </a:r>
            <a:endParaRPr lang="en-US" sz="1200" dirty="0"/>
          </a:p>
        </p:txBody>
      </p:sp>
      <p:sp>
        <p:nvSpPr>
          <p:cNvPr id="14" name="card-218"/>
          <p:cNvSpPr/>
          <p:nvPr/>
        </p:nvSpPr>
        <p:spPr>
          <a:xfrm>
            <a:off x="7635240" y="2651760"/>
            <a:ext cx="4005072" cy="457200"/>
          </a:xfrm>
          <a:prstGeom prst="roundRect">
            <a:avLst>
              <a:gd name="adj" fmla="val 24000"/>
            </a:avLst>
          </a:prstGeom>
          <a:solidFill>
            <a:srgbClr val="FFFFFF"/>
          </a:solidFill>
          <a:ln/>
        </p:spPr>
      </p:sp>
      <p:sp>
        <p:nvSpPr>
          <p:cNvPr id="15" name="text-219"/>
          <p:cNvSpPr txBox="1"/>
          <p:nvPr/>
        </p:nvSpPr>
        <p:spPr>
          <a:xfrm>
            <a:off x="7726680" y="2761488"/>
            <a:ext cx="1463040" cy="256032"/>
          </a:xfrm>
          <a:prstGeom prst="rect">
            <a:avLst/>
          </a:prstGeom>
          <a:noFill/>
          <a:ln/>
        </p:spPr>
        <p:txBody>
          <a:bodyPr wrap="square" lIns="0" tIns="0" rIns="0" bIns="0" rtlCol="0" anchor="t"/>
          <a:lstStyle/>
          <a:p>
            <a:pPr indent="0" marL="0">
              <a:buNone/>
            </a:pPr>
            <a:r>
              <a:rPr lang="en-US" sz="1100" b="1" dirty="0">
                <a:solidFill>
                  <a:schemeClr val="tx1"/>
                </a:solidFill>
              </a:rPr>
              <a:t>Restaurant openings</a:t>
            </a:r>
            <a:endParaRPr lang="en-US" sz="1100" dirty="0"/>
          </a:p>
        </p:txBody>
      </p:sp>
      <p:sp>
        <p:nvSpPr>
          <p:cNvPr id="16" name="text-220"/>
          <p:cNvSpPr txBox="1"/>
          <p:nvPr/>
        </p:nvSpPr>
        <p:spPr>
          <a:xfrm>
            <a:off x="9144000" y="2761488"/>
            <a:ext cx="1371600" cy="256032"/>
          </a:xfrm>
          <a:prstGeom prst="rect">
            <a:avLst/>
          </a:prstGeom>
          <a:noFill/>
          <a:ln/>
        </p:spPr>
        <p:txBody>
          <a:bodyPr wrap="square" lIns="0" tIns="0" rIns="0" bIns="0" rtlCol="0" anchor="t"/>
          <a:lstStyle/>
          <a:p>
            <a:pPr indent="0" marL="0">
              <a:buNone/>
            </a:pPr>
            <a:r>
              <a:rPr lang="en-US" sz="1050" dirty="0">
                <a:solidFill>
                  <a:schemeClr val="tx2"/>
                </a:solidFill>
              </a:rPr>
              <a:t>$0.8K → $0.7K</a:t>
            </a:r>
            <a:endParaRPr lang="en-US" sz="1050" dirty="0"/>
          </a:p>
        </p:txBody>
      </p:sp>
      <p:sp>
        <p:nvSpPr>
          <p:cNvPr id="17" name="badge-221"/>
          <p:cNvSpPr txBox="1"/>
          <p:nvPr/>
        </p:nvSpPr>
        <p:spPr>
          <a:xfrm>
            <a:off x="10607040" y="2734056"/>
            <a:ext cx="91440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18%</a:t>
            </a:r>
            <a:endParaRPr lang="en-US" sz="1200" dirty="0"/>
          </a:p>
        </p:txBody>
      </p:sp>
      <p:sp>
        <p:nvSpPr>
          <p:cNvPr id="18" name="card-222"/>
          <p:cNvSpPr/>
          <p:nvPr/>
        </p:nvSpPr>
        <p:spPr>
          <a:xfrm>
            <a:off x="7635240" y="3200400"/>
            <a:ext cx="4005072" cy="457200"/>
          </a:xfrm>
          <a:prstGeom prst="roundRect">
            <a:avLst>
              <a:gd name="adj" fmla="val 24000"/>
            </a:avLst>
          </a:prstGeom>
          <a:solidFill>
            <a:schemeClr val="bg2"/>
          </a:solidFill>
          <a:ln/>
        </p:spPr>
      </p:sp>
      <p:sp>
        <p:nvSpPr>
          <p:cNvPr id="19" name="text-223"/>
          <p:cNvSpPr txBox="1"/>
          <p:nvPr/>
        </p:nvSpPr>
        <p:spPr>
          <a:xfrm>
            <a:off x="7726680" y="3310128"/>
            <a:ext cx="1463040" cy="256032"/>
          </a:xfrm>
          <a:prstGeom prst="rect">
            <a:avLst/>
          </a:prstGeom>
          <a:noFill/>
          <a:ln/>
        </p:spPr>
        <p:txBody>
          <a:bodyPr wrap="square" lIns="0" tIns="0" rIns="0" bIns="0" rtlCol="0" anchor="t"/>
          <a:lstStyle/>
          <a:p>
            <a:pPr indent="0" marL="0">
              <a:buNone/>
            </a:pPr>
            <a:r>
              <a:rPr lang="en-US" sz="1100" b="1" dirty="0">
                <a:solidFill>
                  <a:schemeClr val="tx1"/>
                </a:solidFill>
              </a:rPr>
              <a:t>Mixology</a:t>
            </a:r>
            <a:endParaRPr lang="en-US" sz="1100" dirty="0"/>
          </a:p>
        </p:txBody>
      </p:sp>
      <p:sp>
        <p:nvSpPr>
          <p:cNvPr id="20" name="text-224"/>
          <p:cNvSpPr txBox="1"/>
          <p:nvPr/>
        </p:nvSpPr>
        <p:spPr>
          <a:xfrm>
            <a:off x="9144000" y="3310128"/>
            <a:ext cx="1371600" cy="256032"/>
          </a:xfrm>
          <a:prstGeom prst="rect">
            <a:avLst/>
          </a:prstGeom>
          <a:noFill/>
          <a:ln/>
        </p:spPr>
        <p:txBody>
          <a:bodyPr wrap="square" lIns="0" tIns="0" rIns="0" bIns="0" rtlCol="0" anchor="t"/>
          <a:lstStyle/>
          <a:p>
            <a:pPr indent="0" marL="0">
              <a:buNone/>
            </a:pPr>
            <a:r>
              <a:rPr lang="en-US" sz="1050" dirty="0">
                <a:solidFill>
                  <a:schemeClr val="tx2"/>
                </a:solidFill>
              </a:rPr>
              <a:t>$0.4K → $3.6K</a:t>
            </a:r>
            <a:endParaRPr lang="en-US" sz="1050" dirty="0"/>
          </a:p>
        </p:txBody>
      </p:sp>
      <p:sp>
        <p:nvSpPr>
          <p:cNvPr id="21" name="badge-225"/>
          <p:cNvSpPr txBox="1"/>
          <p:nvPr/>
        </p:nvSpPr>
        <p:spPr>
          <a:xfrm>
            <a:off x="10607040" y="3282696"/>
            <a:ext cx="91440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17%</a:t>
            </a:r>
            <a:endParaRPr lang="en-US" sz="1200" dirty="0"/>
          </a:p>
        </p:txBody>
      </p:sp>
      <p:sp>
        <p:nvSpPr>
          <p:cNvPr id="22" name="card-226"/>
          <p:cNvSpPr/>
          <p:nvPr/>
        </p:nvSpPr>
        <p:spPr>
          <a:xfrm>
            <a:off x="7635240" y="3749040"/>
            <a:ext cx="4005072" cy="457200"/>
          </a:xfrm>
          <a:prstGeom prst="roundRect">
            <a:avLst>
              <a:gd name="adj" fmla="val 24000"/>
            </a:avLst>
          </a:prstGeom>
          <a:solidFill>
            <a:srgbClr val="FFFFFF"/>
          </a:solidFill>
          <a:ln/>
        </p:spPr>
      </p:sp>
      <p:sp>
        <p:nvSpPr>
          <p:cNvPr id="23" name="text-227"/>
          <p:cNvSpPr txBox="1"/>
          <p:nvPr/>
        </p:nvSpPr>
        <p:spPr>
          <a:xfrm>
            <a:off x="7726680" y="3858768"/>
            <a:ext cx="1463040" cy="256032"/>
          </a:xfrm>
          <a:prstGeom prst="rect">
            <a:avLst/>
          </a:prstGeom>
          <a:noFill/>
          <a:ln/>
        </p:spPr>
        <p:txBody>
          <a:bodyPr wrap="square" lIns="0" tIns="0" rIns="0" bIns="0" rtlCol="0" anchor="t"/>
          <a:lstStyle/>
          <a:p>
            <a:pPr indent="0" marL="0">
              <a:buNone/>
            </a:pPr>
            <a:r>
              <a:rPr lang="en-US" sz="1100" b="1" dirty="0">
                <a:solidFill>
                  <a:schemeClr val="tx1"/>
                </a:solidFill>
              </a:rPr>
              <a:t>FIFA / World Cup</a:t>
            </a:r>
            <a:endParaRPr lang="en-US" sz="1100" dirty="0"/>
          </a:p>
        </p:txBody>
      </p:sp>
      <p:sp>
        <p:nvSpPr>
          <p:cNvPr id="24" name="text-228"/>
          <p:cNvSpPr txBox="1"/>
          <p:nvPr/>
        </p:nvSpPr>
        <p:spPr>
          <a:xfrm>
            <a:off x="9144000" y="3858768"/>
            <a:ext cx="1371600" cy="256032"/>
          </a:xfrm>
          <a:prstGeom prst="rect">
            <a:avLst/>
          </a:prstGeom>
          <a:noFill/>
          <a:ln/>
        </p:spPr>
        <p:txBody>
          <a:bodyPr wrap="square" lIns="0" tIns="0" rIns="0" bIns="0" rtlCol="0" anchor="t"/>
          <a:lstStyle/>
          <a:p>
            <a:pPr indent="0" marL="0">
              <a:buNone/>
            </a:pPr>
            <a:r>
              <a:rPr lang="en-US" sz="1050" dirty="0">
                <a:solidFill>
                  <a:schemeClr val="tx2"/>
                </a:solidFill>
              </a:rPr>
              <a:t>$6.6K → $4.4K</a:t>
            </a:r>
            <a:endParaRPr lang="en-US" sz="1050" dirty="0"/>
          </a:p>
        </p:txBody>
      </p:sp>
      <p:sp>
        <p:nvSpPr>
          <p:cNvPr id="25" name="badge-229"/>
          <p:cNvSpPr txBox="1"/>
          <p:nvPr/>
        </p:nvSpPr>
        <p:spPr>
          <a:xfrm>
            <a:off x="10607040" y="3831336"/>
            <a:ext cx="914400" cy="292608"/>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 13%</a:t>
            </a:r>
            <a:endParaRPr lang="en-US" sz="1200" dirty="0"/>
          </a:p>
        </p:txBody>
      </p:sp>
      <p:sp>
        <p:nvSpPr>
          <p:cNvPr id="26" name="card-230"/>
          <p:cNvSpPr/>
          <p:nvPr/>
        </p:nvSpPr>
        <p:spPr>
          <a:xfrm>
            <a:off x="7635240" y="4297680"/>
            <a:ext cx="4005072" cy="457200"/>
          </a:xfrm>
          <a:prstGeom prst="roundRect">
            <a:avLst>
              <a:gd name="adj" fmla="val 24000"/>
            </a:avLst>
          </a:prstGeom>
          <a:solidFill>
            <a:schemeClr val="bg2"/>
          </a:solidFill>
          <a:ln/>
        </p:spPr>
      </p:sp>
      <p:sp>
        <p:nvSpPr>
          <p:cNvPr id="27" name="text-231"/>
          <p:cNvSpPr txBox="1"/>
          <p:nvPr/>
        </p:nvSpPr>
        <p:spPr>
          <a:xfrm>
            <a:off x="7726680" y="4407408"/>
            <a:ext cx="1463040" cy="256032"/>
          </a:xfrm>
          <a:prstGeom prst="rect">
            <a:avLst/>
          </a:prstGeom>
          <a:noFill/>
          <a:ln/>
        </p:spPr>
        <p:txBody>
          <a:bodyPr wrap="square" lIns="0" tIns="0" rIns="0" bIns="0" rtlCol="0" anchor="t"/>
          <a:lstStyle/>
          <a:p>
            <a:pPr indent="0" marL="0">
              <a:buNone/>
            </a:pPr>
            <a:r>
              <a:rPr lang="en-US" sz="1100" b="1" dirty="0">
                <a:solidFill>
                  <a:schemeClr val="tx1"/>
                </a:solidFill>
              </a:rPr>
              <a:t>Chicken</a:t>
            </a:r>
            <a:endParaRPr lang="en-US" sz="1100" dirty="0"/>
          </a:p>
        </p:txBody>
      </p:sp>
      <p:sp>
        <p:nvSpPr>
          <p:cNvPr id="28" name="text-232"/>
          <p:cNvSpPr txBox="1"/>
          <p:nvPr/>
        </p:nvSpPr>
        <p:spPr>
          <a:xfrm>
            <a:off x="9144000" y="4407408"/>
            <a:ext cx="1371600" cy="256032"/>
          </a:xfrm>
          <a:prstGeom prst="rect">
            <a:avLst/>
          </a:prstGeom>
          <a:noFill/>
          <a:ln/>
        </p:spPr>
        <p:txBody>
          <a:bodyPr wrap="square" lIns="0" tIns="0" rIns="0" bIns="0" rtlCol="0" anchor="t"/>
          <a:lstStyle/>
          <a:p>
            <a:pPr indent="0" marL="0">
              <a:buNone/>
            </a:pPr>
            <a:r>
              <a:rPr lang="en-US" sz="1050" dirty="0">
                <a:solidFill>
                  <a:schemeClr val="tx2"/>
                </a:solidFill>
              </a:rPr>
              <a:t>$2.1K → $5.7K</a:t>
            </a:r>
            <a:endParaRPr lang="en-US" sz="1050" dirty="0"/>
          </a:p>
        </p:txBody>
      </p:sp>
      <p:sp>
        <p:nvSpPr>
          <p:cNvPr id="29" name="badge-233"/>
          <p:cNvSpPr txBox="1"/>
          <p:nvPr/>
        </p:nvSpPr>
        <p:spPr>
          <a:xfrm>
            <a:off x="10607040" y="4379976"/>
            <a:ext cx="91440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 32%</a:t>
            </a:r>
            <a:endParaRPr lang="en-US" sz="1200" dirty="0"/>
          </a:p>
        </p:txBody>
      </p:sp>
      <p:sp>
        <p:nvSpPr>
          <p:cNvPr id="30" name="card-234"/>
          <p:cNvSpPr/>
          <p:nvPr/>
        </p:nvSpPr>
        <p:spPr>
          <a:xfrm>
            <a:off x="7635240" y="4846320"/>
            <a:ext cx="4005072" cy="457200"/>
          </a:xfrm>
          <a:prstGeom prst="roundRect">
            <a:avLst>
              <a:gd name="adj" fmla="val 24000"/>
            </a:avLst>
          </a:prstGeom>
          <a:solidFill>
            <a:srgbClr val="FFFFFF"/>
          </a:solidFill>
          <a:ln/>
        </p:spPr>
      </p:sp>
      <p:sp>
        <p:nvSpPr>
          <p:cNvPr id="31" name="text-235"/>
          <p:cNvSpPr txBox="1"/>
          <p:nvPr/>
        </p:nvSpPr>
        <p:spPr>
          <a:xfrm>
            <a:off x="7726680" y="4956048"/>
            <a:ext cx="1463040" cy="256032"/>
          </a:xfrm>
          <a:prstGeom prst="rect">
            <a:avLst/>
          </a:prstGeom>
          <a:noFill/>
          <a:ln/>
        </p:spPr>
        <p:txBody>
          <a:bodyPr wrap="square" lIns="0" tIns="0" rIns="0" bIns="0" rtlCol="0" anchor="t"/>
          <a:lstStyle/>
          <a:p>
            <a:pPr indent="0" marL="0">
              <a:buNone/>
            </a:pPr>
            <a:r>
              <a:rPr lang="en-US" sz="1100" b="1" dirty="0">
                <a:solidFill>
                  <a:schemeClr val="tx1"/>
                </a:solidFill>
              </a:rPr>
              <a:t>McCafé</a:t>
            </a:r>
            <a:endParaRPr lang="en-US" sz="1100" dirty="0"/>
          </a:p>
        </p:txBody>
      </p:sp>
      <p:sp>
        <p:nvSpPr>
          <p:cNvPr id="32" name="text-236"/>
          <p:cNvSpPr txBox="1"/>
          <p:nvPr/>
        </p:nvSpPr>
        <p:spPr>
          <a:xfrm>
            <a:off x="9144000" y="4956048"/>
            <a:ext cx="1371600" cy="256032"/>
          </a:xfrm>
          <a:prstGeom prst="rect">
            <a:avLst/>
          </a:prstGeom>
          <a:noFill/>
          <a:ln/>
        </p:spPr>
        <p:txBody>
          <a:bodyPr wrap="square" lIns="0" tIns="0" rIns="0" bIns="0" rtlCol="0" anchor="t"/>
          <a:lstStyle/>
          <a:p>
            <a:pPr indent="0" marL="0">
              <a:buNone/>
            </a:pPr>
            <a:r>
              <a:rPr lang="en-US" sz="1050" dirty="0">
                <a:solidFill>
                  <a:schemeClr val="tx2"/>
                </a:solidFill>
              </a:rPr>
              <a:t>$1.0K → $2.8K</a:t>
            </a:r>
            <a:endParaRPr lang="en-US" sz="1050" dirty="0"/>
          </a:p>
        </p:txBody>
      </p:sp>
      <p:sp>
        <p:nvSpPr>
          <p:cNvPr id="33" name="badge-237"/>
          <p:cNvSpPr txBox="1"/>
          <p:nvPr/>
        </p:nvSpPr>
        <p:spPr>
          <a:xfrm>
            <a:off x="10607040" y="4928616"/>
            <a:ext cx="914400" cy="292608"/>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 43%</a:t>
            </a:r>
            <a:endParaRPr lang="en-US" sz="1200" dirty="0"/>
          </a:p>
        </p:txBody>
      </p:sp>
      <p:sp>
        <p:nvSpPr>
          <p:cNvPr id="34" name="card-238"/>
          <p:cNvSpPr/>
          <p:nvPr/>
        </p:nvSpPr>
        <p:spPr>
          <a:xfrm>
            <a:off x="7635240" y="5440680"/>
            <a:ext cx="4005072" cy="621792"/>
          </a:xfrm>
          <a:prstGeom prst="roundRect">
            <a:avLst>
              <a:gd name="adj" fmla="val 17647"/>
            </a:avLst>
          </a:prstGeom>
          <a:solidFill>
            <a:schemeClr val="accent6"/>
          </a:solidFill>
          <a:ln/>
        </p:spPr>
      </p:sp>
      <p:sp>
        <p:nvSpPr>
          <p:cNvPr id="35" name="text-239"/>
          <p:cNvSpPr txBox="1"/>
          <p:nvPr/>
        </p:nvSpPr>
        <p:spPr>
          <a:xfrm>
            <a:off x="7772400" y="5486400"/>
            <a:ext cx="3749040" cy="530352"/>
          </a:xfrm>
          <a:prstGeom prst="rect">
            <a:avLst/>
          </a:prstGeom>
          <a:noFill/>
          <a:ln/>
        </p:spPr>
        <p:txBody>
          <a:bodyPr wrap="square" lIns="0" tIns="0" rIns="0" bIns="0" rtlCol="0" anchor="ctr"/>
          <a:lstStyle/>
          <a:p>
            <a:pPr indent="0" marL="0">
              <a:buNone/>
            </a:pPr>
            <a:r>
              <a:rPr lang="en-US" sz="1000" dirty="0">
                <a:solidFill>
                  <a:schemeClr val="tx1"/>
                </a:solidFill>
              </a:rPr>
              <a:t>Q3 Chicken and McCafé ran at higher CPM but also earned link clicks (CTR ~0.09%) that Q2's versions did not.</a:t>
            </a:r>
            <a:endParaRPr lang="en-US" sz="1000" dirty="0"/>
          </a:p>
        </p:txBody>
      </p:sp>
      <p:sp>
        <p:nvSpPr>
          <p:cNvPr id="36" name="text-240"/>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Matched only where the product keyword appears in campaign / ad set / ad names in both periods (fifa|world_cup, mixology, toyuq|chicken, cafe, grimace, opening); Reach-objective ads only. Mixology and openings rest on 1 Q2 ad each.</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AD SET PERFORMANCE</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The same Happy Meal audiences cost 2.3–3.8× more to reach in September as frequency climbed</a:t>
            </a:r>
            <a:endParaRPr lang="en-US" sz="2600" dirty="0"/>
          </a:p>
        </p:txBody>
      </p:sp>
      <p:sp>
        <p:nvSpPr>
          <p:cNvPr id="4" name="arch-motif-241"/>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text-242"/>
          <p:cNvSpPr txBox="1"/>
          <p:nvPr/>
        </p:nvSpPr>
        <p:spPr>
          <a:xfrm>
            <a:off x="548640" y="1737360"/>
            <a:ext cx="5303520" cy="274320"/>
          </a:xfrm>
          <a:prstGeom prst="rect">
            <a:avLst/>
          </a:prstGeom>
          <a:noFill/>
          <a:ln/>
        </p:spPr>
        <p:txBody>
          <a:bodyPr wrap="square" lIns="0" tIns="0" rIns="0" bIns="0" rtlCol="0" anchor="t"/>
          <a:lstStyle/>
          <a:p>
            <a:pPr indent="0" marL="0">
              <a:buNone/>
            </a:pPr>
            <a:r>
              <a:rPr lang="en-US" sz="1300" b="1" dirty="0">
                <a:solidFill>
                  <a:schemeClr val="tx1"/>
                </a:solidFill>
              </a:rPr>
              <a:t>Happy Meal ad sets: cost per 1,000 reached, USD</a:t>
            </a:r>
            <a:endParaRPr lang="en-US" sz="1300" dirty="0"/>
          </a:p>
        </p:txBody>
      </p:sp>
      <p:graphicFrame>
        <p:nvGraphicFramePr>
          <p:cNvPr id="6" name="chart-hm-243" descr=""/>
          <p:cNvGraphicFramePr/>
          <p:nvPr/>
        </p:nvGraphicFramePr>
        <p:xfrm>
          <a:off x="457200" y="2011680"/>
          <a:ext cx="5394960" cy="2834640"/>
        </p:xfrm>
        <a:graphic xmlns:a="http://schemas.openxmlformats.org/drawingml/2006/main">
          <a:graphicData uri="http://schemas.openxmlformats.org/drawingml/2006/chart">
            <c:chart xmlns:c="http://schemas.openxmlformats.org/drawingml/2006/chart" r:id="rId1"/>
          </a:graphicData>
        </a:graphic>
      </p:graphicFrame>
      <p:sp>
        <p:nvSpPr>
          <p:cNvPr id="7" name="text-244"/>
          <p:cNvSpPr txBox="1"/>
          <p:nvPr/>
        </p:nvSpPr>
        <p:spPr>
          <a:xfrm>
            <a:off x="548640" y="4919472"/>
            <a:ext cx="5303520" cy="274320"/>
          </a:xfrm>
          <a:prstGeom prst="rect">
            <a:avLst/>
          </a:prstGeom>
          <a:noFill/>
          <a:ln/>
        </p:spPr>
        <p:txBody>
          <a:bodyPr wrap="square" lIns="0" tIns="0" rIns="0" bIns="0" rtlCol="0" anchor="t"/>
          <a:lstStyle/>
          <a:p>
            <a:pPr indent="0" marL="0">
              <a:buNone/>
            </a:pPr>
            <a:r>
              <a:rPr lang="en-US" sz="1200" b="1" dirty="0">
                <a:solidFill>
                  <a:schemeClr val="tx1"/>
                </a:solidFill>
              </a:rPr>
              <a:t>Frequency  </a:t>
            </a:r>
            <a:pPr indent="0" marL="0">
              <a:buNone/>
            </a:pPr>
            <a:r>
              <a:rPr lang="en-US" sz="1200" dirty="0">
                <a:solidFill>
                  <a:schemeClr val="tx1"/>
                </a:solidFill>
              </a:rPr>
              <a:t>Gen A 1.32 → 3.14   ·   Parents 1.06 → 2.19</a:t>
            </a:r>
            <a:endParaRPr lang="en-US" sz="1200" dirty="0"/>
          </a:p>
        </p:txBody>
      </p:sp>
      <p:sp>
        <p:nvSpPr>
          <p:cNvPr id="8" name="text-245"/>
          <p:cNvSpPr txBox="1"/>
          <p:nvPr/>
        </p:nvSpPr>
        <p:spPr>
          <a:xfrm>
            <a:off x="548640" y="5212080"/>
            <a:ext cx="5303520" cy="457200"/>
          </a:xfrm>
          <a:prstGeom prst="rect">
            <a:avLst/>
          </a:prstGeom>
          <a:noFill/>
          <a:ln/>
        </p:spPr>
        <p:txBody>
          <a:bodyPr wrap="square" lIns="0" tIns="0" rIns="0" bIns="0" rtlCol="0" anchor="t"/>
          <a:lstStyle/>
          <a:p>
            <a:pPr indent="0" marL="0">
              <a:buNone/>
            </a:pPr>
            <a:r>
              <a:rPr lang="en-US" sz="1000" dirty="0">
                <a:solidFill>
                  <a:schemeClr val="accent5"/>
                </a:solidFill>
              </a:rPr>
              <a:t>The Gen A ad set name is identical in both months; the September parents ad set is similarly named ("HappyMeal_Aug_26_Parents").</a:t>
            </a:r>
            <a:endParaRPr lang="en-US" sz="1000" dirty="0"/>
          </a:p>
        </p:txBody>
      </p:sp>
      <p:sp>
        <p:nvSpPr>
          <p:cNvPr id="9" name="card-246"/>
          <p:cNvSpPr/>
          <p:nvPr/>
        </p:nvSpPr>
        <p:spPr>
          <a:xfrm>
            <a:off x="6217920" y="1783080"/>
            <a:ext cx="5422392" cy="621792"/>
          </a:xfrm>
          <a:prstGeom prst="roundRect">
            <a:avLst>
              <a:gd name="adj" fmla="val 17647"/>
            </a:avLst>
          </a:prstGeom>
          <a:solidFill>
            <a:schemeClr val="bg2"/>
          </a:solidFill>
          <a:ln/>
        </p:spPr>
      </p:sp>
      <p:sp>
        <p:nvSpPr>
          <p:cNvPr id="10" name="num-247"/>
          <p:cNvSpPr txBox="1"/>
          <p:nvPr/>
        </p:nvSpPr>
        <p:spPr>
          <a:xfrm>
            <a:off x="6355080" y="1938528"/>
            <a:ext cx="310896" cy="310896"/>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text-248"/>
          <p:cNvSpPr txBox="1"/>
          <p:nvPr/>
        </p:nvSpPr>
        <p:spPr>
          <a:xfrm>
            <a:off x="6784848" y="1847088"/>
            <a:ext cx="4754880" cy="246888"/>
          </a:xfrm>
          <a:prstGeom prst="rect">
            <a:avLst/>
          </a:prstGeom>
          <a:noFill/>
          <a:ln/>
        </p:spPr>
        <p:txBody>
          <a:bodyPr wrap="square" lIns="0" tIns="0" rIns="0" bIns="0" rtlCol="0" anchor="t"/>
          <a:lstStyle/>
          <a:p>
            <a:pPr indent="0" marL="0">
              <a:buNone/>
            </a:pPr>
            <a:r>
              <a:rPr lang="en-US" sz="1100" b="1" dirty="0">
                <a:solidFill>
                  <a:schemeClr val="accent4"/>
                </a:solidFill>
              </a:rPr>
              <a:t>Best click-through: </a:t>
            </a:r>
            <a:pPr indent="0" marL="0">
              <a:buNone/>
            </a:pPr>
            <a:r>
              <a:rPr lang="en-US" sz="1100" b="1" dirty="0">
                <a:solidFill>
                  <a:schemeClr val="tx1"/>
                </a:solidFill>
              </a:rPr>
              <a:t>GenZ_Reach_Aug_26</a:t>
            </a:r>
            <a:endParaRPr lang="en-US" sz="1100" dirty="0"/>
          </a:p>
        </p:txBody>
      </p:sp>
      <p:sp>
        <p:nvSpPr>
          <p:cNvPr id="12" name="text-249"/>
          <p:cNvSpPr txBox="1"/>
          <p:nvPr/>
        </p:nvSpPr>
        <p:spPr>
          <a:xfrm>
            <a:off x="6784848" y="2103120"/>
            <a:ext cx="4754880" cy="246888"/>
          </a:xfrm>
          <a:prstGeom prst="rect">
            <a:avLst/>
          </a:prstGeom>
          <a:noFill/>
          <a:ln/>
        </p:spPr>
        <p:txBody>
          <a:bodyPr wrap="square" lIns="0" tIns="0" rIns="0" bIns="0" rtlCol="0" anchor="t"/>
          <a:lstStyle/>
          <a:p>
            <a:pPr indent="0" marL="0">
              <a:buNone/>
            </a:pPr>
            <a:r>
              <a:rPr lang="en-US" sz="1050" dirty="0">
                <a:solidFill>
                  <a:schemeClr val="tx2"/>
                </a:solidFill>
              </a:rPr>
              <a:t>0.27% link CTR, $0.24 CPC (2.5× account CTR)</a:t>
            </a:r>
            <a:endParaRPr lang="en-US" sz="1050" dirty="0"/>
          </a:p>
        </p:txBody>
      </p:sp>
      <p:sp>
        <p:nvSpPr>
          <p:cNvPr id="13" name="card-250"/>
          <p:cNvSpPr/>
          <p:nvPr/>
        </p:nvSpPr>
        <p:spPr>
          <a:xfrm>
            <a:off x="6217920" y="2496312"/>
            <a:ext cx="5422392" cy="621792"/>
          </a:xfrm>
          <a:prstGeom prst="roundRect">
            <a:avLst>
              <a:gd name="adj" fmla="val 17647"/>
            </a:avLst>
          </a:prstGeom>
          <a:solidFill>
            <a:schemeClr val="bg2"/>
          </a:solidFill>
          <a:ln/>
        </p:spPr>
      </p:sp>
      <p:sp>
        <p:nvSpPr>
          <p:cNvPr id="14" name="num-251"/>
          <p:cNvSpPr txBox="1"/>
          <p:nvPr/>
        </p:nvSpPr>
        <p:spPr>
          <a:xfrm>
            <a:off x="6355080" y="2651760"/>
            <a:ext cx="310896" cy="310896"/>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5" name="text-252"/>
          <p:cNvSpPr txBox="1"/>
          <p:nvPr/>
        </p:nvSpPr>
        <p:spPr>
          <a:xfrm>
            <a:off x="6784848" y="2560320"/>
            <a:ext cx="4754880" cy="246888"/>
          </a:xfrm>
          <a:prstGeom prst="rect">
            <a:avLst/>
          </a:prstGeom>
          <a:noFill/>
          <a:ln/>
        </p:spPr>
        <p:txBody>
          <a:bodyPr wrap="square" lIns="0" tIns="0" rIns="0" bIns="0" rtlCol="0" anchor="t"/>
          <a:lstStyle/>
          <a:p>
            <a:pPr indent="0" marL="0">
              <a:buNone/>
            </a:pPr>
            <a:r>
              <a:rPr lang="en-US" sz="1100" b="1" dirty="0">
                <a:solidFill>
                  <a:schemeClr val="accent4"/>
                </a:solidFill>
              </a:rPr>
              <a:t>Cheapest reach at scale: </a:t>
            </a:r>
            <a:pPr indent="0" marL="0">
              <a:buNone/>
            </a:pPr>
            <a:r>
              <a:rPr lang="en-US" sz="1100" b="1" dirty="0">
                <a:solidFill>
                  <a:schemeClr val="tx1"/>
                </a:solidFill>
              </a:rPr>
              <a:t>McD_Mixology_IG_18-35</a:t>
            </a:r>
            <a:endParaRPr lang="en-US" sz="1100" dirty="0"/>
          </a:p>
        </p:txBody>
      </p:sp>
      <p:sp>
        <p:nvSpPr>
          <p:cNvPr id="16" name="text-253"/>
          <p:cNvSpPr txBox="1"/>
          <p:nvPr/>
        </p:nvSpPr>
        <p:spPr>
          <a:xfrm>
            <a:off x="6784848" y="2816352"/>
            <a:ext cx="4754880" cy="246888"/>
          </a:xfrm>
          <a:prstGeom prst="rect">
            <a:avLst/>
          </a:prstGeom>
          <a:noFill/>
          <a:ln/>
        </p:spPr>
        <p:txBody>
          <a:bodyPr wrap="square" lIns="0" tIns="0" rIns="0" bIns="0" rtlCol="0" anchor="t"/>
          <a:lstStyle/>
          <a:p>
            <a:pPr indent="0" marL="0">
              <a:buNone/>
            </a:pPr>
            <a:r>
              <a:rPr lang="en-US" sz="1050" dirty="0">
                <a:solidFill>
                  <a:schemeClr val="tx2"/>
                </a:solidFill>
              </a:rPr>
              <a:t>$0.41 per 1,000 reached across 3.0M reach</a:t>
            </a:r>
            <a:endParaRPr lang="en-US" sz="1050" dirty="0"/>
          </a:p>
        </p:txBody>
      </p:sp>
      <p:sp>
        <p:nvSpPr>
          <p:cNvPr id="17" name="card-254"/>
          <p:cNvSpPr/>
          <p:nvPr/>
        </p:nvSpPr>
        <p:spPr>
          <a:xfrm>
            <a:off x="6217920" y="3209544"/>
            <a:ext cx="5422392" cy="621792"/>
          </a:xfrm>
          <a:prstGeom prst="roundRect">
            <a:avLst>
              <a:gd name="adj" fmla="val 17647"/>
            </a:avLst>
          </a:prstGeom>
          <a:solidFill>
            <a:schemeClr val="bg2"/>
          </a:solidFill>
          <a:ln/>
        </p:spPr>
      </p:sp>
      <p:sp>
        <p:nvSpPr>
          <p:cNvPr id="18" name="num-255"/>
          <p:cNvSpPr txBox="1"/>
          <p:nvPr/>
        </p:nvSpPr>
        <p:spPr>
          <a:xfrm>
            <a:off x="6355080" y="3364992"/>
            <a:ext cx="310896" cy="310896"/>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9" name="text-256"/>
          <p:cNvSpPr txBox="1"/>
          <p:nvPr/>
        </p:nvSpPr>
        <p:spPr>
          <a:xfrm>
            <a:off x="6784848" y="3273552"/>
            <a:ext cx="4754880" cy="246888"/>
          </a:xfrm>
          <a:prstGeom prst="rect">
            <a:avLst/>
          </a:prstGeom>
          <a:noFill/>
          <a:ln/>
        </p:spPr>
        <p:txBody>
          <a:bodyPr wrap="square" lIns="0" tIns="0" rIns="0" bIns="0" rtlCol="0" anchor="t"/>
          <a:lstStyle/>
          <a:p>
            <a:pPr indent="0" marL="0">
              <a:buNone/>
            </a:pPr>
            <a:r>
              <a:rPr lang="en-US" sz="1100" b="1" dirty="0">
                <a:solidFill>
                  <a:schemeClr val="accent4"/>
                </a:solidFill>
              </a:rPr>
              <a:t>Reach + attention: </a:t>
            </a:r>
            <a:pPr indent="0" marL="0">
              <a:buNone/>
            </a:pPr>
            <a:r>
              <a:rPr lang="en-US" sz="1100" b="1" dirty="0">
                <a:solidFill>
                  <a:schemeClr val="tx1"/>
                </a:solidFill>
              </a:rPr>
              <a:t>FIFA_Reach_July</a:t>
            </a:r>
            <a:endParaRPr lang="en-US" sz="1100" dirty="0"/>
          </a:p>
        </p:txBody>
      </p:sp>
      <p:sp>
        <p:nvSpPr>
          <p:cNvPr id="20" name="text-257"/>
          <p:cNvSpPr txBox="1"/>
          <p:nvPr/>
        </p:nvSpPr>
        <p:spPr>
          <a:xfrm>
            <a:off x="6784848" y="3529584"/>
            <a:ext cx="4754880" cy="246888"/>
          </a:xfrm>
          <a:prstGeom prst="rect">
            <a:avLst/>
          </a:prstGeom>
          <a:noFill/>
          <a:ln/>
        </p:spPr>
        <p:txBody>
          <a:bodyPr wrap="square" lIns="0" tIns="0" rIns="0" bIns="0" rtlCol="0" anchor="t"/>
          <a:lstStyle/>
          <a:p>
            <a:pPr indent="0" marL="0">
              <a:buNone/>
            </a:pPr>
            <a:r>
              <a:rPr lang="en-US" sz="1050" dirty="0">
                <a:solidFill>
                  <a:schemeClr val="tx2"/>
                </a:solidFill>
              </a:rPr>
              <a:t>$0.55 per 1,000 reached with a 17% engagement rate</a:t>
            </a:r>
            <a:endParaRPr lang="en-US" sz="1050" dirty="0"/>
          </a:p>
        </p:txBody>
      </p:sp>
      <p:sp>
        <p:nvSpPr>
          <p:cNvPr id="21" name="card-258"/>
          <p:cNvSpPr/>
          <p:nvPr/>
        </p:nvSpPr>
        <p:spPr>
          <a:xfrm>
            <a:off x="6217920" y="3922776"/>
            <a:ext cx="5422392" cy="621792"/>
          </a:xfrm>
          <a:prstGeom prst="roundRect">
            <a:avLst>
              <a:gd name="adj" fmla="val 17647"/>
            </a:avLst>
          </a:prstGeom>
          <a:solidFill>
            <a:schemeClr val="accent6"/>
          </a:solidFill>
          <a:ln/>
        </p:spPr>
      </p:sp>
      <p:sp>
        <p:nvSpPr>
          <p:cNvPr id="22" name="num-259"/>
          <p:cNvSpPr txBox="1"/>
          <p:nvPr/>
        </p:nvSpPr>
        <p:spPr>
          <a:xfrm>
            <a:off x="6355080" y="4078224"/>
            <a:ext cx="310896" cy="31089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3" name="text-260"/>
          <p:cNvSpPr txBox="1"/>
          <p:nvPr/>
        </p:nvSpPr>
        <p:spPr>
          <a:xfrm>
            <a:off x="6784848" y="3986784"/>
            <a:ext cx="4754880" cy="246888"/>
          </a:xfrm>
          <a:prstGeom prst="rect">
            <a:avLst/>
          </a:prstGeom>
          <a:noFill/>
          <a:ln/>
        </p:spPr>
        <p:txBody>
          <a:bodyPr wrap="square" lIns="0" tIns="0" rIns="0" bIns="0" rtlCol="0" anchor="t"/>
          <a:lstStyle/>
          <a:p>
            <a:pPr indent="0" marL="0">
              <a:buNone/>
            </a:pPr>
            <a:r>
              <a:rPr lang="en-US" sz="1100" b="1" dirty="0">
                <a:solidFill>
                  <a:schemeClr val="accent1"/>
                </a:solidFill>
              </a:rPr>
              <a:t>Weakest reach set: </a:t>
            </a:r>
            <a:pPr indent="0" marL="0">
              <a:buNone/>
            </a:pPr>
            <a:r>
              <a:rPr lang="en-US" sz="1100" b="1" dirty="0">
                <a:solidFill>
                  <a:schemeClr val="tx1"/>
                </a:solidFill>
              </a:rPr>
              <a:t>Primary Audience (Entry Level)</a:t>
            </a:r>
            <a:endParaRPr lang="en-US" sz="1100" dirty="0"/>
          </a:p>
        </p:txBody>
      </p:sp>
      <p:sp>
        <p:nvSpPr>
          <p:cNvPr id="24" name="text-261"/>
          <p:cNvSpPr txBox="1"/>
          <p:nvPr/>
        </p:nvSpPr>
        <p:spPr>
          <a:xfrm>
            <a:off x="6784848" y="4242816"/>
            <a:ext cx="4754880" cy="246888"/>
          </a:xfrm>
          <a:prstGeom prst="rect">
            <a:avLst/>
          </a:prstGeom>
          <a:noFill/>
          <a:ln/>
        </p:spPr>
        <p:txBody>
          <a:bodyPr wrap="square" lIns="0" tIns="0" rIns="0" bIns="0" rtlCol="0" anchor="t"/>
          <a:lstStyle/>
          <a:p>
            <a:pPr indent="0" marL="0">
              <a:buNone/>
            </a:pPr>
            <a:r>
              <a:rPr lang="en-US" sz="1050" dirty="0">
                <a:solidFill>
                  <a:schemeClr val="tx2"/>
                </a:solidFill>
              </a:rPr>
              <a:t>$1.32 per 1,000 reached, frequency 2.48, 0.06% engagement</a:t>
            </a:r>
            <a:endParaRPr lang="en-US" sz="1050" dirty="0"/>
          </a:p>
        </p:txBody>
      </p:sp>
      <p:sp>
        <p:nvSpPr>
          <p:cNvPr id="25" name="card-262"/>
          <p:cNvSpPr/>
          <p:nvPr/>
        </p:nvSpPr>
        <p:spPr>
          <a:xfrm>
            <a:off x="6217920" y="4636008"/>
            <a:ext cx="5422392" cy="621792"/>
          </a:xfrm>
          <a:prstGeom prst="roundRect">
            <a:avLst>
              <a:gd name="adj" fmla="val 17647"/>
            </a:avLst>
          </a:prstGeom>
          <a:solidFill>
            <a:schemeClr val="accent6"/>
          </a:solidFill>
          <a:ln/>
        </p:spPr>
      </p:sp>
      <p:sp>
        <p:nvSpPr>
          <p:cNvPr id="26" name="num-263"/>
          <p:cNvSpPr txBox="1"/>
          <p:nvPr/>
        </p:nvSpPr>
        <p:spPr>
          <a:xfrm>
            <a:off x="6355080" y="4791456"/>
            <a:ext cx="310896" cy="31089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7" name="text-264"/>
          <p:cNvSpPr txBox="1"/>
          <p:nvPr/>
        </p:nvSpPr>
        <p:spPr>
          <a:xfrm>
            <a:off x="6784848" y="4700016"/>
            <a:ext cx="4754880" cy="246888"/>
          </a:xfrm>
          <a:prstGeom prst="rect">
            <a:avLst/>
          </a:prstGeom>
          <a:noFill/>
          <a:ln/>
        </p:spPr>
        <p:txBody>
          <a:bodyPr wrap="square" lIns="0" tIns="0" rIns="0" bIns="0" rtlCol="0" anchor="t"/>
          <a:lstStyle/>
          <a:p>
            <a:pPr indent="0" marL="0">
              <a:buNone/>
            </a:pPr>
            <a:r>
              <a:rPr lang="en-US" sz="1100" b="1" dirty="0">
                <a:solidFill>
                  <a:schemeClr val="accent1"/>
                </a:solidFill>
              </a:rPr>
              <a:t>Over-served audience: </a:t>
            </a:r>
            <a:pPr indent="0" marL="0">
              <a:buNone/>
            </a:pPr>
            <a:r>
              <a:rPr lang="en-US" sz="1100" b="1" dirty="0">
                <a:solidFill>
                  <a:schemeClr val="tx1"/>
                </a:solidFill>
              </a:rPr>
              <a:t>HM_Look_alike Recent Videos</a:t>
            </a:r>
            <a:endParaRPr lang="en-US" sz="1100" dirty="0"/>
          </a:p>
        </p:txBody>
      </p:sp>
      <p:sp>
        <p:nvSpPr>
          <p:cNvPr id="28" name="text-265"/>
          <p:cNvSpPr txBox="1"/>
          <p:nvPr/>
        </p:nvSpPr>
        <p:spPr>
          <a:xfrm>
            <a:off x="6784848" y="4956048"/>
            <a:ext cx="4754880" cy="246888"/>
          </a:xfrm>
          <a:prstGeom prst="rect">
            <a:avLst/>
          </a:prstGeom>
          <a:noFill/>
          <a:ln/>
        </p:spPr>
        <p:txBody>
          <a:bodyPr wrap="square" lIns="0" tIns="0" rIns="0" bIns="0" rtlCol="0" anchor="t"/>
          <a:lstStyle/>
          <a:p>
            <a:pPr indent="0" marL="0">
              <a:buNone/>
            </a:pPr>
            <a:r>
              <a:rPr lang="en-US" sz="1050" dirty="0">
                <a:solidFill>
                  <a:schemeClr val="tx2"/>
                </a:solidFill>
              </a:rPr>
              <a:t>frequency 6.2 and $1.95 CPM (3.4× account) on the link-click campaign</a:t>
            </a:r>
            <a:endParaRPr lang="en-US" sz="1050" dirty="0"/>
          </a:p>
        </p:txBody>
      </p:sp>
      <p:sp>
        <p:nvSpPr>
          <p:cNvPr id="29" name="card-266"/>
          <p:cNvSpPr/>
          <p:nvPr/>
        </p:nvSpPr>
        <p:spPr>
          <a:xfrm>
            <a:off x="6217920" y="5376672"/>
            <a:ext cx="5422392" cy="685800"/>
          </a:xfrm>
          <a:prstGeom prst="roundRect">
            <a:avLst>
              <a:gd name="adj" fmla="val 16000"/>
            </a:avLst>
          </a:prstGeom>
          <a:solidFill>
            <a:srgbClr val="FFFFFF"/>
          </a:solidFill>
          <a:ln/>
        </p:spPr>
      </p:sp>
      <p:sp>
        <p:nvSpPr>
          <p:cNvPr id="30" name="text-267"/>
          <p:cNvSpPr txBox="1"/>
          <p:nvPr/>
        </p:nvSpPr>
        <p:spPr>
          <a:xfrm>
            <a:off x="6355080" y="5394960"/>
            <a:ext cx="5212080" cy="658368"/>
          </a:xfrm>
          <a:prstGeom prst="rect">
            <a:avLst/>
          </a:prstGeom>
          <a:noFill/>
          <a:ln/>
        </p:spPr>
        <p:txBody>
          <a:bodyPr wrap="square" lIns="0" tIns="0" rIns="0" bIns="0" rtlCol="0" anchor="ctr"/>
          <a:lstStyle/>
          <a:p>
            <a:pPr indent="0" marL="0">
              <a:buNone/>
            </a:pPr>
            <a:r>
              <a:rPr lang="en-US" sz="1000" b="1" dirty="0">
                <a:solidFill>
                  <a:schemeClr val="tx1"/>
                </a:solidFill>
              </a:rPr>
              <a:t>Q2 ad sets </a:t>
            </a:r>
            <a:pPr indent="0" marL="0">
              <a:buNone/>
            </a:pPr>
            <a:r>
              <a:rPr lang="en-US" sz="1000" dirty="0">
                <a:solidFill>
                  <a:schemeClr val="tx1"/>
                </a:solidFill>
              </a:rPr>
              <a:t>held one ad each and carried creative names, so audience comparison is only possible for Q3. Their _ig / _fb suffixes do show Facebook Reach ads cost +31% more CPM than Instagram ($0.52 vs $0.39).</a:t>
            </a:r>
            <a:endParaRPr lang="en-US" sz="1000" dirty="0"/>
          </a:p>
        </p:txBody>
      </p:sp>
      <p:sp>
        <p:nvSpPr>
          <p:cNvPr id="31" name="text-268"/>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Source: Meta Ads Manager ad-level exports – BEFORE 1 Apr–30 Jun 2026 (77 ads), AFTER 1 Jul–30 Sep 2026 (106 ads). Rates recalculated from totals (weighted), not averaged. Leaderboard: Q3 ad sets with ≥$500 spend.</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CREATIVE / AD PERFORMANCE</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Spiderman menu creatives won the click; Mixology and FIFA videos won attention</a:t>
            </a:r>
            <a:endParaRPr lang="en-US" sz="2600" dirty="0"/>
          </a:p>
        </p:txBody>
      </p:sp>
      <p:sp>
        <p:nvSpPr>
          <p:cNvPr id="4" name="arch-motif-269"/>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card-270"/>
          <p:cNvSpPr/>
          <p:nvPr/>
        </p:nvSpPr>
        <p:spPr>
          <a:xfrm>
            <a:off x="548640" y="1737360"/>
            <a:ext cx="3593592" cy="3310128"/>
          </a:xfrm>
          <a:prstGeom prst="roundRect">
            <a:avLst>
              <a:gd name="adj" fmla="val 3315"/>
            </a:avLst>
          </a:prstGeom>
          <a:solidFill>
            <a:schemeClr val="bg2"/>
          </a:solidFill>
          <a:ln/>
        </p:spPr>
      </p:sp>
      <p:sp>
        <p:nvSpPr>
          <p:cNvPr id="6" name="text-271"/>
          <p:cNvSpPr txBox="1"/>
          <p:nvPr/>
        </p:nvSpPr>
        <p:spPr>
          <a:xfrm>
            <a:off x="731520" y="1847088"/>
            <a:ext cx="3227832" cy="228600"/>
          </a:xfrm>
          <a:prstGeom prst="rect">
            <a:avLst/>
          </a:prstGeom>
          <a:noFill/>
          <a:ln/>
        </p:spPr>
        <p:txBody>
          <a:bodyPr wrap="square" lIns="0" tIns="0" rIns="0" bIns="0" rtlCol="0" anchor="t"/>
          <a:lstStyle/>
          <a:p>
            <a:pPr indent="0" marL="0">
              <a:buNone/>
            </a:pPr>
            <a:r>
              <a:rPr lang="en-US" sz="1050" b="1" spc="100" kern="0" dirty="0">
                <a:solidFill>
                  <a:schemeClr val="accent4"/>
                </a:solidFill>
              </a:rPr>
              <a:t>STRONGEST LINK CTR</a:t>
            </a:r>
            <a:endParaRPr lang="en-US" sz="1050" dirty="0"/>
          </a:p>
        </p:txBody>
      </p:sp>
      <p:sp>
        <p:nvSpPr>
          <p:cNvPr id="7" name="num-272"/>
          <p:cNvSpPr txBox="1"/>
          <p:nvPr/>
        </p:nvSpPr>
        <p:spPr>
          <a:xfrm>
            <a:off x="731520" y="2212848"/>
            <a:ext cx="292608" cy="29260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8" name="text-273"/>
          <p:cNvSpPr txBox="1"/>
          <p:nvPr/>
        </p:nvSpPr>
        <p:spPr>
          <a:xfrm>
            <a:off x="1115568" y="2176272"/>
            <a:ext cx="2862072" cy="237744"/>
          </a:xfrm>
          <a:prstGeom prst="rect">
            <a:avLst/>
          </a:prstGeom>
          <a:noFill/>
          <a:ln/>
        </p:spPr>
        <p:txBody>
          <a:bodyPr wrap="square" lIns="0" tIns="0" rIns="0" bIns="0" rtlCol="0" anchor="t">
            <a:normAutofit/>
          </a:bodyPr>
          <a:lstStyle/>
          <a:p>
            <a:pPr indent="0" marL="0">
              <a:buNone/>
            </a:pPr>
            <a:r>
              <a:rPr lang="en-US" sz="1100" b="1" dirty="0">
                <a:solidFill>
                  <a:schemeClr val="tx1"/>
                </a:solidFill>
              </a:rPr>
              <a:t>OnePieceXSpongeBob_16.09</a:t>
            </a:r>
            <a:endParaRPr lang="en-US" sz="1100" dirty="0"/>
          </a:p>
        </p:txBody>
      </p:sp>
      <p:sp>
        <p:nvSpPr>
          <p:cNvPr id="9" name="text-274"/>
          <p:cNvSpPr txBox="1"/>
          <p:nvPr/>
        </p:nvSpPr>
        <p:spPr>
          <a:xfrm>
            <a:off x="1115568" y="2423160"/>
            <a:ext cx="2862072" cy="274320"/>
          </a:xfrm>
          <a:prstGeom prst="rect">
            <a:avLst/>
          </a:prstGeom>
          <a:noFill/>
          <a:ln/>
        </p:spPr>
        <p:txBody>
          <a:bodyPr wrap="square" lIns="0" tIns="0" rIns="0" bIns="0" rtlCol="0" anchor="t"/>
          <a:lstStyle/>
          <a:p>
            <a:pPr indent="0" marL="0">
              <a:buNone/>
            </a:pPr>
            <a:r>
              <a:rPr lang="en-US" sz="1000" dirty="0">
                <a:solidFill>
                  <a:schemeClr val="tx2"/>
                </a:solidFill>
              </a:rPr>
              <a:t>0.77% CTR · $0.25 CPC · Traffic goal</a:t>
            </a:r>
            <a:endParaRPr lang="en-US" sz="1000" dirty="0"/>
          </a:p>
        </p:txBody>
      </p:sp>
      <p:sp>
        <p:nvSpPr>
          <p:cNvPr id="10" name="num-275"/>
          <p:cNvSpPr txBox="1"/>
          <p:nvPr/>
        </p:nvSpPr>
        <p:spPr>
          <a:xfrm>
            <a:off x="731520" y="2852928"/>
            <a:ext cx="292608" cy="29260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text-276"/>
          <p:cNvSpPr txBox="1"/>
          <p:nvPr/>
        </p:nvSpPr>
        <p:spPr>
          <a:xfrm>
            <a:off x="1115568" y="2816352"/>
            <a:ext cx="2862072" cy="237744"/>
          </a:xfrm>
          <a:prstGeom prst="rect">
            <a:avLst/>
          </a:prstGeom>
          <a:noFill/>
          <a:ln/>
        </p:spPr>
        <p:txBody>
          <a:bodyPr wrap="square" lIns="0" tIns="0" rIns="0" bIns="0" rtlCol="0" anchor="t">
            <a:normAutofit/>
          </a:bodyPr>
          <a:lstStyle/>
          <a:p>
            <a:pPr indent="0" marL="0">
              <a:buNone/>
            </a:pPr>
            <a:r>
              <a:rPr lang="en-US" sz="1100" b="1" dirty="0">
                <a:solidFill>
                  <a:schemeClr val="tx1"/>
                </a:solidFill>
              </a:rPr>
              <a:t>Spiderman_alixan_07.08</a:t>
            </a:r>
            <a:endParaRPr lang="en-US" sz="1100" dirty="0"/>
          </a:p>
        </p:txBody>
      </p:sp>
      <p:sp>
        <p:nvSpPr>
          <p:cNvPr id="12" name="text-277"/>
          <p:cNvSpPr txBox="1"/>
          <p:nvPr/>
        </p:nvSpPr>
        <p:spPr>
          <a:xfrm>
            <a:off x="1115568" y="3063240"/>
            <a:ext cx="2862072" cy="274320"/>
          </a:xfrm>
          <a:prstGeom prst="rect">
            <a:avLst/>
          </a:prstGeom>
          <a:noFill/>
          <a:ln/>
        </p:spPr>
        <p:txBody>
          <a:bodyPr wrap="square" lIns="0" tIns="0" rIns="0" bIns="0" rtlCol="0" anchor="t"/>
          <a:lstStyle/>
          <a:p>
            <a:pPr indent="0" marL="0">
              <a:buNone/>
            </a:pPr>
            <a:r>
              <a:rPr lang="en-US" sz="1000" dirty="0">
                <a:solidFill>
                  <a:schemeClr val="tx2"/>
                </a:solidFill>
              </a:rPr>
              <a:t>0.55% CTR · $0.14 CPC</a:t>
            </a:r>
            <a:endParaRPr lang="en-US" sz="1000" dirty="0"/>
          </a:p>
        </p:txBody>
      </p:sp>
      <p:sp>
        <p:nvSpPr>
          <p:cNvPr id="13" name="num-278"/>
          <p:cNvSpPr txBox="1"/>
          <p:nvPr/>
        </p:nvSpPr>
        <p:spPr>
          <a:xfrm>
            <a:off x="731520" y="3493008"/>
            <a:ext cx="292608" cy="29260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4" name="text-279"/>
          <p:cNvSpPr txBox="1"/>
          <p:nvPr/>
        </p:nvSpPr>
        <p:spPr>
          <a:xfrm>
            <a:off x="1115568" y="3456432"/>
            <a:ext cx="2862072" cy="237744"/>
          </a:xfrm>
          <a:prstGeom prst="rect">
            <a:avLst/>
          </a:prstGeom>
          <a:noFill/>
          <a:ln/>
        </p:spPr>
        <p:txBody>
          <a:bodyPr wrap="square" lIns="0" tIns="0" rIns="0" bIns="0" rtlCol="0" anchor="t">
            <a:normAutofit/>
          </a:bodyPr>
          <a:lstStyle/>
          <a:p>
            <a:pPr indent="0" marL="0">
              <a:buNone/>
            </a:pPr>
            <a:r>
              <a:rPr lang="en-US" sz="1100" b="1" dirty="0">
                <a:solidFill>
                  <a:schemeClr val="tx1"/>
                </a:solidFill>
              </a:rPr>
              <a:t>Spiderman_Menu_06.08</a:t>
            </a:r>
            <a:endParaRPr lang="en-US" sz="1100" dirty="0"/>
          </a:p>
        </p:txBody>
      </p:sp>
      <p:sp>
        <p:nvSpPr>
          <p:cNvPr id="15" name="text-280"/>
          <p:cNvSpPr txBox="1"/>
          <p:nvPr/>
        </p:nvSpPr>
        <p:spPr>
          <a:xfrm>
            <a:off x="1115568" y="3703320"/>
            <a:ext cx="2862072" cy="274320"/>
          </a:xfrm>
          <a:prstGeom prst="rect">
            <a:avLst/>
          </a:prstGeom>
          <a:noFill/>
          <a:ln/>
        </p:spPr>
        <p:txBody>
          <a:bodyPr wrap="square" lIns="0" tIns="0" rIns="0" bIns="0" rtlCol="0" anchor="t"/>
          <a:lstStyle/>
          <a:p>
            <a:pPr indent="0" marL="0">
              <a:buNone/>
            </a:pPr>
            <a:r>
              <a:rPr lang="en-US" sz="1000" dirty="0">
                <a:solidFill>
                  <a:schemeClr val="tx2"/>
                </a:solidFill>
              </a:rPr>
              <a:t>0.39% CTR · $0.21 CPC</a:t>
            </a:r>
            <a:endParaRPr lang="en-US" sz="1000" dirty="0"/>
          </a:p>
        </p:txBody>
      </p:sp>
      <p:sp>
        <p:nvSpPr>
          <p:cNvPr id="16" name="num-281"/>
          <p:cNvSpPr txBox="1"/>
          <p:nvPr/>
        </p:nvSpPr>
        <p:spPr>
          <a:xfrm>
            <a:off x="731520" y="4133088"/>
            <a:ext cx="292608" cy="29260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7" name="text-282"/>
          <p:cNvSpPr txBox="1"/>
          <p:nvPr/>
        </p:nvSpPr>
        <p:spPr>
          <a:xfrm>
            <a:off x="1115568" y="4096512"/>
            <a:ext cx="2862072" cy="237744"/>
          </a:xfrm>
          <a:prstGeom prst="rect">
            <a:avLst/>
          </a:prstGeom>
          <a:noFill/>
          <a:ln/>
        </p:spPr>
        <p:txBody>
          <a:bodyPr wrap="square" lIns="0" tIns="0" rIns="0" bIns="0" rtlCol="0" anchor="t">
            <a:normAutofit/>
          </a:bodyPr>
          <a:lstStyle/>
          <a:p>
            <a:pPr indent="0" marL="0">
              <a:buNone/>
            </a:pPr>
            <a:r>
              <a:rPr lang="en-US" sz="1100" b="1" dirty="0">
                <a:solidFill>
                  <a:schemeClr val="tx1"/>
                </a:solidFill>
              </a:rPr>
              <a:t>Spiderman_Menu_16.08</a:t>
            </a:r>
            <a:endParaRPr lang="en-US" sz="1100" dirty="0"/>
          </a:p>
        </p:txBody>
      </p:sp>
      <p:sp>
        <p:nvSpPr>
          <p:cNvPr id="18" name="text-283"/>
          <p:cNvSpPr txBox="1"/>
          <p:nvPr/>
        </p:nvSpPr>
        <p:spPr>
          <a:xfrm>
            <a:off x="1115568" y="4343400"/>
            <a:ext cx="2862072" cy="274320"/>
          </a:xfrm>
          <a:prstGeom prst="rect">
            <a:avLst/>
          </a:prstGeom>
          <a:noFill/>
          <a:ln/>
        </p:spPr>
        <p:txBody>
          <a:bodyPr wrap="square" lIns="0" tIns="0" rIns="0" bIns="0" rtlCol="0" anchor="t"/>
          <a:lstStyle/>
          <a:p>
            <a:pPr indent="0" marL="0">
              <a:buNone/>
            </a:pPr>
            <a:r>
              <a:rPr lang="en-US" sz="1000" dirty="0">
                <a:solidFill>
                  <a:schemeClr val="tx2"/>
                </a:solidFill>
              </a:rPr>
              <a:t>0.38% CTR · $0.14 CPC</a:t>
            </a:r>
            <a:endParaRPr lang="en-US" sz="1000" dirty="0"/>
          </a:p>
        </p:txBody>
      </p:sp>
      <p:sp>
        <p:nvSpPr>
          <p:cNvPr id="19" name="text-284"/>
          <p:cNvSpPr txBox="1"/>
          <p:nvPr/>
        </p:nvSpPr>
        <p:spPr>
          <a:xfrm>
            <a:off x="731520" y="4736592"/>
            <a:ext cx="3227832" cy="256032"/>
          </a:xfrm>
          <a:prstGeom prst="rect">
            <a:avLst/>
          </a:prstGeom>
          <a:noFill/>
          <a:ln/>
        </p:spPr>
        <p:txBody>
          <a:bodyPr wrap="square" lIns="0" tIns="0" rIns="0" bIns="0" rtlCol="0" anchor="t"/>
          <a:lstStyle/>
          <a:p>
            <a:pPr indent="0" marL="0">
              <a:buNone/>
            </a:pPr>
            <a:r>
              <a:rPr lang="en-US" sz="950" i="1" dirty="0">
                <a:solidFill>
                  <a:schemeClr val="accent5"/>
                </a:solidFill>
              </a:rPr>
              <a:t>Q2 best: grimace_shake_19.05_ig 2.03% (profile-visit goal)</a:t>
            </a:r>
            <a:endParaRPr lang="en-US" sz="950" dirty="0"/>
          </a:p>
        </p:txBody>
      </p:sp>
      <p:sp>
        <p:nvSpPr>
          <p:cNvPr id="20" name="card-285"/>
          <p:cNvSpPr/>
          <p:nvPr/>
        </p:nvSpPr>
        <p:spPr>
          <a:xfrm>
            <a:off x="4297680" y="1737360"/>
            <a:ext cx="3593592" cy="3310128"/>
          </a:xfrm>
          <a:prstGeom prst="roundRect">
            <a:avLst>
              <a:gd name="adj" fmla="val 3315"/>
            </a:avLst>
          </a:prstGeom>
          <a:solidFill>
            <a:schemeClr val="bg2"/>
          </a:solidFill>
          <a:ln/>
        </p:spPr>
      </p:sp>
      <p:sp>
        <p:nvSpPr>
          <p:cNvPr id="21" name="text-286"/>
          <p:cNvSpPr txBox="1"/>
          <p:nvPr/>
        </p:nvSpPr>
        <p:spPr>
          <a:xfrm>
            <a:off x="4480560" y="1847088"/>
            <a:ext cx="3227832" cy="228600"/>
          </a:xfrm>
          <a:prstGeom prst="rect">
            <a:avLst/>
          </a:prstGeom>
          <a:noFill/>
          <a:ln/>
        </p:spPr>
        <p:txBody>
          <a:bodyPr wrap="square" lIns="0" tIns="0" rIns="0" bIns="0" rtlCol="0" anchor="t"/>
          <a:lstStyle/>
          <a:p>
            <a:pPr indent="0" marL="0">
              <a:buNone/>
            </a:pPr>
            <a:r>
              <a:rPr lang="en-US" sz="1050" b="1" spc="100" kern="0" dirty="0">
                <a:solidFill>
                  <a:schemeClr val="accent4"/>
                </a:solidFill>
              </a:rPr>
              <a:t>STRONGEST ENGAGEMENT &amp; VIDEO</a:t>
            </a:r>
            <a:endParaRPr lang="en-US" sz="1050" dirty="0"/>
          </a:p>
        </p:txBody>
      </p:sp>
      <p:sp>
        <p:nvSpPr>
          <p:cNvPr id="22" name="num-287"/>
          <p:cNvSpPr txBox="1"/>
          <p:nvPr/>
        </p:nvSpPr>
        <p:spPr>
          <a:xfrm>
            <a:off x="4480560" y="2212848"/>
            <a:ext cx="292608" cy="29260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23" name="text-288"/>
          <p:cNvSpPr txBox="1"/>
          <p:nvPr/>
        </p:nvSpPr>
        <p:spPr>
          <a:xfrm>
            <a:off x="4864608" y="2176272"/>
            <a:ext cx="2862072" cy="237744"/>
          </a:xfrm>
          <a:prstGeom prst="rect">
            <a:avLst/>
          </a:prstGeom>
          <a:noFill/>
          <a:ln/>
        </p:spPr>
        <p:txBody>
          <a:bodyPr wrap="square" lIns="0" tIns="0" rIns="0" bIns="0" rtlCol="0" anchor="t">
            <a:normAutofit/>
          </a:bodyPr>
          <a:lstStyle/>
          <a:p>
            <a:pPr indent="0" marL="0">
              <a:buNone/>
            </a:pPr>
            <a:r>
              <a:rPr lang="en-US" sz="1100" b="1" dirty="0">
                <a:solidFill>
                  <a:schemeClr val="tx1"/>
                </a:solidFill>
              </a:rPr>
              <a:t>MCxCola content 5 9x16 AZ</a:t>
            </a:r>
            <a:endParaRPr lang="en-US" sz="1100" dirty="0"/>
          </a:p>
        </p:txBody>
      </p:sp>
      <p:sp>
        <p:nvSpPr>
          <p:cNvPr id="24" name="text-289"/>
          <p:cNvSpPr txBox="1"/>
          <p:nvPr/>
        </p:nvSpPr>
        <p:spPr>
          <a:xfrm>
            <a:off x="4864608" y="2423160"/>
            <a:ext cx="2862072" cy="274320"/>
          </a:xfrm>
          <a:prstGeom prst="rect">
            <a:avLst/>
          </a:prstGeom>
          <a:noFill/>
          <a:ln/>
        </p:spPr>
        <p:txBody>
          <a:bodyPr wrap="square" lIns="0" tIns="0" rIns="0" bIns="0" rtlCol="0" anchor="t"/>
          <a:lstStyle/>
          <a:p>
            <a:pPr indent="0" marL="0">
              <a:buNone/>
            </a:pPr>
            <a:r>
              <a:rPr lang="en-US" sz="1000" dirty="0">
                <a:solidFill>
                  <a:schemeClr val="tx2"/>
                </a:solidFill>
              </a:rPr>
              <a:t>43.8% engagement · 43.3% 3s plays</a:t>
            </a:r>
            <a:endParaRPr lang="en-US" sz="1000" dirty="0"/>
          </a:p>
        </p:txBody>
      </p:sp>
      <p:sp>
        <p:nvSpPr>
          <p:cNvPr id="25" name="num-290"/>
          <p:cNvSpPr txBox="1"/>
          <p:nvPr/>
        </p:nvSpPr>
        <p:spPr>
          <a:xfrm>
            <a:off x="4480560" y="2852928"/>
            <a:ext cx="292608" cy="29260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6" name="text-291"/>
          <p:cNvSpPr txBox="1"/>
          <p:nvPr/>
        </p:nvSpPr>
        <p:spPr>
          <a:xfrm>
            <a:off x="4864608" y="2816352"/>
            <a:ext cx="2862072" cy="237744"/>
          </a:xfrm>
          <a:prstGeom prst="rect">
            <a:avLst/>
          </a:prstGeom>
          <a:noFill/>
          <a:ln/>
        </p:spPr>
        <p:txBody>
          <a:bodyPr wrap="square" lIns="0" tIns="0" rIns="0" bIns="0" rtlCol="0" anchor="t">
            <a:normAutofit/>
          </a:bodyPr>
          <a:lstStyle/>
          <a:p>
            <a:pPr indent="0" marL="0">
              <a:buNone/>
            </a:pPr>
            <a:r>
              <a:rPr lang="en-US" sz="1100" b="1" dirty="0">
                <a:solidFill>
                  <a:schemeClr val="tx1"/>
                </a:solidFill>
              </a:rPr>
              <a:t>Futbol, əyləncə və dadlı anlar</a:t>
            </a:r>
            <a:endParaRPr lang="en-US" sz="1100" dirty="0"/>
          </a:p>
        </p:txBody>
      </p:sp>
      <p:sp>
        <p:nvSpPr>
          <p:cNvPr id="27" name="text-292"/>
          <p:cNvSpPr txBox="1"/>
          <p:nvPr/>
        </p:nvSpPr>
        <p:spPr>
          <a:xfrm>
            <a:off x="4864608" y="3063240"/>
            <a:ext cx="2862072" cy="274320"/>
          </a:xfrm>
          <a:prstGeom prst="rect">
            <a:avLst/>
          </a:prstGeom>
          <a:noFill/>
          <a:ln/>
        </p:spPr>
        <p:txBody>
          <a:bodyPr wrap="square" lIns="0" tIns="0" rIns="0" bIns="0" rtlCol="0" anchor="t"/>
          <a:lstStyle/>
          <a:p>
            <a:pPr indent="0" marL="0">
              <a:buNone/>
            </a:pPr>
            <a:r>
              <a:rPr lang="en-US" sz="1000" dirty="0">
                <a:solidFill>
                  <a:schemeClr val="tx2"/>
                </a:solidFill>
              </a:rPr>
              <a:t>43.1% engagement · 42.5% 3s plays</a:t>
            </a:r>
            <a:endParaRPr lang="en-US" sz="1000" dirty="0"/>
          </a:p>
        </p:txBody>
      </p:sp>
      <p:sp>
        <p:nvSpPr>
          <p:cNvPr id="28" name="num-293"/>
          <p:cNvSpPr txBox="1"/>
          <p:nvPr/>
        </p:nvSpPr>
        <p:spPr>
          <a:xfrm>
            <a:off x="4480560" y="3493008"/>
            <a:ext cx="292608" cy="29260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9" name="text-294"/>
          <p:cNvSpPr txBox="1"/>
          <p:nvPr/>
        </p:nvSpPr>
        <p:spPr>
          <a:xfrm>
            <a:off x="4864608" y="3456432"/>
            <a:ext cx="2862072" cy="237744"/>
          </a:xfrm>
          <a:prstGeom prst="rect">
            <a:avLst/>
          </a:prstGeom>
          <a:noFill/>
          <a:ln/>
        </p:spPr>
        <p:txBody>
          <a:bodyPr wrap="square" lIns="0" tIns="0" rIns="0" bIns="0" rtlCol="0" anchor="t">
            <a:normAutofit/>
          </a:bodyPr>
          <a:lstStyle/>
          <a:p>
            <a:pPr indent="0" marL="0">
              <a:buNone/>
            </a:pPr>
            <a:r>
              <a:rPr lang="en-US" sz="1100" b="1" dirty="0">
                <a:solidFill>
                  <a:schemeClr val="tx1"/>
                </a:solidFill>
              </a:rPr>
              <a:t>mcdonalds.az x seabreezeresortbaku</a:t>
            </a:r>
            <a:endParaRPr lang="en-US" sz="1100" dirty="0"/>
          </a:p>
        </p:txBody>
      </p:sp>
      <p:sp>
        <p:nvSpPr>
          <p:cNvPr id="30" name="text-295"/>
          <p:cNvSpPr txBox="1"/>
          <p:nvPr/>
        </p:nvSpPr>
        <p:spPr>
          <a:xfrm>
            <a:off x="4864608" y="3703320"/>
            <a:ext cx="2862072" cy="274320"/>
          </a:xfrm>
          <a:prstGeom prst="rect">
            <a:avLst/>
          </a:prstGeom>
          <a:noFill/>
          <a:ln/>
        </p:spPr>
        <p:txBody>
          <a:bodyPr wrap="square" lIns="0" tIns="0" rIns="0" bIns="0" rtlCol="0" anchor="t"/>
          <a:lstStyle/>
          <a:p>
            <a:pPr indent="0" marL="0">
              <a:buNone/>
            </a:pPr>
            <a:r>
              <a:rPr lang="en-US" sz="1000" dirty="0">
                <a:solidFill>
                  <a:schemeClr val="tx2"/>
                </a:solidFill>
              </a:rPr>
              <a:t>41.6% engagement · 41.3% 3s plays</a:t>
            </a:r>
            <a:endParaRPr lang="en-US" sz="1000" dirty="0"/>
          </a:p>
        </p:txBody>
      </p:sp>
      <p:sp>
        <p:nvSpPr>
          <p:cNvPr id="31" name="num-296"/>
          <p:cNvSpPr txBox="1"/>
          <p:nvPr/>
        </p:nvSpPr>
        <p:spPr>
          <a:xfrm>
            <a:off x="4480560" y="4133088"/>
            <a:ext cx="292608" cy="29260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2" name="text-297"/>
          <p:cNvSpPr txBox="1"/>
          <p:nvPr/>
        </p:nvSpPr>
        <p:spPr>
          <a:xfrm>
            <a:off x="4864608" y="4096512"/>
            <a:ext cx="2862072" cy="237744"/>
          </a:xfrm>
          <a:prstGeom prst="rect">
            <a:avLst/>
          </a:prstGeom>
          <a:noFill/>
          <a:ln/>
        </p:spPr>
        <p:txBody>
          <a:bodyPr wrap="square" lIns="0" tIns="0" rIns="0" bIns="0" rtlCol="0" anchor="t">
            <a:normAutofit/>
          </a:bodyPr>
          <a:lstStyle/>
          <a:p>
            <a:pPr indent="0" marL="0">
              <a:buNone/>
            </a:pPr>
            <a:r>
              <a:rPr lang="en-US" sz="1100" b="1" dirty="0">
                <a:solidFill>
                  <a:schemeClr val="tx1"/>
                </a:solidFill>
              </a:rPr>
              <a:t>FIFA_Grimace_cup</a:t>
            </a:r>
            <a:endParaRPr lang="en-US" sz="1100" dirty="0"/>
          </a:p>
        </p:txBody>
      </p:sp>
      <p:sp>
        <p:nvSpPr>
          <p:cNvPr id="33" name="text-298"/>
          <p:cNvSpPr txBox="1"/>
          <p:nvPr/>
        </p:nvSpPr>
        <p:spPr>
          <a:xfrm>
            <a:off x="4864608" y="4343400"/>
            <a:ext cx="2862072" cy="274320"/>
          </a:xfrm>
          <a:prstGeom prst="rect">
            <a:avLst/>
          </a:prstGeom>
          <a:noFill/>
          <a:ln/>
        </p:spPr>
        <p:txBody>
          <a:bodyPr wrap="square" lIns="0" tIns="0" rIns="0" bIns="0" rtlCol="0" anchor="t"/>
          <a:lstStyle/>
          <a:p>
            <a:pPr indent="0" marL="0">
              <a:buNone/>
            </a:pPr>
            <a:r>
              <a:rPr lang="en-US" sz="1000" dirty="0">
                <a:solidFill>
                  <a:schemeClr val="tx2"/>
                </a:solidFill>
              </a:rPr>
              <a:t>37.1% engagement · 36.4% 3s plays</a:t>
            </a:r>
            <a:endParaRPr lang="en-US" sz="1000" dirty="0"/>
          </a:p>
        </p:txBody>
      </p:sp>
      <p:sp>
        <p:nvSpPr>
          <p:cNvPr id="34" name="text-299"/>
          <p:cNvSpPr txBox="1"/>
          <p:nvPr/>
        </p:nvSpPr>
        <p:spPr>
          <a:xfrm>
            <a:off x="4480560" y="4736592"/>
            <a:ext cx="3227832" cy="256032"/>
          </a:xfrm>
          <a:prstGeom prst="rect">
            <a:avLst/>
          </a:prstGeom>
          <a:noFill/>
          <a:ln/>
        </p:spPr>
        <p:txBody>
          <a:bodyPr wrap="square" lIns="0" tIns="0" rIns="0" bIns="0" rtlCol="0" anchor="t"/>
          <a:lstStyle/>
          <a:p>
            <a:pPr indent="0" marL="0">
              <a:buNone/>
            </a:pPr>
            <a:r>
              <a:rPr lang="en-US" sz="950" i="1" dirty="0">
                <a:solidFill>
                  <a:schemeClr val="accent5"/>
                </a:solidFill>
              </a:rPr>
              <a:t>Q2 best: sevar_mc_cafe_10.04_ig 50.8% engagement</a:t>
            </a:r>
            <a:endParaRPr lang="en-US" sz="950" dirty="0"/>
          </a:p>
        </p:txBody>
      </p:sp>
      <p:sp>
        <p:nvSpPr>
          <p:cNvPr id="35" name="card-300"/>
          <p:cNvSpPr/>
          <p:nvPr/>
        </p:nvSpPr>
        <p:spPr>
          <a:xfrm>
            <a:off x="8046720" y="1737360"/>
            <a:ext cx="3593592" cy="3310128"/>
          </a:xfrm>
          <a:prstGeom prst="roundRect">
            <a:avLst>
              <a:gd name="adj" fmla="val 3315"/>
            </a:avLst>
          </a:prstGeom>
          <a:solidFill>
            <a:schemeClr val="accent6"/>
          </a:solidFill>
          <a:ln/>
        </p:spPr>
      </p:sp>
      <p:sp>
        <p:nvSpPr>
          <p:cNvPr id="36" name="text-301"/>
          <p:cNvSpPr txBox="1"/>
          <p:nvPr/>
        </p:nvSpPr>
        <p:spPr>
          <a:xfrm>
            <a:off x="8229600" y="1847088"/>
            <a:ext cx="3227832" cy="228600"/>
          </a:xfrm>
          <a:prstGeom prst="rect">
            <a:avLst/>
          </a:prstGeom>
          <a:noFill/>
          <a:ln/>
        </p:spPr>
        <p:txBody>
          <a:bodyPr wrap="square" lIns="0" tIns="0" rIns="0" bIns="0" rtlCol="0" anchor="t"/>
          <a:lstStyle/>
          <a:p>
            <a:pPr indent="0" marL="0">
              <a:buNone/>
            </a:pPr>
            <a:r>
              <a:rPr lang="en-US" sz="1050" b="1" spc="100" kern="0" dirty="0">
                <a:solidFill>
                  <a:schemeClr val="accent1"/>
                </a:solidFill>
              </a:rPr>
              <a:t>UNDERPERFORMERS</a:t>
            </a:r>
            <a:endParaRPr lang="en-US" sz="1050" dirty="0"/>
          </a:p>
        </p:txBody>
      </p:sp>
      <p:sp>
        <p:nvSpPr>
          <p:cNvPr id="37" name="num-302"/>
          <p:cNvSpPr txBox="1"/>
          <p:nvPr/>
        </p:nvSpPr>
        <p:spPr>
          <a:xfrm>
            <a:off x="8229600" y="2212848"/>
            <a:ext cx="292608" cy="29260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8" name="text-303"/>
          <p:cNvSpPr txBox="1"/>
          <p:nvPr/>
        </p:nvSpPr>
        <p:spPr>
          <a:xfrm>
            <a:off x="8613648" y="2176272"/>
            <a:ext cx="2862072" cy="237744"/>
          </a:xfrm>
          <a:prstGeom prst="rect">
            <a:avLst/>
          </a:prstGeom>
          <a:noFill/>
          <a:ln/>
        </p:spPr>
        <p:txBody>
          <a:bodyPr wrap="square" lIns="0" tIns="0" rIns="0" bIns="0" rtlCol="0" anchor="t">
            <a:normAutofit/>
          </a:bodyPr>
          <a:lstStyle/>
          <a:p>
            <a:pPr indent="0" marL="0">
              <a:buNone/>
            </a:pPr>
            <a:r>
              <a:rPr lang="en-US" sz="1100" b="1" dirty="0">
                <a:solidFill>
                  <a:schemeClr val="tx1"/>
                </a:solidFill>
              </a:rPr>
              <a:t>Entry_Level_#1</a:t>
            </a:r>
            <a:endParaRPr lang="en-US" sz="1100" dirty="0"/>
          </a:p>
        </p:txBody>
      </p:sp>
      <p:sp>
        <p:nvSpPr>
          <p:cNvPr id="39" name="text-304"/>
          <p:cNvSpPr txBox="1"/>
          <p:nvPr/>
        </p:nvSpPr>
        <p:spPr>
          <a:xfrm>
            <a:off x="8613648" y="2423160"/>
            <a:ext cx="2862072" cy="274320"/>
          </a:xfrm>
          <a:prstGeom prst="rect">
            <a:avLst/>
          </a:prstGeom>
          <a:noFill/>
          <a:ln/>
        </p:spPr>
        <p:txBody>
          <a:bodyPr wrap="square" lIns="0" tIns="0" rIns="0" bIns="0" rtlCol="0" anchor="t"/>
          <a:lstStyle/>
          <a:p>
            <a:pPr indent="0" marL="0">
              <a:buNone/>
            </a:pPr>
            <a:r>
              <a:rPr lang="en-US" sz="1000" dirty="0">
                <a:solidFill>
                  <a:schemeClr val="tx2"/>
                </a:solidFill>
              </a:rPr>
              <a:t>$2,772 · 0.06% engagement · 658 link clicks</a:t>
            </a:r>
            <a:endParaRPr lang="en-US" sz="1000" dirty="0"/>
          </a:p>
        </p:txBody>
      </p:sp>
      <p:sp>
        <p:nvSpPr>
          <p:cNvPr id="40" name="num-305"/>
          <p:cNvSpPr txBox="1"/>
          <p:nvPr/>
        </p:nvSpPr>
        <p:spPr>
          <a:xfrm>
            <a:off x="8229600" y="2852928"/>
            <a:ext cx="292608" cy="29260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1" name="text-306"/>
          <p:cNvSpPr txBox="1"/>
          <p:nvPr/>
        </p:nvSpPr>
        <p:spPr>
          <a:xfrm>
            <a:off x="8613648" y="2816352"/>
            <a:ext cx="2862072" cy="237744"/>
          </a:xfrm>
          <a:prstGeom prst="rect">
            <a:avLst/>
          </a:prstGeom>
          <a:noFill/>
          <a:ln/>
        </p:spPr>
        <p:txBody>
          <a:bodyPr wrap="square" lIns="0" tIns="0" rIns="0" bIns="0" rtlCol="0" anchor="t">
            <a:normAutofit/>
          </a:bodyPr>
          <a:lstStyle/>
          <a:p>
            <a:pPr indent="0" marL="0">
              <a:buNone/>
            </a:pPr>
            <a:r>
              <a:rPr lang="en-US" sz="1100" b="1" dirty="0">
                <a:solidFill>
                  <a:schemeClr val="tx1"/>
                </a:solidFill>
              </a:rPr>
              <a:t>OnePieceXSpongebob_launch</a:t>
            </a:r>
            <a:endParaRPr lang="en-US" sz="1100" dirty="0"/>
          </a:p>
        </p:txBody>
      </p:sp>
      <p:sp>
        <p:nvSpPr>
          <p:cNvPr id="42" name="text-307"/>
          <p:cNvSpPr txBox="1"/>
          <p:nvPr/>
        </p:nvSpPr>
        <p:spPr>
          <a:xfrm>
            <a:off x="8613648" y="3063240"/>
            <a:ext cx="2862072" cy="274320"/>
          </a:xfrm>
          <a:prstGeom prst="rect">
            <a:avLst/>
          </a:prstGeom>
          <a:noFill/>
          <a:ln/>
        </p:spPr>
        <p:txBody>
          <a:bodyPr wrap="square" lIns="0" tIns="0" rIns="0" bIns="0" rtlCol="0" anchor="t"/>
          <a:lstStyle/>
          <a:p>
            <a:pPr indent="0" marL="0">
              <a:buNone/>
            </a:pPr>
            <a:r>
              <a:rPr lang="en-US" sz="1000" dirty="0">
                <a:solidFill>
                  <a:schemeClr val="tx2"/>
                </a:solidFill>
              </a:rPr>
              <a:t>$2,128 · $2.64 per 1,000 reached · freq 3.7</a:t>
            </a:r>
            <a:endParaRPr lang="en-US" sz="1000" dirty="0"/>
          </a:p>
        </p:txBody>
      </p:sp>
      <p:sp>
        <p:nvSpPr>
          <p:cNvPr id="43" name="num-308"/>
          <p:cNvSpPr txBox="1"/>
          <p:nvPr/>
        </p:nvSpPr>
        <p:spPr>
          <a:xfrm>
            <a:off x="8229600" y="3493008"/>
            <a:ext cx="292608" cy="29260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4" name="text-309"/>
          <p:cNvSpPr txBox="1"/>
          <p:nvPr/>
        </p:nvSpPr>
        <p:spPr>
          <a:xfrm>
            <a:off x="8613648" y="3456432"/>
            <a:ext cx="2862072" cy="237744"/>
          </a:xfrm>
          <a:prstGeom prst="rect">
            <a:avLst/>
          </a:prstGeom>
          <a:noFill/>
          <a:ln/>
        </p:spPr>
        <p:txBody>
          <a:bodyPr wrap="square" lIns="0" tIns="0" rIns="0" bIns="0" rtlCol="0" anchor="t">
            <a:normAutofit/>
          </a:bodyPr>
          <a:lstStyle/>
          <a:p>
            <a:pPr indent="0" marL="0">
              <a:buNone/>
            </a:pPr>
            <a:r>
              <a:rPr lang="en-US" sz="1100" b="1" dirty="0">
                <a:solidFill>
                  <a:schemeClr val="tx1"/>
                </a:solidFill>
              </a:rPr>
              <a:t>McDonald's Sea Breeze</a:t>
            </a:r>
            <a:endParaRPr lang="en-US" sz="1100" dirty="0"/>
          </a:p>
        </p:txBody>
      </p:sp>
      <p:sp>
        <p:nvSpPr>
          <p:cNvPr id="45" name="text-310"/>
          <p:cNvSpPr txBox="1"/>
          <p:nvPr/>
        </p:nvSpPr>
        <p:spPr>
          <a:xfrm>
            <a:off x="8613648" y="3703320"/>
            <a:ext cx="2862072" cy="274320"/>
          </a:xfrm>
          <a:prstGeom prst="rect">
            <a:avLst/>
          </a:prstGeom>
          <a:noFill/>
          <a:ln/>
        </p:spPr>
        <p:txBody>
          <a:bodyPr wrap="square" lIns="0" tIns="0" rIns="0" bIns="0" rtlCol="0" anchor="t"/>
          <a:lstStyle/>
          <a:p>
            <a:pPr indent="0" marL="0">
              <a:buNone/>
            </a:pPr>
            <a:r>
              <a:rPr lang="en-US" sz="1000" dirty="0">
                <a:solidFill>
                  <a:schemeClr val="tx2"/>
                </a:solidFill>
              </a:rPr>
              <a:t>$330 · 0.03% engagement · 2 link clicks</a:t>
            </a:r>
            <a:endParaRPr lang="en-US" sz="1000" dirty="0"/>
          </a:p>
        </p:txBody>
      </p:sp>
      <p:sp>
        <p:nvSpPr>
          <p:cNvPr id="46" name="num-311"/>
          <p:cNvSpPr txBox="1"/>
          <p:nvPr/>
        </p:nvSpPr>
        <p:spPr>
          <a:xfrm>
            <a:off x="8229600" y="4133088"/>
            <a:ext cx="292608" cy="29260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7" name="text-312"/>
          <p:cNvSpPr txBox="1"/>
          <p:nvPr/>
        </p:nvSpPr>
        <p:spPr>
          <a:xfrm>
            <a:off x="8613648" y="4096512"/>
            <a:ext cx="2862072" cy="237744"/>
          </a:xfrm>
          <a:prstGeom prst="rect">
            <a:avLst/>
          </a:prstGeom>
          <a:noFill/>
          <a:ln/>
        </p:spPr>
        <p:txBody>
          <a:bodyPr wrap="square" lIns="0" tIns="0" rIns="0" bIns="0" rtlCol="0" anchor="t">
            <a:normAutofit/>
          </a:bodyPr>
          <a:lstStyle/>
          <a:p>
            <a:pPr indent="0" marL="0">
              <a:buNone/>
            </a:pPr>
            <a:r>
              <a:rPr lang="en-US" sz="1100" b="1" dirty="0">
                <a:solidFill>
                  <a:schemeClr val="tx1"/>
                </a:solidFill>
              </a:rPr>
              <a:t>visa_17.07</a:t>
            </a:r>
            <a:endParaRPr lang="en-US" sz="1100" dirty="0"/>
          </a:p>
        </p:txBody>
      </p:sp>
      <p:sp>
        <p:nvSpPr>
          <p:cNvPr id="48" name="text-313"/>
          <p:cNvSpPr txBox="1"/>
          <p:nvPr/>
        </p:nvSpPr>
        <p:spPr>
          <a:xfrm>
            <a:off x="8613648" y="4343400"/>
            <a:ext cx="2862072" cy="274320"/>
          </a:xfrm>
          <a:prstGeom prst="rect">
            <a:avLst/>
          </a:prstGeom>
          <a:noFill/>
          <a:ln/>
        </p:spPr>
        <p:txBody>
          <a:bodyPr wrap="square" lIns="0" tIns="0" rIns="0" bIns="0" rtlCol="0" anchor="t"/>
          <a:lstStyle/>
          <a:p>
            <a:pPr indent="0" marL="0">
              <a:buNone/>
            </a:pPr>
            <a:r>
              <a:rPr lang="en-US" sz="1000" dirty="0">
                <a:solidFill>
                  <a:schemeClr val="tx2"/>
                </a:solidFill>
              </a:rPr>
              <a:t>$326 · 0.04% engagement · 104 link clicks</a:t>
            </a:r>
            <a:endParaRPr lang="en-US" sz="1000" dirty="0"/>
          </a:p>
        </p:txBody>
      </p:sp>
      <p:sp>
        <p:nvSpPr>
          <p:cNvPr id="49" name="text-314"/>
          <p:cNvSpPr txBox="1"/>
          <p:nvPr/>
        </p:nvSpPr>
        <p:spPr>
          <a:xfrm>
            <a:off x="8229600" y="4736592"/>
            <a:ext cx="3227832" cy="256032"/>
          </a:xfrm>
          <a:prstGeom prst="rect">
            <a:avLst/>
          </a:prstGeom>
          <a:noFill/>
          <a:ln/>
        </p:spPr>
        <p:txBody>
          <a:bodyPr wrap="square" lIns="0" tIns="0" rIns="0" bIns="0" rtlCol="0" anchor="t"/>
          <a:lstStyle/>
          <a:p>
            <a:pPr indent="0" marL="0">
              <a:buNone/>
            </a:pPr>
            <a:r>
              <a:rPr lang="en-US" sz="950" i="1" dirty="0">
                <a:solidFill>
                  <a:schemeClr val="accent5"/>
                </a:solidFill>
              </a:rPr>
              <a:t>Static reach posts with near-zero response</a:t>
            </a:r>
            <a:endParaRPr lang="en-US" sz="950" dirty="0"/>
          </a:p>
        </p:txBody>
      </p:sp>
      <p:sp>
        <p:nvSpPr>
          <p:cNvPr id="50" name="card-315"/>
          <p:cNvSpPr/>
          <p:nvPr/>
        </p:nvSpPr>
        <p:spPr>
          <a:xfrm>
            <a:off x="548640" y="5193792"/>
            <a:ext cx="11091672" cy="868680"/>
          </a:xfrm>
          <a:prstGeom prst="roundRect">
            <a:avLst>
              <a:gd name="adj" fmla="val 12632"/>
            </a:avLst>
          </a:prstGeom>
          <a:solidFill>
            <a:srgbClr val="FFFFFF"/>
          </a:solidFill>
          <a:ln/>
        </p:spPr>
      </p:sp>
      <p:sp>
        <p:nvSpPr>
          <p:cNvPr id="51" name="arch-icon-316"/>
          <p:cNvSpPr/>
          <p:nvPr/>
        </p:nvSpPr>
        <p:spPr>
          <a:xfrm>
            <a:off x="685800" y="5349240"/>
            <a:ext cx="548640" cy="548640"/>
          </a:xfrm>
          <a:prstGeom prst="blockArc">
            <a:avLst>
              <a:gd name="adj1" fmla="val 10800000"/>
              <a:gd name="adj2" fmla="val 0"/>
              <a:gd name="adj3" fmla="val 16000"/>
            </a:avLst>
          </a:prstGeom>
          <a:solidFill>
            <a:schemeClr val="accent2"/>
          </a:solidFill>
          <a:ln/>
        </p:spPr>
      </p:sp>
      <p:sp>
        <p:nvSpPr>
          <p:cNvPr id="52" name="text-317"/>
          <p:cNvSpPr txBox="1"/>
          <p:nvPr/>
        </p:nvSpPr>
        <p:spPr>
          <a:xfrm>
            <a:off x="1371600" y="5230368"/>
            <a:ext cx="10149840" cy="804672"/>
          </a:xfrm>
          <a:prstGeom prst="rect">
            <a:avLst/>
          </a:prstGeom>
          <a:noFill/>
          <a:ln/>
        </p:spPr>
        <p:txBody>
          <a:bodyPr wrap="square" lIns="0" tIns="0" rIns="0" bIns="0" rtlCol="0" anchor="ctr"/>
          <a:lstStyle/>
          <a:p>
            <a:pPr indent="0" marL="0">
              <a:buNone/>
            </a:pPr>
            <a:r>
              <a:rPr lang="en-US" sz="1150" b="1" dirty="0">
                <a:solidFill>
                  <a:schemeClr val="tx1"/>
                </a:solidFill>
              </a:rPr>
              <a:t>Pattern in both periods: </a:t>
            </a:r>
            <a:pPr indent="0" marL="0">
              <a:buNone/>
            </a:pPr>
            <a:r>
              <a:rPr lang="en-US" sz="1150" dirty="0">
                <a:solidFill>
                  <a:schemeClr val="tx1"/>
                </a:solidFill>
              </a:rPr>
              <a:t>creator / influencer content earns ~3× the engagement rate of other Reach ads – Q2 25.3% vs 9.7%, Q3 24.6% vs 7.9%. Common thread of the click winners: menu / offer-led creatives aimed at GenZ.</a:t>
            </a:r>
            <a:endParaRPr lang="en-US" sz="1150" dirty="0"/>
          </a:p>
        </p:txBody>
      </p:sp>
      <p:sp>
        <p:nvSpPr>
          <p:cNvPr id="53" name="text-318"/>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Source: Meta Ads Manager ad-level exports – BEFORE 1 Apr–30 Jun 2026 (77 ads), AFTER 1 Jul–30 Sep 2026 (106 ads). Rates recalculated from totals (weighted), not averaged. Rankings use ads with ≥300K impressions. Creator = ad names containing collab / inf / influencer / blogger.</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KEY WINS &amp; OPPORTUNITIES</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Scorecard: what the new setup delivered – and what it has not fixed yet</a:t>
            </a:r>
            <a:endParaRPr lang="en-US" sz="2600" dirty="0"/>
          </a:p>
        </p:txBody>
      </p:sp>
      <p:sp>
        <p:nvSpPr>
          <p:cNvPr id="4" name="arch-motif-319"/>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card-320"/>
          <p:cNvSpPr/>
          <p:nvPr/>
        </p:nvSpPr>
        <p:spPr>
          <a:xfrm>
            <a:off x="548640" y="1737360"/>
            <a:ext cx="5404104" cy="4315968"/>
          </a:xfrm>
          <a:prstGeom prst="roundRect">
            <a:avLst>
              <a:gd name="adj" fmla="val 2542"/>
            </a:avLst>
          </a:prstGeom>
          <a:solidFill>
            <a:schemeClr val="bg2"/>
          </a:solidFill>
          <a:ln/>
        </p:spPr>
      </p:sp>
      <p:sp>
        <p:nvSpPr>
          <p:cNvPr id="6" name="text-321"/>
          <p:cNvSpPr txBox="1"/>
          <p:nvPr/>
        </p:nvSpPr>
        <p:spPr>
          <a:xfrm>
            <a:off x="777240" y="1856232"/>
            <a:ext cx="4937760"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KEY WINS AFTER JULY 1</a:t>
            </a:r>
            <a:endParaRPr lang="en-US" sz="1100" dirty="0"/>
          </a:p>
        </p:txBody>
      </p:sp>
      <p:sp>
        <p:nvSpPr>
          <p:cNvPr id="7" name="text-322"/>
          <p:cNvSpPr txBox="1"/>
          <p:nvPr/>
        </p:nvSpPr>
        <p:spPr>
          <a:xfrm>
            <a:off x="777240" y="2212848"/>
            <a:ext cx="1645920" cy="384048"/>
          </a:xfrm>
          <a:prstGeom prst="rect">
            <a:avLst/>
          </a:prstGeom>
          <a:noFill/>
          <a:ln/>
        </p:spPr>
        <p:txBody>
          <a:bodyPr wrap="square" lIns="0" tIns="0" rIns="0" bIns="0" rtlCol="0" anchor="b"/>
          <a:lstStyle/>
          <a:p>
            <a:pPr indent="0" marL="0">
              <a:buNone/>
            </a:pPr>
            <a:r>
              <a:rPr lang="en-US" sz="2200" b="1" dirty="0">
                <a:solidFill>
                  <a:schemeClr val="accent4"/>
                </a:solidFill>
              </a:rPr>
              <a:t>+54%</a:t>
            </a:r>
            <a:endParaRPr lang="en-US" sz="2200" dirty="0"/>
          </a:p>
        </p:txBody>
      </p:sp>
      <p:sp>
        <p:nvSpPr>
          <p:cNvPr id="8" name="text-323"/>
          <p:cNvSpPr txBox="1"/>
          <p:nvPr/>
        </p:nvSpPr>
        <p:spPr>
          <a:xfrm>
            <a:off x="777240" y="2596896"/>
            <a:ext cx="1600200" cy="228600"/>
          </a:xfrm>
          <a:prstGeom prst="rect">
            <a:avLst/>
          </a:prstGeom>
          <a:noFill/>
          <a:ln/>
        </p:spPr>
        <p:txBody>
          <a:bodyPr wrap="square" lIns="0" tIns="0" rIns="0" bIns="0" rtlCol="0" anchor="t"/>
          <a:lstStyle/>
          <a:p>
            <a:pPr indent="0" marL="0">
              <a:buNone/>
            </a:pPr>
            <a:r>
              <a:rPr lang="en-US" sz="950" dirty="0">
                <a:solidFill>
                  <a:schemeClr val="accent5"/>
                </a:solidFill>
              </a:rPr>
              <a:t>link clicks</a:t>
            </a:r>
            <a:endParaRPr lang="en-US" sz="950" dirty="0"/>
          </a:p>
        </p:txBody>
      </p:sp>
      <p:sp>
        <p:nvSpPr>
          <p:cNvPr id="9" name="text-324"/>
          <p:cNvSpPr txBox="1"/>
          <p:nvPr/>
        </p:nvSpPr>
        <p:spPr>
          <a:xfrm>
            <a:off x="2468880" y="2258568"/>
            <a:ext cx="3291840" cy="566928"/>
          </a:xfrm>
          <a:prstGeom prst="rect">
            <a:avLst/>
          </a:prstGeom>
          <a:noFill/>
          <a:ln/>
        </p:spPr>
        <p:txBody>
          <a:bodyPr wrap="square" lIns="0" tIns="0" rIns="0" bIns="0" rtlCol="0" anchor="ctr"/>
          <a:lstStyle/>
          <a:p>
            <a:pPr indent="0" marL="0">
              <a:buNone/>
            </a:pPr>
            <a:r>
              <a:rPr lang="en-US" sz="1150" dirty="0">
                <a:solidFill>
                  <a:schemeClr val="tx1"/>
                </a:solidFill>
              </a:rPr>
              <a:t>Link CTR +48%, CPC $0.62 → $0.53</a:t>
            </a:r>
            <a:endParaRPr lang="en-US" sz="1150" dirty="0"/>
          </a:p>
        </p:txBody>
      </p:sp>
      <p:sp>
        <p:nvSpPr>
          <p:cNvPr id="10" name="text-325"/>
          <p:cNvSpPr txBox="1"/>
          <p:nvPr/>
        </p:nvSpPr>
        <p:spPr>
          <a:xfrm>
            <a:off x="777240" y="2971800"/>
            <a:ext cx="1645920" cy="384048"/>
          </a:xfrm>
          <a:prstGeom prst="rect">
            <a:avLst/>
          </a:prstGeom>
          <a:noFill/>
          <a:ln/>
        </p:spPr>
        <p:txBody>
          <a:bodyPr wrap="square" lIns="0" tIns="0" rIns="0" bIns="0" rtlCol="0" anchor="b"/>
          <a:lstStyle/>
          <a:p>
            <a:pPr indent="0" marL="0">
              <a:buNone/>
            </a:pPr>
            <a:r>
              <a:rPr lang="en-US" sz="2200" b="1" dirty="0">
                <a:solidFill>
                  <a:schemeClr val="accent4"/>
                </a:solidFill>
              </a:rPr>
              <a:t>−5%</a:t>
            </a:r>
            <a:endParaRPr lang="en-US" sz="2200" dirty="0"/>
          </a:p>
        </p:txBody>
      </p:sp>
      <p:sp>
        <p:nvSpPr>
          <p:cNvPr id="11" name="text-326"/>
          <p:cNvSpPr txBox="1"/>
          <p:nvPr/>
        </p:nvSpPr>
        <p:spPr>
          <a:xfrm>
            <a:off x="777240" y="3355848"/>
            <a:ext cx="1600200" cy="228600"/>
          </a:xfrm>
          <a:prstGeom prst="rect">
            <a:avLst/>
          </a:prstGeom>
          <a:noFill/>
          <a:ln/>
        </p:spPr>
        <p:txBody>
          <a:bodyPr wrap="square" lIns="0" tIns="0" rIns="0" bIns="0" rtlCol="0" anchor="t"/>
          <a:lstStyle/>
          <a:p>
            <a:pPr indent="0" marL="0">
              <a:buNone/>
            </a:pPr>
            <a:r>
              <a:rPr lang="en-US" sz="950" dirty="0">
                <a:solidFill>
                  <a:schemeClr val="accent5"/>
                </a:solidFill>
              </a:rPr>
              <a:t>cost / 1,000 reached</a:t>
            </a:r>
            <a:endParaRPr lang="en-US" sz="950" dirty="0"/>
          </a:p>
        </p:txBody>
      </p:sp>
      <p:sp>
        <p:nvSpPr>
          <p:cNvPr id="12" name="text-327"/>
          <p:cNvSpPr txBox="1"/>
          <p:nvPr/>
        </p:nvSpPr>
        <p:spPr>
          <a:xfrm>
            <a:off x="2468880" y="3017520"/>
            <a:ext cx="3291840" cy="566928"/>
          </a:xfrm>
          <a:prstGeom prst="rect">
            <a:avLst/>
          </a:prstGeom>
          <a:noFill/>
          <a:ln/>
        </p:spPr>
        <p:txBody>
          <a:bodyPr wrap="square" lIns="0" tIns="0" rIns="0" bIns="0" rtlCol="0" anchor="ctr"/>
          <a:lstStyle/>
          <a:p>
            <a:pPr indent="0" marL="0">
              <a:buNone/>
            </a:pPr>
            <a:r>
              <a:rPr lang="en-US" sz="1150" dirty="0">
                <a:solidFill>
                  <a:schemeClr val="tx1"/>
                </a:solidFill>
              </a:rPr>
              <a:t>Reach campaigns: $0.71 → $0.67 at +26% reach</a:t>
            </a:r>
            <a:endParaRPr lang="en-US" sz="1150" dirty="0"/>
          </a:p>
        </p:txBody>
      </p:sp>
      <p:sp>
        <p:nvSpPr>
          <p:cNvPr id="13" name="text-328"/>
          <p:cNvSpPr txBox="1"/>
          <p:nvPr/>
        </p:nvSpPr>
        <p:spPr>
          <a:xfrm>
            <a:off x="777240" y="3730752"/>
            <a:ext cx="1645920" cy="384048"/>
          </a:xfrm>
          <a:prstGeom prst="rect">
            <a:avLst/>
          </a:prstGeom>
          <a:noFill/>
          <a:ln/>
        </p:spPr>
        <p:txBody>
          <a:bodyPr wrap="square" lIns="0" tIns="0" rIns="0" bIns="0" rtlCol="0" anchor="b"/>
          <a:lstStyle/>
          <a:p>
            <a:pPr indent="0" marL="0">
              <a:buNone/>
            </a:pPr>
            <a:r>
              <a:rPr lang="en-US" sz="2200" b="1" dirty="0">
                <a:solidFill>
                  <a:schemeClr val="accent4"/>
                </a:solidFill>
              </a:rPr>
              <a:t>+30%</a:t>
            </a:r>
            <a:endParaRPr lang="en-US" sz="2200" dirty="0"/>
          </a:p>
        </p:txBody>
      </p:sp>
      <p:sp>
        <p:nvSpPr>
          <p:cNvPr id="14" name="text-329"/>
          <p:cNvSpPr txBox="1"/>
          <p:nvPr/>
        </p:nvSpPr>
        <p:spPr>
          <a:xfrm>
            <a:off x="777240" y="4114800"/>
            <a:ext cx="1600200" cy="228600"/>
          </a:xfrm>
          <a:prstGeom prst="rect">
            <a:avLst/>
          </a:prstGeom>
          <a:noFill/>
          <a:ln/>
        </p:spPr>
        <p:txBody>
          <a:bodyPr wrap="square" lIns="0" tIns="0" rIns="0" bIns="0" rtlCol="0" anchor="t"/>
          <a:lstStyle/>
          <a:p>
            <a:pPr indent="0" marL="0">
              <a:buNone/>
            </a:pPr>
            <a:r>
              <a:rPr lang="en-US" sz="950" dirty="0">
                <a:solidFill>
                  <a:schemeClr val="accent5"/>
                </a:solidFill>
              </a:rPr>
              <a:t>reach</a:t>
            </a:r>
            <a:endParaRPr lang="en-US" sz="950" dirty="0"/>
          </a:p>
        </p:txBody>
      </p:sp>
      <p:sp>
        <p:nvSpPr>
          <p:cNvPr id="15" name="text-330"/>
          <p:cNvSpPr txBox="1"/>
          <p:nvPr/>
        </p:nvSpPr>
        <p:spPr>
          <a:xfrm>
            <a:off x="2468880" y="3776472"/>
            <a:ext cx="3291840" cy="566928"/>
          </a:xfrm>
          <a:prstGeom prst="rect">
            <a:avLst/>
          </a:prstGeom>
          <a:noFill/>
          <a:ln/>
        </p:spPr>
        <p:txBody>
          <a:bodyPr wrap="square" lIns="0" tIns="0" rIns="0" bIns="0" rtlCol="0" anchor="ctr"/>
          <a:lstStyle/>
          <a:p>
            <a:pPr indent="0" marL="0">
              <a:buNone/>
            </a:pPr>
            <a:r>
              <a:rPr lang="en-US" sz="1150" dirty="0">
                <a:solidFill>
                  <a:schemeClr val="tx1"/>
                </a:solidFill>
              </a:rPr>
              <a:t>Wider spread: frequency 1.75 → 1.40</a:t>
            </a:r>
            <a:endParaRPr lang="en-US" sz="1150" dirty="0"/>
          </a:p>
        </p:txBody>
      </p:sp>
      <p:sp>
        <p:nvSpPr>
          <p:cNvPr id="16" name="text-331"/>
          <p:cNvSpPr txBox="1"/>
          <p:nvPr/>
        </p:nvSpPr>
        <p:spPr>
          <a:xfrm>
            <a:off x="777240" y="4489704"/>
            <a:ext cx="1645920" cy="384048"/>
          </a:xfrm>
          <a:prstGeom prst="rect">
            <a:avLst/>
          </a:prstGeom>
          <a:noFill/>
          <a:ln/>
        </p:spPr>
        <p:txBody>
          <a:bodyPr wrap="square" lIns="0" tIns="0" rIns="0" bIns="0" rtlCol="0" anchor="b"/>
          <a:lstStyle/>
          <a:p>
            <a:pPr indent="0" marL="0">
              <a:buNone/>
            </a:pPr>
            <a:r>
              <a:rPr lang="en-US" sz="2200" b="1" dirty="0">
                <a:solidFill>
                  <a:schemeClr val="accent4"/>
                </a:solidFill>
              </a:rPr>
              <a:t>−13%</a:t>
            </a:r>
            <a:endParaRPr lang="en-US" sz="2200" dirty="0"/>
          </a:p>
        </p:txBody>
      </p:sp>
      <p:sp>
        <p:nvSpPr>
          <p:cNvPr id="17" name="text-332"/>
          <p:cNvSpPr txBox="1"/>
          <p:nvPr/>
        </p:nvSpPr>
        <p:spPr>
          <a:xfrm>
            <a:off x="777240" y="4873752"/>
            <a:ext cx="1600200" cy="228600"/>
          </a:xfrm>
          <a:prstGeom prst="rect">
            <a:avLst/>
          </a:prstGeom>
          <a:noFill/>
          <a:ln/>
        </p:spPr>
        <p:txBody>
          <a:bodyPr wrap="square" lIns="0" tIns="0" rIns="0" bIns="0" rtlCol="0" anchor="t"/>
          <a:lstStyle/>
          <a:p>
            <a:pPr indent="0" marL="0">
              <a:buNone/>
            </a:pPr>
            <a:r>
              <a:rPr lang="en-US" sz="950" dirty="0">
                <a:solidFill>
                  <a:schemeClr val="accent5"/>
                </a:solidFill>
              </a:rPr>
              <a:t>FIFA reach cost</a:t>
            </a:r>
            <a:endParaRPr lang="en-US" sz="950" dirty="0"/>
          </a:p>
        </p:txBody>
      </p:sp>
      <p:sp>
        <p:nvSpPr>
          <p:cNvPr id="18" name="text-333"/>
          <p:cNvSpPr txBox="1"/>
          <p:nvPr/>
        </p:nvSpPr>
        <p:spPr>
          <a:xfrm>
            <a:off x="2468880" y="4535424"/>
            <a:ext cx="3291840" cy="566928"/>
          </a:xfrm>
          <a:prstGeom prst="rect">
            <a:avLst/>
          </a:prstGeom>
          <a:noFill/>
          <a:ln/>
        </p:spPr>
        <p:txBody>
          <a:bodyPr wrap="square" lIns="0" tIns="0" rIns="0" bIns="0" rtlCol="0" anchor="ctr"/>
          <a:lstStyle/>
          <a:p>
            <a:pPr indent="0" marL="0">
              <a:buNone/>
            </a:pPr>
            <a:r>
              <a:rPr lang="en-US" sz="1150" dirty="0">
                <a:solidFill>
                  <a:schemeClr val="tx1"/>
                </a:solidFill>
              </a:rPr>
              <a:t>Grimace −38%, Mixology −17%</a:t>
            </a:r>
            <a:endParaRPr lang="en-US" sz="1150" dirty="0"/>
          </a:p>
        </p:txBody>
      </p:sp>
      <p:sp>
        <p:nvSpPr>
          <p:cNvPr id="19" name="text-334"/>
          <p:cNvSpPr txBox="1"/>
          <p:nvPr/>
        </p:nvSpPr>
        <p:spPr>
          <a:xfrm>
            <a:off x="777240" y="5248656"/>
            <a:ext cx="1645920" cy="384048"/>
          </a:xfrm>
          <a:prstGeom prst="rect">
            <a:avLst/>
          </a:prstGeom>
          <a:noFill/>
          <a:ln/>
        </p:spPr>
        <p:txBody>
          <a:bodyPr wrap="square" lIns="0" tIns="0" rIns="0" bIns="0" rtlCol="0" anchor="b"/>
          <a:lstStyle/>
          <a:p>
            <a:pPr indent="0" marL="0">
              <a:buNone/>
            </a:pPr>
            <a:r>
              <a:rPr lang="en-US" sz="2200" b="1" dirty="0">
                <a:solidFill>
                  <a:schemeClr val="accent4"/>
                </a:solidFill>
              </a:rPr>
              <a:t>31</a:t>
            </a:r>
            <a:endParaRPr lang="en-US" sz="2200" dirty="0"/>
          </a:p>
        </p:txBody>
      </p:sp>
      <p:sp>
        <p:nvSpPr>
          <p:cNvPr id="20" name="text-335"/>
          <p:cNvSpPr txBox="1"/>
          <p:nvPr/>
        </p:nvSpPr>
        <p:spPr>
          <a:xfrm>
            <a:off x="777240" y="5632704"/>
            <a:ext cx="1600200" cy="228600"/>
          </a:xfrm>
          <a:prstGeom prst="rect">
            <a:avLst/>
          </a:prstGeom>
          <a:noFill/>
          <a:ln/>
        </p:spPr>
        <p:txBody>
          <a:bodyPr wrap="square" lIns="0" tIns="0" rIns="0" bIns="0" rtlCol="0" anchor="t"/>
          <a:lstStyle/>
          <a:p>
            <a:pPr indent="0" marL="0">
              <a:buNone/>
            </a:pPr>
            <a:r>
              <a:rPr lang="en-US" sz="950" dirty="0">
                <a:solidFill>
                  <a:schemeClr val="accent5"/>
                </a:solidFill>
              </a:rPr>
              <a:t>product-led campaigns</a:t>
            </a:r>
            <a:endParaRPr lang="en-US" sz="950" dirty="0"/>
          </a:p>
        </p:txBody>
      </p:sp>
      <p:sp>
        <p:nvSpPr>
          <p:cNvPr id="21" name="text-336"/>
          <p:cNvSpPr txBox="1"/>
          <p:nvPr/>
        </p:nvSpPr>
        <p:spPr>
          <a:xfrm>
            <a:off x="2468880" y="5294376"/>
            <a:ext cx="3291840" cy="566928"/>
          </a:xfrm>
          <a:prstGeom prst="rect">
            <a:avLst/>
          </a:prstGeom>
          <a:noFill/>
          <a:ln/>
        </p:spPr>
        <p:txBody>
          <a:bodyPr wrap="square" lIns="0" tIns="0" rIns="0" bIns="0" rtlCol="0" anchor="ctr"/>
          <a:lstStyle/>
          <a:p>
            <a:pPr indent="0" marL="0">
              <a:buNone/>
            </a:pPr>
            <a:r>
              <a:rPr lang="en-US" sz="1150" dirty="0">
                <a:solidFill>
                  <a:schemeClr val="tx1"/>
                </a:solidFill>
              </a:rPr>
              <a:t>58 audience-named ad sets; new link-click and app-install tests</a:t>
            </a:r>
            <a:endParaRPr lang="en-US" sz="1150" dirty="0"/>
          </a:p>
        </p:txBody>
      </p:sp>
      <p:sp>
        <p:nvSpPr>
          <p:cNvPr id="22" name="card-337"/>
          <p:cNvSpPr/>
          <p:nvPr/>
        </p:nvSpPr>
        <p:spPr>
          <a:xfrm>
            <a:off x="6236208" y="1737360"/>
            <a:ext cx="5404104" cy="4315968"/>
          </a:xfrm>
          <a:prstGeom prst="roundRect">
            <a:avLst>
              <a:gd name="adj" fmla="val 2542"/>
            </a:avLst>
          </a:prstGeom>
          <a:solidFill>
            <a:schemeClr val="accent6"/>
          </a:solidFill>
          <a:ln/>
        </p:spPr>
      </p:sp>
      <p:sp>
        <p:nvSpPr>
          <p:cNvPr id="23" name="text-338"/>
          <p:cNvSpPr txBox="1"/>
          <p:nvPr/>
        </p:nvSpPr>
        <p:spPr>
          <a:xfrm>
            <a:off x="6464808" y="1856232"/>
            <a:ext cx="493776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OPPORTUNITIES &amp; LEARNINGS</a:t>
            </a:r>
            <a:endParaRPr lang="en-US" sz="1100" dirty="0"/>
          </a:p>
        </p:txBody>
      </p:sp>
      <p:sp>
        <p:nvSpPr>
          <p:cNvPr id="24" name="text-339"/>
          <p:cNvSpPr txBox="1"/>
          <p:nvPr/>
        </p:nvSpPr>
        <p:spPr>
          <a:xfrm>
            <a:off x="6464808" y="2212848"/>
            <a:ext cx="1645920" cy="384048"/>
          </a:xfrm>
          <a:prstGeom prst="rect">
            <a:avLst/>
          </a:prstGeom>
          <a:noFill/>
          <a:ln/>
        </p:spPr>
        <p:txBody>
          <a:bodyPr wrap="square" lIns="0" tIns="0" rIns="0" bIns="0" rtlCol="0" anchor="b"/>
          <a:lstStyle/>
          <a:p>
            <a:pPr indent="0" marL="0">
              <a:buNone/>
            </a:pPr>
            <a:r>
              <a:rPr lang="en-US" sz="2200" b="1" dirty="0">
                <a:solidFill>
                  <a:schemeClr val="accent1"/>
                </a:solidFill>
              </a:rPr>
              <a:t>+28%</a:t>
            </a:r>
            <a:endParaRPr lang="en-US" sz="2200" dirty="0"/>
          </a:p>
        </p:txBody>
      </p:sp>
      <p:sp>
        <p:nvSpPr>
          <p:cNvPr id="25" name="text-340"/>
          <p:cNvSpPr txBox="1"/>
          <p:nvPr/>
        </p:nvSpPr>
        <p:spPr>
          <a:xfrm>
            <a:off x="6464808" y="2596896"/>
            <a:ext cx="1600200" cy="228600"/>
          </a:xfrm>
          <a:prstGeom prst="rect">
            <a:avLst/>
          </a:prstGeom>
          <a:noFill/>
          <a:ln/>
        </p:spPr>
        <p:txBody>
          <a:bodyPr wrap="square" lIns="0" tIns="0" rIns="0" bIns="0" rtlCol="0" anchor="t"/>
          <a:lstStyle/>
          <a:p>
            <a:pPr indent="0" marL="0">
              <a:buNone/>
            </a:pPr>
            <a:r>
              <a:rPr lang="en-US" sz="950" dirty="0">
                <a:solidFill>
                  <a:schemeClr val="accent5"/>
                </a:solidFill>
              </a:rPr>
              <a:t>CPM</a:t>
            </a:r>
            <a:endParaRPr lang="en-US" sz="950" dirty="0"/>
          </a:p>
        </p:txBody>
      </p:sp>
      <p:sp>
        <p:nvSpPr>
          <p:cNvPr id="26" name="text-341"/>
          <p:cNvSpPr txBox="1"/>
          <p:nvPr/>
        </p:nvSpPr>
        <p:spPr>
          <a:xfrm>
            <a:off x="8156448" y="2258568"/>
            <a:ext cx="3291840" cy="566928"/>
          </a:xfrm>
          <a:prstGeom prst="rect">
            <a:avLst/>
          </a:prstGeom>
          <a:noFill/>
          <a:ln/>
        </p:spPr>
        <p:txBody>
          <a:bodyPr wrap="square" lIns="0" tIns="0" rIns="0" bIns="0" rtlCol="0" anchor="ctr"/>
          <a:lstStyle/>
          <a:p>
            <a:pPr indent="0" marL="0">
              <a:buNone/>
            </a:pPr>
            <a:r>
              <a:rPr lang="en-US" sz="1150" dirty="0">
                <a:solidFill>
                  <a:schemeClr val="tx1"/>
                </a:solidFill>
              </a:rPr>
              <a:t>$0.45 → $0.57; Reach-campaign CPM +23%</a:t>
            </a:r>
            <a:endParaRPr lang="en-US" sz="1150" dirty="0"/>
          </a:p>
        </p:txBody>
      </p:sp>
      <p:sp>
        <p:nvSpPr>
          <p:cNvPr id="27" name="text-342"/>
          <p:cNvSpPr txBox="1"/>
          <p:nvPr/>
        </p:nvSpPr>
        <p:spPr>
          <a:xfrm>
            <a:off x="6464808" y="2971800"/>
            <a:ext cx="1645920" cy="384048"/>
          </a:xfrm>
          <a:prstGeom prst="rect">
            <a:avLst/>
          </a:prstGeom>
          <a:noFill/>
          <a:ln/>
        </p:spPr>
        <p:txBody>
          <a:bodyPr wrap="square" lIns="0" tIns="0" rIns="0" bIns="0" rtlCol="0" anchor="b"/>
          <a:lstStyle/>
          <a:p>
            <a:pPr indent="0" marL="0">
              <a:buNone/>
            </a:pPr>
            <a:r>
              <a:rPr lang="en-US" sz="2200" b="1" dirty="0">
                <a:solidFill>
                  <a:schemeClr val="accent1"/>
                </a:solidFill>
              </a:rPr>
              <a:t>+35%</a:t>
            </a:r>
            <a:endParaRPr lang="en-US" sz="2200" dirty="0"/>
          </a:p>
        </p:txBody>
      </p:sp>
      <p:sp>
        <p:nvSpPr>
          <p:cNvPr id="28" name="text-343"/>
          <p:cNvSpPr txBox="1"/>
          <p:nvPr/>
        </p:nvSpPr>
        <p:spPr>
          <a:xfrm>
            <a:off x="6464808" y="3355848"/>
            <a:ext cx="1600200" cy="228600"/>
          </a:xfrm>
          <a:prstGeom prst="rect">
            <a:avLst/>
          </a:prstGeom>
          <a:noFill/>
          <a:ln/>
        </p:spPr>
        <p:txBody>
          <a:bodyPr wrap="square" lIns="0" tIns="0" rIns="0" bIns="0" rtlCol="0" anchor="t"/>
          <a:lstStyle/>
          <a:p>
            <a:pPr indent="0" marL="0">
              <a:buNone/>
            </a:pPr>
            <a:r>
              <a:rPr lang="en-US" sz="950" dirty="0">
                <a:solidFill>
                  <a:schemeClr val="accent5"/>
                </a:solidFill>
              </a:rPr>
              <a:t>cost / engagement</a:t>
            </a:r>
            <a:endParaRPr lang="en-US" sz="950" dirty="0"/>
          </a:p>
        </p:txBody>
      </p:sp>
      <p:sp>
        <p:nvSpPr>
          <p:cNvPr id="29" name="text-344"/>
          <p:cNvSpPr txBox="1"/>
          <p:nvPr/>
        </p:nvSpPr>
        <p:spPr>
          <a:xfrm>
            <a:off x="8156448" y="3017520"/>
            <a:ext cx="3291840" cy="566928"/>
          </a:xfrm>
          <a:prstGeom prst="rect">
            <a:avLst/>
          </a:prstGeom>
          <a:noFill/>
          <a:ln/>
        </p:spPr>
        <p:txBody>
          <a:bodyPr wrap="square" lIns="0" tIns="0" rIns="0" bIns="0" rtlCol="0" anchor="ctr"/>
          <a:lstStyle/>
          <a:p>
            <a:pPr indent="0" marL="0">
              <a:buNone/>
            </a:pPr>
            <a:r>
              <a:rPr lang="en-US" sz="1150" dirty="0">
                <a:solidFill>
                  <a:schemeClr val="tx1"/>
                </a:solidFill>
              </a:rPr>
              <a:t>Engagements −2% and 3s plays −2% on more budget</a:t>
            </a:r>
            <a:endParaRPr lang="en-US" sz="1150" dirty="0"/>
          </a:p>
        </p:txBody>
      </p:sp>
      <p:sp>
        <p:nvSpPr>
          <p:cNvPr id="30" name="text-345"/>
          <p:cNvSpPr txBox="1"/>
          <p:nvPr/>
        </p:nvSpPr>
        <p:spPr>
          <a:xfrm>
            <a:off x="6464808" y="3730752"/>
            <a:ext cx="1645920" cy="384048"/>
          </a:xfrm>
          <a:prstGeom prst="rect">
            <a:avLst/>
          </a:prstGeom>
          <a:noFill/>
          <a:ln/>
        </p:spPr>
        <p:txBody>
          <a:bodyPr wrap="square" lIns="0" tIns="0" rIns="0" bIns="0" rtlCol="0" anchor="b"/>
          <a:lstStyle/>
          <a:p>
            <a:pPr indent="0" marL="0">
              <a:buNone/>
            </a:pPr>
            <a:r>
              <a:rPr lang="en-US" sz="2200" b="1" dirty="0">
                <a:solidFill>
                  <a:schemeClr val="accent1"/>
                </a:solidFill>
              </a:rPr>
              <a:t>$8.5K</a:t>
            </a:r>
            <a:endParaRPr lang="en-US" sz="2200" dirty="0"/>
          </a:p>
        </p:txBody>
      </p:sp>
      <p:sp>
        <p:nvSpPr>
          <p:cNvPr id="31" name="text-346"/>
          <p:cNvSpPr txBox="1"/>
          <p:nvPr/>
        </p:nvSpPr>
        <p:spPr>
          <a:xfrm>
            <a:off x="6464808" y="4114800"/>
            <a:ext cx="1600200" cy="228600"/>
          </a:xfrm>
          <a:prstGeom prst="rect">
            <a:avLst/>
          </a:prstGeom>
          <a:noFill/>
          <a:ln/>
        </p:spPr>
        <p:txBody>
          <a:bodyPr wrap="square" lIns="0" tIns="0" rIns="0" bIns="0" rtlCol="0" anchor="t"/>
          <a:lstStyle/>
          <a:p>
            <a:pPr indent="0" marL="0">
              <a:buNone/>
            </a:pPr>
            <a:r>
              <a:rPr lang="en-US" sz="950" dirty="0">
                <a:solidFill>
                  <a:schemeClr val="accent5"/>
                </a:solidFill>
              </a:rPr>
              <a:t>high-frequency reach</a:t>
            </a:r>
            <a:endParaRPr lang="en-US" sz="950" dirty="0"/>
          </a:p>
        </p:txBody>
      </p:sp>
      <p:sp>
        <p:nvSpPr>
          <p:cNvPr id="32" name="text-347"/>
          <p:cNvSpPr txBox="1"/>
          <p:nvPr/>
        </p:nvSpPr>
        <p:spPr>
          <a:xfrm>
            <a:off x="8156448" y="3776472"/>
            <a:ext cx="3291840" cy="566928"/>
          </a:xfrm>
          <a:prstGeom prst="rect">
            <a:avLst/>
          </a:prstGeom>
          <a:noFill/>
          <a:ln/>
        </p:spPr>
        <p:txBody>
          <a:bodyPr wrap="square" lIns="0" tIns="0" rIns="0" bIns="0" rtlCol="0" anchor="ctr"/>
          <a:lstStyle/>
          <a:p>
            <a:pPr indent="0" marL="0">
              <a:buNone/>
            </a:pPr>
            <a:r>
              <a:rPr lang="en-US" sz="1150" dirty="0">
                <a:solidFill>
                  <a:schemeClr val="tx1"/>
                </a:solidFill>
              </a:rPr>
              <a:t>Sept Entry Level + Happy Meal at $1.21–$1.88 per 1,000 reached</a:t>
            </a:r>
            <a:endParaRPr lang="en-US" sz="1150" dirty="0"/>
          </a:p>
        </p:txBody>
      </p:sp>
      <p:sp>
        <p:nvSpPr>
          <p:cNvPr id="33" name="text-348"/>
          <p:cNvSpPr txBox="1"/>
          <p:nvPr/>
        </p:nvSpPr>
        <p:spPr>
          <a:xfrm>
            <a:off x="6464808" y="4489704"/>
            <a:ext cx="1645920" cy="384048"/>
          </a:xfrm>
          <a:prstGeom prst="rect">
            <a:avLst/>
          </a:prstGeom>
          <a:noFill/>
          <a:ln/>
        </p:spPr>
        <p:txBody>
          <a:bodyPr wrap="square" lIns="0" tIns="0" rIns="0" bIns="0" rtlCol="0" anchor="b"/>
          <a:lstStyle/>
          <a:p>
            <a:pPr indent="0" marL="0">
              <a:buNone/>
            </a:pPr>
            <a:r>
              <a:rPr lang="en-US" sz="2200" b="1" dirty="0">
                <a:solidFill>
                  <a:schemeClr val="accent1"/>
                </a:solidFill>
              </a:rPr>
              <a:t>6.2×</a:t>
            </a:r>
            <a:endParaRPr lang="en-US" sz="2200" dirty="0"/>
          </a:p>
        </p:txBody>
      </p:sp>
      <p:sp>
        <p:nvSpPr>
          <p:cNvPr id="34" name="text-349"/>
          <p:cNvSpPr txBox="1"/>
          <p:nvPr/>
        </p:nvSpPr>
        <p:spPr>
          <a:xfrm>
            <a:off x="6464808" y="4873752"/>
            <a:ext cx="1600200" cy="228600"/>
          </a:xfrm>
          <a:prstGeom prst="rect">
            <a:avLst/>
          </a:prstGeom>
          <a:noFill/>
          <a:ln/>
        </p:spPr>
        <p:txBody>
          <a:bodyPr wrap="square" lIns="0" tIns="0" rIns="0" bIns="0" rtlCol="0" anchor="t"/>
          <a:lstStyle/>
          <a:p>
            <a:pPr indent="0" marL="0">
              <a:buNone/>
            </a:pPr>
            <a:r>
              <a:rPr lang="en-US" sz="950" dirty="0">
                <a:solidFill>
                  <a:schemeClr val="accent5"/>
                </a:solidFill>
              </a:rPr>
              <a:t>cost / engagement</a:t>
            </a:r>
            <a:endParaRPr lang="en-US" sz="950" dirty="0"/>
          </a:p>
        </p:txBody>
      </p:sp>
      <p:sp>
        <p:nvSpPr>
          <p:cNvPr id="35" name="text-350"/>
          <p:cNvSpPr txBox="1"/>
          <p:nvPr/>
        </p:nvSpPr>
        <p:spPr>
          <a:xfrm>
            <a:off x="8156448" y="4535424"/>
            <a:ext cx="3291840" cy="566928"/>
          </a:xfrm>
          <a:prstGeom prst="rect">
            <a:avLst/>
          </a:prstGeom>
          <a:noFill/>
          <a:ln/>
        </p:spPr>
        <p:txBody>
          <a:bodyPr wrap="square" lIns="0" tIns="0" rIns="0" bIns="0" rtlCol="0" anchor="ctr"/>
          <a:lstStyle/>
          <a:p>
            <a:pPr indent="0" marL="0">
              <a:buNone/>
            </a:pPr>
            <a:r>
              <a:rPr lang="en-US" sz="1150" dirty="0">
                <a:solidFill>
                  <a:schemeClr val="tx1"/>
                </a:solidFill>
              </a:rPr>
              <a:t>Interactions goal vs Post-engagement goal ($4.6K spend)</a:t>
            </a:r>
            <a:endParaRPr lang="en-US" sz="1150" dirty="0"/>
          </a:p>
        </p:txBody>
      </p:sp>
      <p:sp>
        <p:nvSpPr>
          <p:cNvPr id="36" name="text-351"/>
          <p:cNvSpPr txBox="1"/>
          <p:nvPr/>
        </p:nvSpPr>
        <p:spPr>
          <a:xfrm>
            <a:off x="6464808" y="5248656"/>
            <a:ext cx="1645920" cy="384048"/>
          </a:xfrm>
          <a:prstGeom prst="rect">
            <a:avLst/>
          </a:prstGeom>
          <a:noFill/>
          <a:ln/>
        </p:spPr>
        <p:txBody>
          <a:bodyPr wrap="square" lIns="0" tIns="0" rIns="0" bIns="0" rtlCol="0" anchor="b"/>
          <a:lstStyle/>
          <a:p>
            <a:pPr indent="0" marL="0">
              <a:buNone/>
            </a:pPr>
            <a:r>
              <a:rPr lang="en-US" sz="1700" b="1" dirty="0">
                <a:solidFill>
                  <a:schemeClr val="accent1"/>
                </a:solidFill>
              </a:rPr>
              <a:t>+32% / +43%</a:t>
            </a:r>
            <a:endParaRPr lang="en-US" sz="1700" dirty="0"/>
          </a:p>
        </p:txBody>
      </p:sp>
      <p:sp>
        <p:nvSpPr>
          <p:cNvPr id="37" name="text-352"/>
          <p:cNvSpPr txBox="1"/>
          <p:nvPr/>
        </p:nvSpPr>
        <p:spPr>
          <a:xfrm>
            <a:off x="6464808" y="5632704"/>
            <a:ext cx="1600200" cy="228600"/>
          </a:xfrm>
          <a:prstGeom prst="rect">
            <a:avLst/>
          </a:prstGeom>
          <a:noFill/>
          <a:ln/>
        </p:spPr>
        <p:txBody>
          <a:bodyPr wrap="square" lIns="0" tIns="0" rIns="0" bIns="0" rtlCol="0" anchor="t"/>
          <a:lstStyle/>
          <a:p>
            <a:pPr indent="0" marL="0">
              <a:buNone/>
            </a:pPr>
            <a:r>
              <a:rPr lang="en-US" sz="950" dirty="0">
                <a:solidFill>
                  <a:schemeClr val="accent5"/>
                </a:solidFill>
              </a:rPr>
              <a:t>reach cost</a:t>
            </a:r>
            <a:endParaRPr lang="en-US" sz="950" dirty="0"/>
          </a:p>
        </p:txBody>
      </p:sp>
      <p:sp>
        <p:nvSpPr>
          <p:cNvPr id="38" name="text-353"/>
          <p:cNvSpPr txBox="1"/>
          <p:nvPr/>
        </p:nvSpPr>
        <p:spPr>
          <a:xfrm>
            <a:off x="8156448" y="5294376"/>
            <a:ext cx="3291840" cy="566928"/>
          </a:xfrm>
          <a:prstGeom prst="rect">
            <a:avLst/>
          </a:prstGeom>
          <a:noFill/>
          <a:ln/>
        </p:spPr>
        <p:txBody>
          <a:bodyPr wrap="square" lIns="0" tIns="0" rIns="0" bIns="0" rtlCol="0" anchor="ctr"/>
          <a:lstStyle/>
          <a:p>
            <a:pPr indent="0" marL="0">
              <a:buNone/>
            </a:pPr>
            <a:r>
              <a:rPr lang="en-US" sz="1150" dirty="0">
                <a:solidFill>
                  <a:schemeClr val="tx1"/>
                </a:solidFill>
              </a:rPr>
              <a:t>Chicken / McCafé vs their Q2 equivalents</a:t>
            </a:r>
            <a:endParaRPr lang="en-US" sz="1150" dirty="0"/>
          </a:p>
        </p:txBody>
      </p:sp>
      <p:sp>
        <p:nvSpPr>
          <p:cNvPr id="39" name="text-354"/>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Source: Meta Ads Manager ad-level exports – BEFORE 1 Apr–30 Jun 2026 (77 ads), AFTER 1 Jul–30 Sep 2026 (106 ads). Rates recalculated from totals (weighted), not averaged.</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 · Q4 2026</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Q4 priorities: keep the click and reach gains, bring down the cost of attention</a:t>
            </a:r>
            <a:endParaRPr lang="en-US" sz="2600" dirty="0"/>
          </a:p>
        </p:txBody>
      </p:sp>
      <p:sp>
        <p:nvSpPr>
          <p:cNvPr id="4" name="arch-motif-355"/>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card-356"/>
          <p:cNvSpPr/>
          <p:nvPr/>
        </p:nvSpPr>
        <p:spPr>
          <a:xfrm>
            <a:off x="548640" y="1783080"/>
            <a:ext cx="3593592" cy="2029968"/>
          </a:xfrm>
          <a:prstGeom prst="roundRect">
            <a:avLst>
              <a:gd name="adj" fmla="val 5405"/>
            </a:avLst>
          </a:prstGeom>
          <a:solidFill>
            <a:schemeClr val="accent6"/>
          </a:solidFill>
          <a:ln/>
        </p:spPr>
      </p:sp>
      <p:sp>
        <p:nvSpPr>
          <p:cNvPr id="6" name="num-357"/>
          <p:cNvSpPr txBox="1"/>
          <p:nvPr/>
        </p:nvSpPr>
        <p:spPr>
          <a:xfrm>
            <a:off x="749808" y="1984248"/>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358"/>
          <p:cNvSpPr txBox="1"/>
          <p:nvPr/>
        </p:nvSpPr>
        <p:spPr>
          <a:xfrm>
            <a:off x="1325880" y="1965960"/>
            <a:ext cx="2633472" cy="530352"/>
          </a:xfrm>
          <a:prstGeom prst="rect">
            <a:avLst/>
          </a:prstGeom>
          <a:noFill/>
          <a:ln/>
        </p:spPr>
        <p:txBody>
          <a:bodyPr wrap="square" lIns="0" tIns="0" rIns="0" bIns="0" rtlCol="0" anchor="ctr"/>
          <a:lstStyle/>
          <a:p>
            <a:pPr indent="0" marL="0">
              <a:buNone/>
            </a:pPr>
            <a:r>
              <a:rPr lang="en-US" sz="1400" b="1" dirty="0">
                <a:solidFill>
                  <a:schemeClr val="tx1"/>
                </a:solidFill>
              </a:rPr>
              <a:t>Put frequency guardrails on Reach flights</a:t>
            </a:r>
            <a:endParaRPr lang="en-US" sz="1400" dirty="0"/>
          </a:p>
        </p:txBody>
      </p:sp>
      <p:sp>
        <p:nvSpPr>
          <p:cNvPr id="8" name="text-359"/>
          <p:cNvSpPr txBox="1"/>
          <p:nvPr/>
        </p:nvSpPr>
        <p:spPr>
          <a:xfrm>
            <a:off x="749808" y="2606040"/>
            <a:ext cx="3191256" cy="1143000"/>
          </a:xfrm>
          <a:prstGeom prst="rect">
            <a:avLst/>
          </a:prstGeom>
          <a:noFill/>
          <a:ln/>
        </p:spPr>
        <p:txBody>
          <a:bodyPr wrap="square" lIns="0" tIns="0" rIns="0" bIns="0" rtlCol="0" anchor="t"/>
          <a:lstStyle/>
          <a:p>
            <a:pPr indent="0" marL="0">
              <a:buNone/>
            </a:pPr>
            <a:r>
              <a:rPr lang="en-US" sz="1100" dirty="0">
                <a:solidFill>
                  <a:schemeClr val="tx2"/>
                </a:solidFill>
              </a:rPr>
              <a:t>Refresh creative or audience once an ad set passes ~2.0 frequency. September Happy Meal and Entry Level ran at 2.3–2.6 and cost $1.21–$1.88 per 1,000 reached vs $0.67 average.</a:t>
            </a:r>
            <a:endParaRPr lang="en-US" sz="1100" dirty="0"/>
          </a:p>
        </p:txBody>
      </p:sp>
      <p:sp>
        <p:nvSpPr>
          <p:cNvPr id="9" name="card-360"/>
          <p:cNvSpPr/>
          <p:nvPr/>
        </p:nvSpPr>
        <p:spPr>
          <a:xfrm>
            <a:off x="4297680" y="1783080"/>
            <a:ext cx="3593592" cy="2029968"/>
          </a:xfrm>
          <a:prstGeom prst="roundRect">
            <a:avLst>
              <a:gd name="adj" fmla="val 5405"/>
            </a:avLst>
          </a:prstGeom>
          <a:solidFill>
            <a:schemeClr val="accent6"/>
          </a:solidFill>
          <a:ln/>
        </p:spPr>
      </p:sp>
      <p:sp>
        <p:nvSpPr>
          <p:cNvPr id="10" name="num-361"/>
          <p:cNvSpPr txBox="1"/>
          <p:nvPr/>
        </p:nvSpPr>
        <p:spPr>
          <a:xfrm>
            <a:off x="4498848" y="1984248"/>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362"/>
          <p:cNvSpPr txBox="1"/>
          <p:nvPr/>
        </p:nvSpPr>
        <p:spPr>
          <a:xfrm>
            <a:off x="5074920" y="1965960"/>
            <a:ext cx="2633472" cy="530352"/>
          </a:xfrm>
          <a:prstGeom prst="rect">
            <a:avLst/>
          </a:prstGeom>
          <a:noFill/>
          <a:ln/>
        </p:spPr>
        <p:txBody>
          <a:bodyPr wrap="square" lIns="0" tIns="0" rIns="0" bIns="0" rtlCol="0" anchor="ctr"/>
          <a:lstStyle/>
          <a:p>
            <a:pPr indent="0" marL="0">
              <a:buNone/>
            </a:pPr>
            <a:r>
              <a:rPr lang="en-US" sz="1400" b="1" dirty="0">
                <a:solidFill>
                  <a:schemeClr val="tx1"/>
                </a:solidFill>
              </a:rPr>
              <a:t>Re-test the Interactions goal</a:t>
            </a:r>
            <a:endParaRPr lang="en-US" sz="1400" dirty="0"/>
          </a:p>
        </p:txBody>
      </p:sp>
      <p:sp>
        <p:nvSpPr>
          <p:cNvPr id="12" name="text-363"/>
          <p:cNvSpPr txBox="1"/>
          <p:nvPr/>
        </p:nvSpPr>
        <p:spPr>
          <a:xfrm>
            <a:off x="4498848" y="2606040"/>
            <a:ext cx="3191256" cy="1143000"/>
          </a:xfrm>
          <a:prstGeom prst="rect">
            <a:avLst/>
          </a:prstGeom>
          <a:noFill/>
          <a:ln/>
        </p:spPr>
        <p:txBody>
          <a:bodyPr wrap="square" lIns="0" tIns="0" rIns="0" bIns="0" rtlCol="0" anchor="t"/>
          <a:lstStyle/>
          <a:p>
            <a:pPr indent="0" marL="0">
              <a:buNone/>
            </a:pPr>
            <a:r>
              <a:rPr lang="en-US" sz="1100" dirty="0">
                <a:solidFill>
                  <a:schemeClr val="tx2"/>
                </a:solidFill>
              </a:rPr>
              <a:t>$4.6K bought engagement at $16.39 per 1,000 vs $2.64 with the Post-engagement goal. Run a head-to-head before scaling.</a:t>
            </a:r>
            <a:endParaRPr lang="en-US" sz="1100" dirty="0"/>
          </a:p>
        </p:txBody>
      </p:sp>
      <p:sp>
        <p:nvSpPr>
          <p:cNvPr id="13" name="card-364"/>
          <p:cNvSpPr/>
          <p:nvPr/>
        </p:nvSpPr>
        <p:spPr>
          <a:xfrm>
            <a:off x="8046720" y="1783080"/>
            <a:ext cx="3593592" cy="2029968"/>
          </a:xfrm>
          <a:prstGeom prst="roundRect">
            <a:avLst>
              <a:gd name="adj" fmla="val 5405"/>
            </a:avLst>
          </a:prstGeom>
          <a:solidFill>
            <a:schemeClr val="bg2"/>
          </a:solidFill>
          <a:ln/>
        </p:spPr>
      </p:sp>
      <p:sp>
        <p:nvSpPr>
          <p:cNvPr id="14" name="num-365"/>
          <p:cNvSpPr txBox="1"/>
          <p:nvPr/>
        </p:nvSpPr>
        <p:spPr>
          <a:xfrm>
            <a:off x="8247888" y="1984248"/>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5" name="text-366"/>
          <p:cNvSpPr txBox="1"/>
          <p:nvPr/>
        </p:nvSpPr>
        <p:spPr>
          <a:xfrm>
            <a:off x="8823960" y="1965960"/>
            <a:ext cx="2633472" cy="530352"/>
          </a:xfrm>
          <a:prstGeom prst="rect">
            <a:avLst/>
          </a:prstGeom>
          <a:noFill/>
          <a:ln/>
        </p:spPr>
        <p:txBody>
          <a:bodyPr wrap="square" lIns="0" tIns="0" rIns="0" bIns="0" rtlCol="0" anchor="ctr"/>
          <a:lstStyle/>
          <a:p>
            <a:pPr indent="0" marL="0">
              <a:buNone/>
            </a:pPr>
            <a:r>
              <a:rPr lang="en-US" sz="1400" b="1" dirty="0">
                <a:solidFill>
                  <a:schemeClr val="tx1"/>
                </a:solidFill>
              </a:rPr>
              <a:t>Scale the click winners</a:t>
            </a:r>
            <a:endParaRPr lang="en-US" sz="1400" dirty="0"/>
          </a:p>
        </p:txBody>
      </p:sp>
      <p:sp>
        <p:nvSpPr>
          <p:cNvPr id="16" name="text-367"/>
          <p:cNvSpPr txBox="1"/>
          <p:nvPr/>
        </p:nvSpPr>
        <p:spPr>
          <a:xfrm>
            <a:off x="8247888" y="2606040"/>
            <a:ext cx="3191256" cy="1143000"/>
          </a:xfrm>
          <a:prstGeom prst="rect">
            <a:avLst/>
          </a:prstGeom>
          <a:noFill/>
          <a:ln/>
        </p:spPr>
        <p:txBody>
          <a:bodyPr wrap="square" lIns="0" tIns="0" rIns="0" bIns="0" rtlCol="0" anchor="t"/>
          <a:lstStyle/>
          <a:p>
            <a:pPr indent="0" marL="0">
              <a:buNone/>
            </a:pPr>
            <a:r>
              <a:rPr lang="en-US" sz="1100" dirty="0">
                <a:solidFill>
                  <a:schemeClr val="tx2"/>
                </a:solidFill>
              </a:rPr>
              <a:t>Spiderman GenZ menu creatives delivered 0.32–0.55% link CTR. Brief Chicken, McCafé and value offers in the same menu / offer-led style.</a:t>
            </a:r>
            <a:endParaRPr lang="en-US" sz="1100" dirty="0"/>
          </a:p>
        </p:txBody>
      </p:sp>
      <p:sp>
        <p:nvSpPr>
          <p:cNvPr id="17" name="card-368"/>
          <p:cNvSpPr/>
          <p:nvPr/>
        </p:nvSpPr>
        <p:spPr>
          <a:xfrm>
            <a:off x="548640" y="3959352"/>
            <a:ext cx="3593592" cy="2029968"/>
          </a:xfrm>
          <a:prstGeom prst="roundRect">
            <a:avLst>
              <a:gd name="adj" fmla="val 5405"/>
            </a:avLst>
          </a:prstGeom>
          <a:solidFill>
            <a:schemeClr val="bg2"/>
          </a:solidFill>
          <a:ln/>
        </p:spPr>
      </p:sp>
      <p:sp>
        <p:nvSpPr>
          <p:cNvPr id="18" name="num-369"/>
          <p:cNvSpPr txBox="1"/>
          <p:nvPr/>
        </p:nvSpPr>
        <p:spPr>
          <a:xfrm>
            <a:off x="749808" y="416052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9" name="text-370"/>
          <p:cNvSpPr txBox="1"/>
          <p:nvPr/>
        </p:nvSpPr>
        <p:spPr>
          <a:xfrm>
            <a:off x="1325880" y="4142232"/>
            <a:ext cx="2633472" cy="530352"/>
          </a:xfrm>
          <a:prstGeom prst="rect">
            <a:avLst/>
          </a:prstGeom>
          <a:noFill/>
          <a:ln/>
        </p:spPr>
        <p:txBody>
          <a:bodyPr wrap="square" lIns="0" tIns="0" rIns="0" bIns="0" rtlCol="0" anchor="ctr"/>
          <a:lstStyle/>
          <a:p>
            <a:pPr indent="0" marL="0">
              <a:buNone/>
            </a:pPr>
            <a:r>
              <a:rPr lang="en-US" sz="1400" b="1" dirty="0">
                <a:solidFill>
                  <a:schemeClr val="tx1"/>
                </a:solidFill>
              </a:rPr>
              <a:t>Make creators a standing format</a:t>
            </a:r>
            <a:endParaRPr lang="en-US" sz="1400" dirty="0"/>
          </a:p>
        </p:txBody>
      </p:sp>
      <p:sp>
        <p:nvSpPr>
          <p:cNvPr id="20" name="text-371"/>
          <p:cNvSpPr txBox="1"/>
          <p:nvPr/>
        </p:nvSpPr>
        <p:spPr>
          <a:xfrm>
            <a:off x="749808" y="4782312"/>
            <a:ext cx="3191256" cy="1143000"/>
          </a:xfrm>
          <a:prstGeom prst="rect">
            <a:avLst/>
          </a:prstGeom>
          <a:noFill/>
          <a:ln/>
        </p:spPr>
        <p:txBody>
          <a:bodyPr wrap="square" lIns="0" tIns="0" rIns="0" bIns="0" rtlCol="0" anchor="t"/>
          <a:lstStyle/>
          <a:p>
            <a:pPr indent="0" marL="0">
              <a:buNone/>
            </a:pPr>
            <a:r>
              <a:rPr lang="en-US" sz="1100" dirty="0">
                <a:solidFill>
                  <a:schemeClr val="tx2"/>
                </a:solidFill>
              </a:rPr>
              <a:t>Creator content earned ~3× the engagement rate in both quarters (Q3 25% vs 8%). Plan a creator slot for each product launch.</a:t>
            </a:r>
            <a:endParaRPr lang="en-US" sz="1100" dirty="0"/>
          </a:p>
        </p:txBody>
      </p:sp>
      <p:sp>
        <p:nvSpPr>
          <p:cNvPr id="21" name="card-372"/>
          <p:cNvSpPr/>
          <p:nvPr/>
        </p:nvSpPr>
        <p:spPr>
          <a:xfrm>
            <a:off x="4297680" y="3959352"/>
            <a:ext cx="3593592" cy="2029968"/>
          </a:xfrm>
          <a:prstGeom prst="roundRect">
            <a:avLst>
              <a:gd name="adj" fmla="val 5405"/>
            </a:avLst>
          </a:prstGeom>
          <a:solidFill>
            <a:schemeClr val="bg2"/>
          </a:solidFill>
          <a:ln/>
        </p:spPr>
      </p:sp>
      <p:sp>
        <p:nvSpPr>
          <p:cNvPr id="22" name="num-373"/>
          <p:cNvSpPr txBox="1"/>
          <p:nvPr/>
        </p:nvSpPr>
        <p:spPr>
          <a:xfrm>
            <a:off x="4498848" y="416052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3" name="text-374"/>
          <p:cNvSpPr txBox="1"/>
          <p:nvPr/>
        </p:nvSpPr>
        <p:spPr>
          <a:xfrm>
            <a:off x="5074920" y="4142232"/>
            <a:ext cx="2633472" cy="530352"/>
          </a:xfrm>
          <a:prstGeom prst="rect">
            <a:avLst/>
          </a:prstGeom>
          <a:noFill/>
          <a:ln/>
        </p:spPr>
        <p:txBody>
          <a:bodyPr wrap="square" lIns="0" tIns="0" rIns="0" bIns="0" rtlCol="0" anchor="ctr"/>
          <a:lstStyle/>
          <a:p>
            <a:pPr indent="0" marL="0">
              <a:buNone/>
            </a:pPr>
            <a:r>
              <a:rPr lang="en-US" sz="1400" b="1" dirty="0">
                <a:solidFill>
                  <a:schemeClr val="tx1"/>
                </a:solidFill>
              </a:rPr>
              <a:t>Win back CPM on Chicken &amp; McCafé</a:t>
            </a:r>
            <a:endParaRPr lang="en-US" sz="1400" dirty="0"/>
          </a:p>
        </p:txBody>
      </p:sp>
      <p:sp>
        <p:nvSpPr>
          <p:cNvPr id="24" name="text-375"/>
          <p:cNvSpPr txBox="1"/>
          <p:nvPr/>
        </p:nvSpPr>
        <p:spPr>
          <a:xfrm>
            <a:off x="4498848" y="4782312"/>
            <a:ext cx="3191256" cy="1143000"/>
          </a:xfrm>
          <a:prstGeom prst="rect">
            <a:avLst/>
          </a:prstGeom>
          <a:noFill/>
          <a:ln/>
        </p:spPr>
        <p:txBody>
          <a:bodyPr wrap="square" lIns="0" tIns="0" rIns="0" bIns="0" rtlCol="0" anchor="t"/>
          <a:lstStyle/>
          <a:p>
            <a:pPr indent="0" marL="0">
              <a:buNone/>
            </a:pPr>
            <a:r>
              <a:rPr lang="en-US" sz="1100" dirty="0">
                <a:solidFill>
                  <a:schemeClr val="tx2"/>
                </a:solidFill>
              </a:rPr>
              <a:t>Reach cost rose 32% and 43%. Test broader audiences and placements; in Q2, Facebook Reach CPM ran ~30% above Instagram.</a:t>
            </a:r>
            <a:endParaRPr lang="en-US" sz="1100" dirty="0"/>
          </a:p>
        </p:txBody>
      </p:sp>
      <p:sp>
        <p:nvSpPr>
          <p:cNvPr id="25" name="card-376"/>
          <p:cNvSpPr/>
          <p:nvPr/>
        </p:nvSpPr>
        <p:spPr>
          <a:xfrm>
            <a:off x="8046720" y="3959352"/>
            <a:ext cx="3593592" cy="2029968"/>
          </a:xfrm>
          <a:prstGeom prst="roundRect">
            <a:avLst>
              <a:gd name="adj" fmla="val 5405"/>
            </a:avLst>
          </a:prstGeom>
          <a:solidFill>
            <a:schemeClr val="bg2"/>
          </a:solidFill>
          <a:ln/>
        </p:spPr>
      </p:sp>
      <p:sp>
        <p:nvSpPr>
          <p:cNvPr id="26" name="num-377"/>
          <p:cNvSpPr txBox="1"/>
          <p:nvPr/>
        </p:nvSpPr>
        <p:spPr>
          <a:xfrm>
            <a:off x="8247888" y="416052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27" name="text-378"/>
          <p:cNvSpPr txBox="1"/>
          <p:nvPr/>
        </p:nvSpPr>
        <p:spPr>
          <a:xfrm>
            <a:off x="8823960" y="4142232"/>
            <a:ext cx="2633472" cy="530352"/>
          </a:xfrm>
          <a:prstGeom prst="rect">
            <a:avLst/>
          </a:prstGeom>
          <a:noFill/>
          <a:ln/>
        </p:spPr>
        <p:txBody>
          <a:bodyPr wrap="square" lIns="0" tIns="0" rIns="0" bIns="0" rtlCol="0" anchor="ctr"/>
          <a:lstStyle/>
          <a:p>
            <a:pPr indent="0" marL="0">
              <a:buNone/>
            </a:pPr>
            <a:r>
              <a:rPr lang="en-US" sz="1400" b="1" dirty="0">
                <a:solidFill>
                  <a:schemeClr val="tx1"/>
                </a:solidFill>
              </a:rPr>
              <a:t>Upgrade measurement</a:t>
            </a:r>
            <a:endParaRPr lang="en-US" sz="1400" dirty="0"/>
          </a:p>
        </p:txBody>
      </p:sp>
      <p:sp>
        <p:nvSpPr>
          <p:cNvPr id="28" name="text-379"/>
          <p:cNvSpPr txBox="1"/>
          <p:nvPr/>
        </p:nvSpPr>
        <p:spPr>
          <a:xfrm>
            <a:off x="8247888" y="4782312"/>
            <a:ext cx="3191256" cy="1143000"/>
          </a:xfrm>
          <a:prstGeom prst="rect">
            <a:avLst/>
          </a:prstGeom>
          <a:noFill/>
          <a:ln/>
        </p:spPr>
        <p:txBody>
          <a:bodyPr wrap="square" lIns="0" tIns="0" rIns="0" bIns="0" rtlCol="0" anchor="t"/>
          <a:lstStyle/>
          <a:p>
            <a:pPr indent="0" marL="0">
              <a:buNone/>
            </a:pPr>
            <a:r>
              <a:rPr lang="en-US" sz="1100" dirty="0">
                <a:solidFill>
                  <a:schemeClr val="tx2"/>
                </a:solidFill>
              </a:rPr>
              <a:t>Monthly exports with time breakdown, de-duplicated campaign reach, placement split and app-install results; one primary KPI per objective.</a:t>
            </a:r>
            <a:endParaRPr lang="en-US" sz="1100" dirty="0"/>
          </a:p>
        </p:txBody>
      </p:sp>
      <p:sp>
        <p:nvSpPr>
          <p:cNvPr id="29" name="text-380"/>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Red = fix first (largest efficiency gap); gold = build on what works. Frequency threshold is a proposed starting guardrail, to be validated in Q4.</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6012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APPENDIX · DATA &amp; METHODOLOGY</a:t>
            </a:r>
            <a:endParaRPr lang="en-US" sz="1200" dirty="0"/>
          </a:p>
        </p:txBody>
      </p:sp>
      <p:sp>
        <p:nvSpPr>
          <p:cNvPr id="3" name="Text 0"/>
          <p:cNvSpPr/>
          <p:nvPr>
            <p:ph idx="101" type="title" hasCustomPrompt="1"/>
          </p:nvPr>
        </p:nvSpPr>
        <p:spPr>
          <a:xfrm>
            <a:off x="548640" y="694944"/>
            <a:ext cx="10332720" cy="868680"/>
          </a:xfrm>
          <a:prstGeom prst="rect">
            <a:avLst/>
          </a:prstGeom>
          <a:noFill/>
          <a:ln/>
        </p:spPr>
        <p:txBody>
          <a:bodyPr wrap="square" lIns="0" tIns="0" rIns="0" bIns="0" rtlCol="0" anchor="t"/>
          <a:lstStyle/>
          <a:p>
            <a:pPr algn="l" indent="0" marL="0">
              <a:buNone/>
            </a:pPr>
            <a:r>
              <a:rPr lang="en-US" sz="2600" b="1" dirty="0">
                <a:solidFill>
                  <a:schemeClr val="tx1"/>
                </a:solidFill>
              </a:rPr>
              <a:t>How the numbers were built – and what the exports cannot show</a:t>
            </a:r>
            <a:endParaRPr lang="en-US" sz="2600" dirty="0"/>
          </a:p>
        </p:txBody>
      </p:sp>
      <p:sp>
        <p:nvSpPr>
          <p:cNvPr id="4" name="arch-motif-381"/>
          <p:cNvSpPr/>
          <p:nvPr/>
        </p:nvSpPr>
        <p:spPr>
          <a:xfrm>
            <a:off x="11137392" y="384048"/>
            <a:ext cx="512064" cy="512064"/>
          </a:xfrm>
          <a:prstGeom prst="blockArc">
            <a:avLst>
              <a:gd name="adj1" fmla="val 10800000"/>
              <a:gd name="adj2" fmla="val 0"/>
              <a:gd name="adj3" fmla="val 16000"/>
            </a:avLst>
          </a:prstGeom>
          <a:solidFill>
            <a:schemeClr val="accent2"/>
          </a:solidFill>
          <a:ln/>
        </p:spPr>
      </p:sp>
      <p:sp>
        <p:nvSpPr>
          <p:cNvPr id="5" name="card-382"/>
          <p:cNvSpPr/>
          <p:nvPr/>
        </p:nvSpPr>
        <p:spPr>
          <a:xfrm>
            <a:off x="548640" y="1755648"/>
            <a:ext cx="5404104" cy="969264"/>
          </a:xfrm>
          <a:prstGeom prst="roundRect">
            <a:avLst>
              <a:gd name="adj" fmla="val 11321"/>
            </a:avLst>
          </a:prstGeom>
          <a:solidFill>
            <a:schemeClr val="bg2"/>
          </a:solidFill>
          <a:ln/>
        </p:spPr>
      </p:sp>
      <p:sp>
        <p:nvSpPr>
          <p:cNvPr id="6" name="text-383"/>
          <p:cNvSpPr txBox="1"/>
          <p:nvPr/>
        </p:nvSpPr>
        <p:spPr>
          <a:xfrm>
            <a:off x="749808" y="1847088"/>
            <a:ext cx="5029200" cy="237744"/>
          </a:xfrm>
          <a:prstGeom prst="rect">
            <a:avLst/>
          </a:prstGeom>
          <a:noFill/>
          <a:ln/>
        </p:spPr>
        <p:txBody>
          <a:bodyPr wrap="square" lIns="0" tIns="0" rIns="0" bIns="0" rtlCol="0" anchor="t"/>
          <a:lstStyle/>
          <a:p>
            <a:pPr indent="0" marL="0">
              <a:buNone/>
            </a:pPr>
            <a:r>
              <a:rPr lang="en-US" sz="1200" b="1" dirty="0">
                <a:solidFill>
                  <a:schemeClr val="accent1"/>
                </a:solidFill>
              </a:rPr>
              <a:t>Sources</a:t>
            </a:r>
            <a:endParaRPr lang="en-US" sz="1200" dirty="0"/>
          </a:p>
        </p:txBody>
      </p:sp>
      <p:sp>
        <p:nvSpPr>
          <p:cNvPr id="7" name="text-384"/>
          <p:cNvSpPr txBox="1"/>
          <p:nvPr/>
        </p:nvSpPr>
        <p:spPr>
          <a:xfrm>
            <a:off x="749808" y="2103120"/>
            <a:ext cx="5029200" cy="594360"/>
          </a:xfrm>
          <a:prstGeom prst="rect">
            <a:avLst/>
          </a:prstGeom>
          <a:noFill/>
          <a:ln/>
        </p:spPr>
        <p:txBody>
          <a:bodyPr wrap="square" lIns="0" tIns="0" rIns="0" bIns="0" rtlCol="0" anchor="t"/>
          <a:lstStyle/>
          <a:p>
            <a:pPr indent="0" marL="0">
              <a:buNone/>
            </a:pPr>
            <a:r>
              <a:rPr lang="en-US" sz="1050" dirty="0">
                <a:solidFill>
                  <a:schemeClr val="tx2"/>
                </a:solidFill>
              </a:rPr>
              <a:t>Two Meta Ads Manager exports, one row per ad: BEFORE 77 ads (1 Apr–30 Jun 2026), AFTER 106 ads (1 Jul–30 Sep 2026). Same 19 columns in both.</a:t>
            </a:r>
            <a:endParaRPr lang="en-US" sz="1050" dirty="0"/>
          </a:p>
        </p:txBody>
      </p:sp>
      <p:sp>
        <p:nvSpPr>
          <p:cNvPr id="8" name="card-385"/>
          <p:cNvSpPr/>
          <p:nvPr/>
        </p:nvSpPr>
        <p:spPr>
          <a:xfrm>
            <a:off x="548640" y="2834640"/>
            <a:ext cx="5404104" cy="969264"/>
          </a:xfrm>
          <a:prstGeom prst="roundRect">
            <a:avLst>
              <a:gd name="adj" fmla="val 11321"/>
            </a:avLst>
          </a:prstGeom>
          <a:solidFill>
            <a:srgbClr val="FFFFFF"/>
          </a:solidFill>
          <a:ln/>
        </p:spPr>
      </p:sp>
      <p:sp>
        <p:nvSpPr>
          <p:cNvPr id="9" name="text-386"/>
          <p:cNvSpPr txBox="1"/>
          <p:nvPr/>
        </p:nvSpPr>
        <p:spPr>
          <a:xfrm>
            <a:off x="749808" y="2926080"/>
            <a:ext cx="5029200" cy="237744"/>
          </a:xfrm>
          <a:prstGeom prst="rect">
            <a:avLst/>
          </a:prstGeom>
          <a:noFill/>
          <a:ln/>
        </p:spPr>
        <p:txBody>
          <a:bodyPr wrap="square" lIns="0" tIns="0" rIns="0" bIns="0" rtlCol="0" anchor="t"/>
          <a:lstStyle/>
          <a:p>
            <a:pPr indent="0" marL="0">
              <a:buNone/>
            </a:pPr>
            <a:r>
              <a:rPr lang="en-US" sz="1200" b="1" dirty="0">
                <a:solidFill>
                  <a:schemeClr val="accent1"/>
                </a:solidFill>
              </a:rPr>
              <a:t>Weighted rates</a:t>
            </a:r>
            <a:endParaRPr lang="en-US" sz="1200" dirty="0"/>
          </a:p>
        </p:txBody>
      </p:sp>
      <p:sp>
        <p:nvSpPr>
          <p:cNvPr id="10" name="text-387"/>
          <p:cNvSpPr txBox="1"/>
          <p:nvPr/>
        </p:nvSpPr>
        <p:spPr>
          <a:xfrm>
            <a:off x="749808" y="3182112"/>
            <a:ext cx="5029200" cy="594360"/>
          </a:xfrm>
          <a:prstGeom prst="rect">
            <a:avLst/>
          </a:prstGeom>
          <a:noFill/>
          <a:ln/>
        </p:spPr>
        <p:txBody>
          <a:bodyPr wrap="square" lIns="0" tIns="0" rIns="0" bIns="0" rtlCol="0" anchor="t"/>
          <a:lstStyle/>
          <a:p>
            <a:pPr indent="0" marL="0">
              <a:buNone/>
            </a:pPr>
            <a:r>
              <a:rPr lang="en-US" sz="1050" dirty="0">
                <a:solidFill>
                  <a:schemeClr val="tx2"/>
                </a:solidFill>
              </a:rPr>
              <a:t>CPM, CPC, CTR, frequency, cost per result and engagement rates are recalculated from summed spend, impressions, clicks and reach – never averaged across rows.</a:t>
            </a:r>
            <a:endParaRPr lang="en-US" sz="1050" dirty="0"/>
          </a:p>
        </p:txBody>
      </p:sp>
      <p:sp>
        <p:nvSpPr>
          <p:cNvPr id="11" name="card-388"/>
          <p:cNvSpPr/>
          <p:nvPr/>
        </p:nvSpPr>
        <p:spPr>
          <a:xfrm>
            <a:off x="548640" y="3913632"/>
            <a:ext cx="5404104" cy="969264"/>
          </a:xfrm>
          <a:prstGeom prst="roundRect">
            <a:avLst>
              <a:gd name="adj" fmla="val 11321"/>
            </a:avLst>
          </a:prstGeom>
          <a:solidFill>
            <a:schemeClr val="bg2"/>
          </a:solidFill>
          <a:ln/>
        </p:spPr>
      </p:sp>
      <p:sp>
        <p:nvSpPr>
          <p:cNvPr id="12" name="text-389"/>
          <p:cNvSpPr txBox="1"/>
          <p:nvPr/>
        </p:nvSpPr>
        <p:spPr>
          <a:xfrm>
            <a:off x="749808" y="4005072"/>
            <a:ext cx="5029200" cy="237744"/>
          </a:xfrm>
          <a:prstGeom prst="rect">
            <a:avLst/>
          </a:prstGeom>
          <a:noFill/>
          <a:ln/>
        </p:spPr>
        <p:txBody>
          <a:bodyPr wrap="square" lIns="0" tIns="0" rIns="0" bIns="0" rtlCol="0" anchor="t"/>
          <a:lstStyle/>
          <a:p>
            <a:pPr indent="0" marL="0">
              <a:buNone/>
            </a:pPr>
            <a:r>
              <a:rPr lang="en-US" sz="1200" b="1" dirty="0">
                <a:solidFill>
                  <a:schemeClr val="accent1"/>
                </a:solidFill>
              </a:rPr>
              <a:t>CTR (all)</a:t>
            </a:r>
            <a:endParaRPr lang="en-US" sz="1200" dirty="0"/>
          </a:p>
        </p:txBody>
      </p:sp>
      <p:sp>
        <p:nvSpPr>
          <p:cNvPr id="13" name="text-390"/>
          <p:cNvSpPr txBox="1"/>
          <p:nvPr/>
        </p:nvSpPr>
        <p:spPr>
          <a:xfrm>
            <a:off x="749808" y="4261104"/>
            <a:ext cx="5029200" cy="594360"/>
          </a:xfrm>
          <a:prstGeom prst="rect">
            <a:avLst/>
          </a:prstGeom>
          <a:noFill/>
          <a:ln/>
        </p:spPr>
        <p:txBody>
          <a:bodyPr wrap="square" lIns="0" tIns="0" rIns="0" bIns="0" rtlCol="0" anchor="t"/>
          <a:lstStyle/>
          <a:p>
            <a:pPr indent="0" marL="0">
              <a:buNone/>
            </a:pPr>
            <a:r>
              <a:rPr lang="en-US" sz="1050" dirty="0">
                <a:solidFill>
                  <a:schemeClr val="tx2"/>
                </a:solidFill>
              </a:rPr>
              <a:t>The export has no 'clicks (all)' column, so clicks were rebuilt as CTR(all) × impressions per ad, then summed.</a:t>
            </a:r>
            <a:endParaRPr lang="en-US" sz="1050" dirty="0"/>
          </a:p>
        </p:txBody>
      </p:sp>
      <p:sp>
        <p:nvSpPr>
          <p:cNvPr id="14" name="card-391"/>
          <p:cNvSpPr/>
          <p:nvPr/>
        </p:nvSpPr>
        <p:spPr>
          <a:xfrm>
            <a:off x="548640" y="4992624"/>
            <a:ext cx="5404104" cy="969264"/>
          </a:xfrm>
          <a:prstGeom prst="roundRect">
            <a:avLst>
              <a:gd name="adj" fmla="val 11321"/>
            </a:avLst>
          </a:prstGeom>
          <a:solidFill>
            <a:srgbClr val="FFFFFF"/>
          </a:solidFill>
          <a:ln/>
        </p:spPr>
      </p:sp>
      <p:sp>
        <p:nvSpPr>
          <p:cNvPr id="15" name="text-392"/>
          <p:cNvSpPr txBox="1"/>
          <p:nvPr/>
        </p:nvSpPr>
        <p:spPr>
          <a:xfrm>
            <a:off x="749808" y="5084064"/>
            <a:ext cx="5029200" cy="237744"/>
          </a:xfrm>
          <a:prstGeom prst="rect">
            <a:avLst/>
          </a:prstGeom>
          <a:noFill/>
          <a:ln/>
        </p:spPr>
        <p:txBody>
          <a:bodyPr wrap="square" lIns="0" tIns="0" rIns="0" bIns="0" rtlCol="0" anchor="t"/>
          <a:lstStyle/>
          <a:p>
            <a:pPr indent="0" marL="0">
              <a:buNone/>
            </a:pPr>
            <a:r>
              <a:rPr lang="en-US" sz="1200" b="1" dirty="0">
                <a:solidFill>
                  <a:schemeClr val="accent1"/>
                </a:solidFill>
              </a:rPr>
              <a:t>Reach</a:t>
            </a:r>
            <a:endParaRPr lang="en-US" sz="1200" dirty="0"/>
          </a:p>
        </p:txBody>
      </p:sp>
      <p:sp>
        <p:nvSpPr>
          <p:cNvPr id="16" name="text-393"/>
          <p:cNvSpPr txBox="1"/>
          <p:nvPr/>
        </p:nvSpPr>
        <p:spPr>
          <a:xfrm>
            <a:off x="749808" y="5340096"/>
            <a:ext cx="5029200" cy="594360"/>
          </a:xfrm>
          <a:prstGeom prst="rect">
            <a:avLst/>
          </a:prstGeom>
          <a:noFill/>
          <a:ln/>
        </p:spPr>
        <p:txBody>
          <a:bodyPr wrap="square" lIns="0" tIns="0" rIns="0" bIns="0" rtlCol="0" anchor="t"/>
          <a:lstStyle/>
          <a:p>
            <a:pPr indent="0" marL="0">
              <a:buNone/>
            </a:pPr>
            <a:r>
              <a:rPr lang="en-US" sz="1050" dirty="0">
                <a:solidFill>
                  <a:schemeClr val="tx2"/>
                </a:solidFill>
              </a:rPr>
              <a:t>Period reach is the sum of ad-level reach. People reached by several ads are counted more than once, so it overstates unique reach; the method is the same for both periods.</a:t>
            </a:r>
            <a:endParaRPr lang="en-US" sz="1050" dirty="0"/>
          </a:p>
        </p:txBody>
      </p:sp>
      <p:sp>
        <p:nvSpPr>
          <p:cNvPr id="17" name="card-394"/>
          <p:cNvSpPr/>
          <p:nvPr/>
        </p:nvSpPr>
        <p:spPr>
          <a:xfrm>
            <a:off x="6236208" y="1755648"/>
            <a:ext cx="5404104" cy="969264"/>
          </a:xfrm>
          <a:prstGeom prst="roundRect">
            <a:avLst>
              <a:gd name="adj" fmla="val 11321"/>
            </a:avLst>
          </a:prstGeom>
          <a:solidFill>
            <a:schemeClr val="bg2"/>
          </a:solidFill>
          <a:ln/>
        </p:spPr>
      </p:sp>
      <p:sp>
        <p:nvSpPr>
          <p:cNvPr id="18" name="text-395"/>
          <p:cNvSpPr txBox="1"/>
          <p:nvPr/>
        </p:nvSpPr>
        <p:spPr>
          <a:xfrm>
            <a:off x="6437376" y="1847088"/>
            <a:ext cx="5029200" cy="237744"/>
          </a:xfrm>
          <a:prstGeom prst="rect">
            <a:avLst/>
          </a:prstGeom>
          <a:noFill/>
          <a:ln/>
        </p:spPr>
        <p:txBody>
          <a:bodyPr wrap="square" lIns="0" tIns="0" rIns="0" bIns="0" rtlCol="0" anchor="t"/>
          <a:lstStyle/>
          <a:p>
            <a:pPr indent="0" marL="0">
              <a:buNone/>
            </a:pPr>
            <a:r>
              <a:rPr lang="en-US" sz="1200" b="1" dirty="0">
                <a:solidFill>
                  <a:schemeClr val="accent1"/>
                </a:solidFill>
              </a:rPr>
              <a:t>Results</a:t>
            </a:r>
            <a:endParaRPr lang="en-US" sz="1200" dirty="0"/>
          </a:p>
        </p:txBody>
      </p:sp>
      <p:sp>
        <p:nvSpPr>
          <p:cNvPr id="19" name="text-396"/>
          <p:cNvSpPr txBox="1"/>
          <p:nvPr/>
        </p:nvSpPr>
        <p:spPr>
          <a:xfrm>
            <a:off x="6437376" y="2103120"/>
            <a:ext cx="5029200" cy="594360"/>
          </a:xfrm>
          <a:prstGeom prst="rect">
            <a:avLst/>
          </a:prstGeom>
          <a:noFill/>
          <a:ln/>
        </p:spPr>
        <p:txBody>
          <a:bodyPr wrap="square" lIns="0" tIns="0" rIns="0" bIns="0" rtlCol="0" anchor="t"/>
          <a:lstStyle/>
          <a:p>
            <a:pPr indent="0" marL="0">
              <a:buNone/>
            </a:pPr>
            <a:r>
              <a:rPr lang="en-US" sz="1050" dirty="0">
                <a:solidFill>
                  <a:schemeClr val="tx2"/>
                </a:solidFill>
              </a:rPr>
              <a:t>Result types differ by objective (Reach, profile visits, link clicks, post engagements, interactions, ThruPlay, 2-sec views) and are never added together. Cost per result is shown per result type.</a:t>
            </a:r>
            <a:endParaRPr lang="en-US" sz="1050" dirty="0"/>
          </a:p>
        </p:txBody>
      </p:sp>
      <p:sp>
        <p:nvSpPr>
          <p:cNvPr id="20" name="card-397"/>
          <p:cNvSpPr/>
          <p:nvPr/>
        </p:nvSpPr>
        <p:spPr>
          <a:xfrm>
            <a:off x="6236208" y="2834640"/>
            <a:ext cx="5404104" cy="969264"/>
          </a:xfrm>
          <a:prstGeom prst="roundRect">
            <a:avLst>
              <a:gd name="adj" fmla="val 11321"/>
            </a:avLst>
          </a:prstGeom>
          <a:solidFill>
            <a:srgbClr val="FFFFFF"/>
          </a:solidFill>
          <a:ln/>
        </p:spPr>
      </p:sp>
      <p:sp>
        <p:nvSpPr>
          <p:cNvPr id="21" name="text-398"/>
          <p:cNvSpPr txBox="1"/>
          <p:nvPr/>
        </p:nvSpPr>
        <p:spPr>
          <a:xfrm>
            <a:off x="6437376" y="2926080"/>
            <a:ext cx="5029200" cy="237744"/>
          </a:xfrm>
          <a:prstGeom prst="rect">
            <a:avLst/>
          </a:prstGeom>
          <a:noFill/>
          <a:ln/>
        </p:spPr>
        <p:txBody>
          <a:bodyPr wrap="square" lIns="0" tIns="0" rIns="0" bIns="0" rtlCol="0" anchor="t"/>
          <a:lstStyle/>
          <a:p>
            <a:pPr indent="0" marL="0">
              <a:buNone/>
            </a:pPr>
            <a:r>
              <a:rPr lang="en-US" sz="1200" b="1" dirty="0">
                <a:solidFill>
                  <a:schemeClr val="accent1"/>
                </a:solidFill>
              </a:rPr>
              <a:t>Blanks</a:t>
            </a:r>
            <a:endParaRPr lang="en-US" sz="1200" dirty="0"/>
          </a:p>
        </p:txBody>
      </p:sp>
      <p:sp>
        <p:nvSpPr>
          <p:cNvPr id="22" name="text-399"/>
          <p:cNvSpPr txBox="1"/>
          <p:nvPr/>
        </p:nvSpPr>
        <p:spPr>
          <a:xfrm>
            <a:off x="6437376" y="3182112"/>
            <a:ext cx="5029200" cy="594360"/>
          </a:xfrm>
          <a:prstGeom prst="rect">
            <a:avLst/>
          </a:prstGeom>
          <a:noFill/>
          <a:ln/>
        </p:spPr>
        <p:txBody>
          <a:bodyPr wrap="square" lIns="0" tIns="0" rIns="0" bIns="0" rtlCol="0" anchor="t"/>
          <a:lstStyle/>
          <a:p>
            <a:pPr indent="0" marL="0">
              <a:buNone/>
            </a:pPr>
            <a:r>
              <a:rPr lang="en-US" sz="1050" dirty="0">
                <a:solidFill>
                  <a:schemeClr val="tx2"/>
                </a:solidFill>
              </a:rPr>
              <a:t>Blank link clicks / 3s plays are treated as zero (BEFORE 33 / 18 rows, AFTER 17 / 20). 3 AFTER app-install ads ($95) report no results.</a:t>
            </a:r>
            <a:endParaRPr lang="en-US" sz="1050" dirty="0"/>
          </a:p>
        </p:txBody>
      </p:sp>
      <p:sp>
        <p:nvSpPr>
          <p:cNvPr id="23" name="card-400"/>
          <p:cNvSpPr/>
          <p:nvPr/>
        </p:nvSpPr>
        <p:spPr>
          <a:xfrm>
            <a:off x="6236208" y="3913632"/>
            <a:ext cx="5404104" cy="969264"/>
          </a:xfrm>
          <a:prstGeom prst="roundRect">
            <a:avLst>
              <a:gd name="adj" fmla="val 11321"/>
            </a:avLst>
          </a:prstGeom>
          <a:solidFill>
            <a:schemeClr val="bg2"/>
          </a:solidFill>
          <a:ln/>
        </p:spPr>
      </p:sp>
      <p:sp>
        <p:nvSpPr>
          <p:cNvPr id="24" name="text-401"/>
          <p:cNvSpPr txBox="1"/>
          <p:nvPr/>
        </p:nvSpPr>
        <p:spPr>
          <a:xfrm>
            <a:off x="6437376" y="4005072"/>
            <a:ext cx="5029200" cy="237744"/>
          </a:xfrm>
          <a:prstGeom prst="rect">
            <a:avLst/>
          </a:prstGeom>
          <a:noFill/>
          <a:ln/>
        </p:spPr>
        <p:txBody>
          <a:bodyPr wrap="square" lIns="0" tIns="0" rIns="0" bIns="0" rtlCol="0" anchor="t"/>
          <a:lstStyle/>
          <a:p>
            <a:pPr indent="0" marL="0">
              <a:buNone/>
            </a:pPr>
            <a:r>
              <a:rPr lang="en-US" sz="1200" b="1" dirty="0">
                <a:solidFill>
                  <a:schemeClr val="accent1"/>
                </a:solidFill>
              </a:rPr>
              <a:t>Period overlap</a:t>
            </a:r>
            <a:endParaRPr lang="en-US" sz="1200" dirty="0"/>
          </a:p>
        </p:txBody>
      </p:sp>
      <p:sp>
        <p:nvSpPr>
          <p:cNvPr id="25" name="text-402"/>
          <p:cNvSpPr txBox="1"/>
          <p:nvPr/>
        </p:nvSpPr>
        <p:spPr>
          <a:xfrm>
            <a:off x="6437376" y="4261104"/>
            <a:ext cx="5029200" cy="594360"/>
          </a:xfrm>
          <a:prstGeom prst="rect">
            <a:avLst/>
          </a:prstGeom>
          <a:noFill/>
          <a:ln/>
        </p:spPr>
        <p:txBody>
          <a:bodyPr wrap="square" lIns="0" tIns="0" rIns="0" bIns="0" rtlCol="0" anchor="t"/>
          <a:lstStyle/>
          <a:p>
            <a:pPr indent="0" marL="0">
              <a:buNone/>
            </a:pPr>
            <a:r>
              <a:rPr lang="en-US" sz="1050" dirty="0">
                <a:solidFill>
                  <a:schemeClr val="tx2"/>
                </a:solidFill>
              </a:rPr>
              <a:t>BEFORE includes 2 March-named ads that delivered in April ($1,108); AFTER includes 6 June-named carry-over ads ($1,119).</a:t>
            </a:r>
            <a:endParaRPr lang="en-US" sz="1050" dirty="0"/>
          </a:p>
        </p:txBody>
      </p:sp>
      <p:sp>
        <p:nvSpPr>
          <p:cNvPr id="26" name="card-403"/>
          <p:cNvSpPr/>
          <p:nvPr/>
        </p:nvSpPr>
        <p:spPr>
          <a:xfrm>
            <a:off x="6236208" y="4992624"/>
            <a:ext cx="5404104" cy="969264"/>
          </a:xfrm>
          <a:prstGeom prst="roundRect">
            <a:avLst>
              <a:gd name="adj" fmla="val 11321"/>
            </a:avLst>
          </a:prstGeom>
          <a:solidFill>
            <a:srgbClr val="FFFFFF"/>
          </a:solidFill>
          <a:ln/>
        </p:spPr>
      </p:sp>
      <p:sp>
        <p:nvSpPr>
          <p:cNvPr id="27" name="text-404"/>
          <p:cNvSpPr txBox="1"/>
          <p:nvPr/>
        </p:nvSpPr>
        <p:spPr>
          <a:xfrm>
            <a:off x="6437376" y="5084064"/>
            <a:ext cx="5029200" cy="237744"/>
          </a:xfrm>
          <a:prstGeom prst="rect">
            <a:avLst/>
          </a:prstGeom>
          <a:noFill/>
          <a:ln/>
        </p:spPr>
        <p:txBody>
          <a:bodyPr wrap="square" lIns="0" tIns="0" rIns="0" bIns="0" rtlCol="0" anchor="t"/>
          <a:lstStyle/>
          <a:p>
            <a:pPr indent="0" marL="0">
              <a:buNone/>
            </a:pPr>
            <a:r>
              <a:rPr lang="en-US" sz="1200" b="1" dirty="0">
                <a:solidFill>
                  <a:schemeClr val="accent1"/>
                </a:solidFill>
              </a:rPr>
              <a:t>Not available</a:t>
            </a:r>
            <a:endParaRPr lang="en-US" sz="1200" dirty="0"/>
          </a:p>
        </p:txBody>
      </p:sp>
      <p:sp>
        <p:nvSpPr>
          <p:cNvPr id="28" name="text-405"/>
          <p:cNvSpPr txBox="1"/>
          <p:nvPr/>
        </p:nvSpPr>
        <p:spPr>
          <a:xfrm>
            <a:off x="6437376" y="5340096"/>
            <a:ext cx="5029200" cy="594360"/>
          </a:xfrm>
          <a:prstGeom prst="rect">
            <a:avLst/>
          </a:prstGeom>
          <a:noFill/>
          <a:ln/>
        </p:spPr>
        <p:txBody>
          <a:bodyPr wrap="square" lIns="0" tIns="0" rIns="0" bIns="0" rtlCol="0" anchor="t"/>
          <a:lstStyle/>
          <a:p>
            <a:pPr indent="0" marL="0">
              <a:buNone/>
            </a:pPr>
            <a:r>
              <a:rPr lang="en-US" sz="1050" dirty="0">
                <a:solidFill>
                  <a:schemeClr val="tx2"/>
                </a:solidFill>
              </a:rPr>
              <a:t>No daily / monthly breakdown (so no trend lines), no placement split, no conversion or sales data. Campaign names were not assumed equivalent; initiatives matched by product keywords only.</a:t>
            </a:r>
            <a:endParaRPr lang="en-US" sz="1050" dirty="0"/>
          </a:p>
        </p:txBody>
      </p:sp>
      <p:sp>
        <p:nvSpPr>
          <p:cNvPr id="29" name="text-406"/>
          <p:cNvSpPr txBox="1"/>
          <p:nvPr/>
        </p:nvSpPr>
        <p:spPr>
          <a:xfrm>
            <a:off x="548640" y="6108192"/>
            <a:ext cx="11064240" cy="237744"/>
          </a:xfrm>
          <a:prstGeom prst="rect">
            <a:avLst/>
          </a:prstGeom>
          <a:noFill/>
          <a:ln/>
        </p:spPr>
        <p:txBody>
          <a:bodyPr wrap="square" lIns="0" tIns="0" rIns="0" bIns="0" rtlCol="0" anchor="b"/>
          <a:lstStyle/>
          <a:p>
            <a:pPr indent="0" marL="0">
              <a:buNone/>
            </a:pPr>
            <a:r>
              <a:rPr lang="en-US" sz="900" dirty="0">
                <a:solidFill>
                  <a:schemeClr val="accent5"/>
                </a:solidFill>
              </a:rPr>
              <a:t>Full calculation tables (KPIs, objectives, result types, campaigns, ad sets, ads, initiatives): analysis_tables.xlsx.</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McDonalds AZ QBR">
      <a:dk1>
        <a:srgbClr val="27251F"/>
      </a:dk1>
      <a:lt1>
        <a:srgbClr val="FFFFFF"/>
      </a:lt1>
      <a:dk2>
        <a:srgbClr val="4A4A4A"/>
      </a:dk2>
      <a:lt2>
        <a:srgbClr val="F6F5F2"/>
      </a:lt2>
      <a:accent1>
        <a:srgbClr val="DA291C"/>
      </a:accent1>
      <a:accent2>
        <a:srgbClr val="FFBC0D"/>
      </a:accent2>
      <a:accent3>
        <a:srgbClr val="C9C9C9"/>
      </a:accent3>
      <a:accent4>
        <a:srgbClr val="2E8540"/>
      </a:accent4>
      <a:accent5>
        <a:srgbClr val="6E6E6E"/>
      </a:accent5>
      <a:accent6>
        <a:srgbClr val="FFF1C7"/>
      </a:accent6>
      <a:hlink>
        <a:srgbClr val="DA291C"/>
      </a:hlink>
      <a:folHlink>
        <a:srgbClr val="9E1B10"/>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McDonald's Azerbaijan – Meta Performance Review</dc:title>
  <dc:subject>Meta Ads: April–June vs July–September 2026</dc:subject>
  <dc:creator>Meta media agency</dc:creator>
  <cp:lastModifiedBy>Meta media agency</cp:lastModifiedBy>
  <cp:revision>1</cp:revision>
  <dcterms:created xsi:type="dcterms:W3CDTF">2026-10-07T19:53:14Z</dcterms:created>
  <dcterms:modified xsi:type="dcterms:W3CDTF">2026-10-07T19:53:14Z</dcterms:modified>
</cp:coreProperties>
</file>